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38"/>
  </p:handoutMasterIdLst>
  <p:sldIdLst>
    <p:sldId id="462" r:id="rId3"/>
    <p:sldId id="468" r:id="rId5"/>
    <p:sldId id="479" r:id="rId6"/>
    <p:sldId id="480" r:id="rId7"/>
    <p:sldId id="481" r:id="rId8"/>
    <p:sldId id="483" r:id="rId9"/>
    <p:sldId id="502" r:id="rId10"/>
    <p:sldId id="553" r:id="rId11"/>
    <p:sldId id="543" r:id="rId12"/>
    <p:sldId id="544" r:id="rId13"/>
    <p:sldId id="545" r:id="rId14"/>
    <p:sldId id="546" r:id="rId15"/>
    <p:sldId id="554" r:id="rId16"/>
    <p:sldId id="555" r:id="rId17"/>
    <p:sldId id="526" r:id="rId18"/>
    <p:sldId id="527" r:id="rId19"/>
    <p:sldId id="528" r:id="rId20"/>
    <p:sldId id="529" r:id="rId21"/>
    <p:sldId id="530" r:id="rId22"/>
    <p:sldId id="531" r:id="rId23"/>
    <p:sldId id="532" r:id="rId24"/>
    <p:sldId id="533" r:id="rId25"/>
    <p:sldId id="558" r:id="rId26"/>
    <p:sldId id="559" r:id="rId27"/>
    <p:sldId id="560" r:id="rId28"/>
    <p:sldId id="562" r:id="rId29"/>
    <p:sldId id="534" r:id="rId30"/>
    <p:sldId id="535" r:id="rId31"/>
    <p:sldId id="536" r:id="rId32"/>
    <p:sldId id="565" r:id="rId33"/>
    <p:sldId id="566" r:id="rId34"/>
    <p:sldId id="567" r:id="rId35"/>
    <p:sldId id="576" r:id="rId36"/>
    <p:sldId id="515" r:id="rId37"/>
  </p:sldIdLst>
  <p:sldSz cx="12192000" cy="6858000"/>
  <p:notesSz cx="6858000" cy="9144000"/>
  <p:custDataLst>
    <p:tags r:id="rId4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37" userDrawn="1">
          <p15:clr>
            <a:srgbClr val="A4A3A4"/>
          </p15:clr>
        </p15:guide>
        <p15:guide id="2" pos="388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8A282"/>
    <a:srgbClr val="4B8E9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32" autoAdjust="0"/>
    <p:restoredTop sz="93001" autoAdjust="0"/>
  </p:normalViewPr>
  <p:slideViewPr>
    <p:cSldViewPr snapToGrid="0" showGuides="1">
      <p:cViewPr>
        <p:scale>
          <a:sx n="100" d="100"/>
          <a:sy n="100" d="100"/>
        </p:scale>
        <p:origin x="876" y="192"/>
      </p:cViewPr>
      <p:guideLst>
        <p:guide orient="horz" pos="2037"/>
        <p:guide pos="3888"/>
      </p:guideLst>
    </p:cSldViewPr>
  </p:slideViewPr>
  <p:notesTextViewPr>
    <p:cViewPr>
      <p:scale>
        <a:sx n="1" d="1"/>
        <a:sy n="1" d="1"/>
      </p:scale>
      <p:origin x="0" y="0"/>
    </p:cViewPr>
  </p:notesTextViewPr>
  <p:sorterViewPr>
    <p:cViewPr>
      <p:scale>
        <a:sx n="66" d="100"/>
        <a:sy n="66" d="100"/>
      </p:scale>
      <p:origin x="0" y="0"/>
    </p:cViewPr>
  </p:sorterViewPr>
  <p:notesViewPr>
    <p:cSldViewPr snapToGrid="0">
      <p:cViewPr varScale="1">
        <p:scale>
          <a:sx n="66" d="100"/>
          <a:sy n="66" d="100"/>
        </p:scale>
        <p:origin x="-3139" y="-7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2" Type="http://schemas.openxmlformats.org/officeDocument/2006/relationships/tags" Target="tags/tag35.xml"/><Relationship Id="rId41" Type="http://schemas.openxmlformats.org/officeDocument/2006/relationships/tableStyles" Target="tableStyles.xml"/><Relationship Id="rId40" Type="http://schemas.openxmlformats.org/officeDocument/2006/relationships/viewProps" Target="viewProps.xml"/><Relationship Id="rId4" Type="http://schemas.openxmlformats.org/officeDocument/2006/relationships/notesMaster" Target="notesMasters/notesMaster1.xml"/><Relationship Id="rId39" Type="http://schemas.openxmlformats.org/officeDocument/2006/relationships/presProps" Target="presProps.xml"/><Relationship Id="rId38" Type="http://schemas.openxmlformats.org/officeDocument/2006/relationships/handoutMaster" Target="handoutMasters/handoutMaster1.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3013EF-AA46-41D5-93C2-36F7A5EF5D89}"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104242-42E4-462F-B9A6-468AC33D61A2}"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53104242-42E4-462F-B9A6-468AC33D61A2}"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53104242-42E4-462F-B9A6-468AC33D61A2}"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53104242-42E4-462F-B9A6-468AC33D61A2}"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53104242-42E4-462F-B9A6-468AC33D61A2}"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53104242-42E4-462F-B9A6-468AC33D61A2}"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53104242-42E4-462F-B9A6-468AC33D61A2}"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53104242-42E4-462F-B9A6-468AC33D61A2}"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53104242-42E4-462F-B9A6-468AC33D61A2}"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53104242-42E4-462F-B9A6-468AC33D61A2}"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53104242-42E4-462F-B9A6-468AC33D61A2}"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53104242-42E4-462F-B9A6-468AC33D61A2}"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53104242-42E4-462F-B9A6-468AC33D61A2}"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53104242-42E4-462F-B9A6-468AC33D61A2}"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53104242-42E4-462F-B9A6-468AC33D61A2}"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53104242-42E4-462F-B9A6-468AC33D61A2}"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53104242-42E4-462F-B9A6-468AC33D61A2}"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53104242-42E4-462F-B9A6-468AC33D61A2}"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53104242-42E4-462F-B9A6-468AC33D61A2}"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53104242-42E4-462F-B9A6-468AC33D61A2}"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53104242-42E4-462F-B9A6-468AC33D61A2}"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53104242-42E4-462F-B9A6-468AC33D61A2}"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53104242-42E4-462F-B9A6-468AC33D61A2}"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53104242-42E4-462F-B9A6-468AC33D61A2}"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53104242-42E4-462F-B9A6-468AC33D61A2}"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53104242-42E4-462F-B9A6-468AC33D61A2}"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53104242-42E4-462F-B9A6-468AC33D61A2}"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53104242-42E4-462F-B9A6-468AC33D61A2}"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53104242-42E4-462F-B9A6-468AC33D61A2}"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53104242-42E4-462F-B9A6-468AC33D61A2}"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53104242-42E4-462F-B9A6-468AC33D61A2}"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53104242-42E4-462F-B9A6-468AC33D61A2}"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53104242-42E4-462F-B9A6-468AC33D61A2}"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53104242-42E4-462F-B9A6-468AC33D61A2}"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53104242-42E4-462F-B9A6-468AC33D61A2}"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p:cSld name="仅标题">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showMasterSp="0" userDrawn="1">
  <p:cSld name="1_自定义版式">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showMasterSp="0" userDrawn="1">
  <p:cSld name="自定义版式">
    <p:spTree>
      <p:nvGrpSpPr>
        <p:cNvPr id="1" name=""/>
        <p:cNvGrpSpPr/>
        <p:nvPr/>
      </p:nvGrpSpPr>
      <p:grpSpPr>
        <a:xfrm>
          <a:off x="0" y="0"/>
          <a:ext cx="0" cy="0"/>
          <a:chOff x="0" y="0"/>
          <a:chExt cx="0" cy="0"/>
        </a:xfrm>
      </p:grpSpPr>
      <p:grpSp>
        <p:nvGrpSpPr>
          <p:cNvPr id="4" name="组合 3"/>
          <p:cNvGrpSpPr/>
          <p:nvPr userDrawn="1"/>
        </p:nvGrpSpPr>
        <p:grpSpPr>
          <a:xfrm>
            <a:off x="0" y="0"/>
            <a:ext cx="12192000" cy="6856551"/>
            <a:chOff x="0" y="0"/>
            <a:chExt cx="12192000" cy="6856551"/>
          </a:xfrm>
        </p:grpSpPr>
        <p:pic>
          <p:nvPicPr>
            <p:cNvPr id="5" name="图片 4"/>
            <p:cNvPicPr>
              <a:picLocks noChangeAspect="1"/>
            </p:cNvPicPr>
            <p:nvPr/>
          </p:nvPicPr>
          <p:blipFill rotWithShape="1">
            <a:blip r:embed="rId2" cstate="screen"/>
            <a:srcRect r="-1"/>
            <a:stretch>
              <a:fillRect/>
            </a:stretch>
          </p:blipFill>
          <p:spPr>
            <a:xfrm flipH="1">
              <a:off x="1724400" y="0"/>
              <a:ext cx="10467600" cy="6855102"/>
            </a:xfrm>
            <a:prstGeom prst="rect">
              <a:avLst/>
            </a:prstGeom>
          </p:spPr>
        </p:pic>
        <p:pic>
          <p:nvPicPr>
            <p:cNvPr id="6" name="图片 5"/>
            <p:cNvPicPr>
              <a:picLocks noChangeAspect="1"/>
            </p:cNvPicPr>
            <p:nvPr/>
          </p:nvPicPr>
          <p:blipFill rotWithShape="1">
            <a:blip r:embed="rId3" cstate="screen"/>
            <a:srcRect r="-35"/>
            <a:stretch>
              <a:fillRect/>
            </a:stretch>
          </p:blipFill>
          <p:spPr>
            <a:xfrm flipH="1">
              <a:off x="0" y="1449"/>
              <a:ext cx="2095500" cy="6855102"/>
            </a:xfrm>
            <a:prstGeom prst="rect">
              <a:avLst/>
            </a:prstGeom>
          </p:spPr>
        </p:pic>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endParaRPr lang="zh-CN" altLang="en-US"/>
          </a:p>
        </p:txBody>
      </p:sp>
      <p:sp>
        <p:nvSpPr>
          <p:cNvPr id="4" name="矩形 3"/>
          <p:cNvSpPr/>
          <p:nvPr userDrawn="1"/>
        </p:nvSpPr>
        <p:spPr>
          <a:xfrm>
            <a:off x="8325228" y="6545425"/>
            <a:ext cx="775136" cy="246221"/>
          </a:xfrm>
          <a:prstGeom prst="rect">
            <a:avLst/>
          </a:prstGeom>
        </p:spPr>
        <p:txBody>
          <a:bodyPr wrap="square">
            <a:spAutoFit/>
          </a:bodyPr>
          <a:lstStyle/>
          <a:p>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模板下载：</a:t>
            </a:r>
            <a:r>
              <a:rPr lang="en-US" altLang="zh-CN" sz="100" dirty="0">
                <a:solidFill>
                  <a:prstClr val="white"/>
                </a:solidFill>
                <a:latin typeface="Calibri" panose="020F0502020204030204"/>
                <a:ea typeface="宋体" panose="02010600030101010101" pitchFamily="2" charset="-122"/>
              </a:rPr>
              <a:t>www.1ppt.com/moban/     </a:t>
            </a:r>
            <a:r>
              <a:rPr lang="zh-CN" altLang="en-US" sz="100" dirty="0">
                <a:solidFill>
                  <a:prstClr val="white"/>
                </a:solidFill>
                <a:latin typeface="Calibri" panose="020F0502020204030204"/>
                <a:ea typeface="宋体" panose="02010600030101010101" pitchFamily="2" charset="-122"/>
              </a:rPr>
              <a:t>行业</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www.1ppt.com/hangye/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节日</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www.1ppt.com/jieri/           PPT</a:t>
            </a:r>
            <a:r>
              <a:rPr lang="zh-CN" altLang="en-US" sz="100" dirty="0">
                <a:solidFill>
                  <a:prstClr val="white"/>
                </a:solidFill>
                <a:latin typeface="Calibri" panose="020F0502020204030204"/>
                <a:ea typeface="宋体" panose="02010600030101010101" pitchFamily="2" charset="-122"/>
              </a:rPr>
              <a:t>素材下载：</a:t>
            </a:r>
            <a:r>
              <a:rPr lang="en-US" altLang="zh-CN" sz="100" dirty="0">
                <a:solidFill>
                  <a:prstClr val="white"/>
                </a:solidFill>
                <a:latin typeface="Calibri" panose="020F0502020204030204"/>
                <a:ea typeface="宋体" panose="02010600030101010101" pitchFamily="2" charset="-122"/>
              </a:rPr>
              <a:t>www.1ppt.com/sucai/</a:t>
            </a:r>
            <a:endParaRPr lang="en-US" altLang="zh-CN" sz="100" dirty="0">
              <a:solidFill>
                <a:prstClr val="white"/>
              </a:solidFill>
              <a:latin typeface="Calibri" panose="020F0502020204030204"/>
              <a:ea typeface="宋体" panose="02010600030101010101" pitchFamily="2" charset="-122"/>
            </a:endParaRPr>
          </a:p>
          <a:p>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背景图片：</a:t>
            </a:r>
            <a:r>
              <a:rPr lang="en-US" altLang="zh-CN" sz="100" dirty="0">
                <a:solidFill>
                  <a:prstClr val="white"/>
                </a:solidFill>
                <a:latin typeface="Calibri" panose="020F0502020204030204"/>
                <a:ea typeface="宋体" panose="02010600030101010101" pitchFamily="2" charset="-122"/>
              </a:rPr>
              <a:t>www.1ppt.com/beijing/      PPT</a:t>
            </a:r>
            <a:r>
              <a:rPr lang="zh-CN" altLang="en-US" sz="100" dirty="0">
                <a:solidFill>
                  <a:prstClr val="white"/>
                </a:solidFill>
                <a:latin typeface="Calibri" panose="020F0502020204030204"/>
                <a:ea typeface="宋体" panose="02010600030101010101" pitchFamily="2" charset="-122"/>
              </a:rPr>
              <a:t>图表下载：</a:t>
            </a:r>
            <a:r>
              <a:rPr lang="en-US" altLang="zh-CN" sz="100" dirty="0">
                <a:solidFill>
                  <a:prstClr val="white"/>
                </a:solidFill>
                <a:latin typeface="Calibri" panose="020F0502020204030204"/>
                <a:ea typeface="宋体" panose="02010600030101010101" pitchFamily="2" charset="-122"/>
              </a:rPr>
              <a:t>www.1ppt.com/tubiao/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优秀</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下载：</a:t>
            </a:r>
            <a:r>
              <a:rPr lang="en-US" altLang="zh-CN" sz="100" dirty="0">
                <a:solidFill>
                  <a:prstClr val="white"/>
                </a:solidFill>
                <a:latin typeface="Calibri" panose="020F0502020204030204"/>
                <a:ea typeface="宋体" panose="02010600030101010101" pitchFamily="2" charset="-122"/>
              </a:rPr>
              <a:t>www.1ppt.com/xiazai/        PPT</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www.1ppt.com/powerpoint/      </a:t>
            </a:r>
            <a:endParaRPr lang="en-US" altLang="zh-CN" sz="100" dirty="0">
              <a:solidFill>
                <a:prstClr val="white"/>
              </a:solidFill>
              <a:latin typeface="Calibri" panose="020F0502020204030204"/>
              <a:ea typeface="宋体" panose="02010600030101010101" pitchFamily="2" charset="-122"/>
            </a:endParaRPr>
          </a:p>
          <a:p>
            <a:r>
              <a:rPr lang="en-US" altLang="zh-CN" sz="100" dirty="0">
                <a:solidFill>
                  <a:prstClr val="white"/>
                </a:solidFill>
                <a:latin typeface="Calibri" panose="020F0502020204030204"/>
                <a:ea typeface="宋体" panose="02010600030101010101" pitchFamily="2" charset="-122"/>
              </a:rPr>
              <a:t>Word</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www.1ppt.com/word/              Excel</a:t>
            </a:r>
            <a:r>
              <a:rPr lang="zh-CN" altLang="en-US" sz="100" dirty="0">
                <a:solidFill>
                  <a:prstClr val="white"/>
                </a:solidFill>
                <a:latin typeface="Calibri" panose="020F0502020204030204"/>
                <a:ea typeface="宋体" panose="02010600030101010101" pitchFamily="2" charset="-122"/>
              </a:rPr>
              <a:t>教程：</a:t>
            </a:r>
            <a:r>
              <a:rPr lang="en-US" altLang="zh-CN" sz="100" dirty="0">
                <a:solidFill>
                  <a:prstClr val="white"/>
                </a:solidFill>
                <a:latin typeface="Calibri" panose="020F0502020204030204"/>
                <a:ea typeface="宋体" panose="02010600030101010101" pitchFamily="2" charset="-122"/>
              </a:rPr>
              <a:t>www.1ppt.com/excel/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资料下载：</a:t>
            </a:r>
            <a:r>
              <a:rPr lang="en-US" altLang="zh-CN" sz="100" dirty="0">
                <a:solidFill>
                  <a:prstClr val="white"/>
                </a:solidFill>
                <a:latin typeface="Calibri" panose="020F0502020204030204"/>
                <a:ea typeface="宋体" panose="02010600030101010101" pitchFamily="2" charset="-122"/>
              </a:rPr>
              <a:t>www.1ppt.com/ziliao/                PPT</a:t>
            </a:r>
            <a:r>
              <a:rPr lang="zh-CN" altLang="en-US" sz="100" dirty="0">
                <a:solidFill>
                  <a:prstClr val="white"/>
                </a:solidFill>
                <a:latin typeface="Calibri" panose="020F0502020204030204"/>
                <a:ea typeface="宋体" panose="02010600030101010101" pitchFamily="2" charset="-122"/>
              </a:rPr>
              <a:t>课件下载：</a:t>
            </a:r>
            <a:r>
              <a:rPr lang="en-US" altLang="zh-CN" sz="100" dirty="0">
                <a:solidFill>
                  <a:prstClr val="white"/>
                </a:solidFill>
                <a:latin typeface="Calibri" panose="020F0502020204030204"/>
                <a:ea typeface="宋体" panose="02010600030101010101" pitchFamily="2" charset="-122"/>
              </a:rPr>
              <a:t>www.1ppt.com/kejian/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范文下载：</a:t>
            </a:r>
            <a:r>
              <a:rPr lang="en-US" altLang="zh-CN" sz="100" dirty="0">
                <a:solidFill>
                  <a:prstClr val="white"/>
                </a:solidFill>
                <a:latin typeface="Calibri" panose="020F0502020204030204"/>
                <a:ea typeface="宋体" panose="02010600030101010101" pitchFamily="2" charset="-122"/>
              </a:rPr>
              <a:t>www.1ppt.com/fanwen/             </a:t>
            </a:r>
            <a:r>
              <a:rPr lang="zh-CN" altLang="en-US" sz="100" dirty="0">
                <a:solidFill>
                  <a:prstClr val="white"/>
                </a:solidFill>
                <a:latin typeface="Calibri" panose="020F0502020204030204"/>
                <a:ea typeface="宋体" panose="02010600030101010101" pitchFamily="2" charset="-122"/>
              </a:rPr>
              <a:t>试卷下载：</a:t>
            </a:r>
            <a:r>
              <a:rPr lang="en-US" altLang="zh-CN" sz="100" dirty="0">
                <a:solidFill>
                  <a:prstClr val="white"/>
                </a:solidFill>
                <a:latin typeface="Calibri" panose="020F0502020204030204"/>
                <a:ea typeface="宋体" panose="02010600030101010101" pitchFamily="2" charset="-122"/>
              </a:rPr>
              <a:t>www.1ppt.com/shiti/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教案下载：</a:t>
            </a:r>
            <a:r>
              <a:rPr lang="en-US" altLang="zh-CN" sz="100" dirty="0">
                <a:solidFill>
                  <a:prstClr val="white"/>
                </a:solidFill>
                <a:latin typeface="Calibri" panose="020F0502020204030204"/>
                <a:ea typeface="宋体" panose="02010600030101010101" pitchFamily="2" charset="-122"/>
              </a:rPr>
              <a:t>www.1ppt.com/jiaoan/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字体下载：</a:t>
            </a:r>
            <a:r>
              <a:rPr lang="en-US" altLang="zh-CN" sz="100" dirty="0">
                <a:solidFill>
                  <a:prstClr val="white"/>
                </a:solidFill>
                <a:latin typeface="Calibri" panose="020F0502020204030204"/>
                <a:ea typeface="宋体" panose="02010600030101010101" pitchFamily="2" charset="-122"/>
              </a:rPr>
              <a:t>www.1ppt.com/ziti/</a:t>
            </a:r>
            <a:endParaRPr lang="en-US" altLang="zh-CN" sz="100" dirty="0">
              <a:solidFill>
                <a:prstClr val="white"/>
              </a:solidFill>
              <a:latin typeface="Calibri" panose="020F0502020204030204"/>
              <a:ea typeface="宋体" panose="02010600030101010101" pitchFamily="2" charset="-122"/>
            </a:endParaRPr>
          </a:p>
          <a:p>
            <a:r>
              <a:rPr lang="en-US" altLang="zh-CN" sz="100" dirty="0">
                <a:solidFill>
                  <a:prstClr val="white"/>
                </a:solidFill>
                <a:latin typeface="Calibri" panose="020F0502020204030204"/>
                <a:ea typeface="宋体" panose="02010600030101010101" pitchFamily="2" charset="-122"/>
              </a:rPr>
              <a:t> </a:t>
            </a:r>
            <a:endParaRPr lang="zh-CN" altLang="en-US" sz="100" dirty="0">
              <a:solidFill>
                <a:prstClr val="white"/>
              </a:solidFill>
              <a:latin typeface="Calibri" panose="020F0502020204030204"/>
              <a:ea typeface="宋体" panose="02010600030101010101" pitchFamily="2" charset="-122"/>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5_自定义版式">
    <p:spTree>
      <p:nvGrpSpPr>
        <p:cNvPr id="1" name=""/>
        <p:cNvGrpSpPr/>
        <p:nvPr/>
      </p:nvGrpSpPr>
      <p:grpSpPr>
        <a:xfrm>
          <a:off x="0" y="0"/>
          <a:ext cx="0" cy="0"/>
          <a:chOff x="0" y="0"/>
          <a:chExt cx="0" cy="0"/>
        </a:xfrm>
      </p:grpSpPr>
      <p:sp>
        <p:nvSpPr>
          <p:cNvPr id="7" name="图片占位符 6"/>
          <p:cNvSpPr>
            <a:spLocks noGrp="1"/>
          </p:cNvSpPr>
          <p:nvPr>
            <p:ph type="pic" sz="quarter" idx="11"/>
          </p:nvPr>
        </p:nvSpPr>
        <p:spPr>
          <a:xfrm>
            <a:off x="1600201" y="2085976"/>
            <a:ext cx="3971925" cy="2162175"/>
          </a:xfrm>
          <a:custGeom>
            <a:avLst/>
            <a:gdLst>
              <a:gd name="connsiteX0" fmla="*/ 0 w 3971925"/>
              <a:gd name="connsiteY0" fmla="*/ 0 h 2162175"/>
              <a:gd name="connsiteX1" fmla="*/ 3971925 w 3971925"/>
              <a:gd name="connsiteY1" fmla="*/ 0 h 2162175"/>
              <a:gd name="connsiteX2" fmla="*/ 3971925 w 3971925"/>
              <a:gd name="connsiteY2" fmla="*/ 2162175 h 2162175"/>
              <a:gd name="connsiteX3" fmla="*/ 0 w 3971925"/>
              <a:gd name="connsiteY3" fmla="*/ 2162175 h 2162175"/>
            </a:gdLst>
            <a:ahLst/>
            <a:cxnLst>
              <a:cxn ang="0">
                <a:pos x="connsiteX0" y="connsiteY0"/>
              </a:cxn>
              <a:cxn ang="0">
                <a:pos x="connsiteX1" y="connsiteY1"/>
              </a:cxn>
              <a:cxn ang="0">
                <a:pos x="connsiteX2" y="connsiteY2"/>
              </a:cxn>
              <a:cxn ang="0">
                <a:pos x="connsiteX3" y="connsiteY3"/>
              </a:cxn>
            </a:cxnLst>
            <a:rect l="l" t="t" r="r" b="b"/>
            <a:pathLst>
              <a:path w="3971925" h="2162175">
                <a:moveTo>
                  <a:pt x="0" y="0"/>
                </a:moveTo>
                <a:lnTo>
                  <a:pt x="3971925" y="0"/>
                </a:lnTo>
                <a:lnTo>
                  <a:pt x="3971925" y="2162175"/>
                </a:lnTo>
                <a:lnTo>
                  <a:pt x="0" y="2162175"/>
                </a:lnTo>
                <a:close/>
              </a:path>
            </a:pathLst>
          </a:custGeom>
        </p:spPr>
        <p:txBody>
          <a:bodyPr wrap="square">
            <a:noAutofit/>
          </a:bodyPr>
          <a:lstStyle/>
          <a:p>
            <a:endParaRPr lang="zh-CN" altLang="en-US"/>
          </a:p>
        </p:txBody>
      </p:sp>
      <p:sp>
        <p:nvSpPr>
          <p:cNvPr id="3" name="灯片编号占位符 2"/>
          <p:cNvSpPr>
            <a:spLocks noGrp="1"/>
          </p:cNvSpPr>
          <p:nvPr>
            <p:ph type="sldNum" sz="quarter" idx="10"/>
          </p:nvPr>
        </p:nvSpPr>
        <p:spPr/>
        <p:txBody>
          <a:bodyPr/>
          <a:lstStyle/>
          <a:p>
            <a:fld id="{1F57BEC6-7C2B-4B03-B4DD-37A8D3CA46A8}"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2_自定义版式">
    <p:spTree>
      <p:nvGrpSpPr>
        <p:cNvPr id="1" name=""/>
        <p:cNvGrpSpPr/>
        <p:nvPr/>
      </p:nvGrpSpPr>
      <p:grpSpPr>
        <a:xfrm>
          <a:off x="0" y="0"/>
          <a:ext cx="0" cy="0"/>
          <a:chOff x="0" y="0"/>
          <a:chExt cx="0" cy="0"/>
        </a:xfrm>
      </p:grpSpPr>
      <p:sp>
        <p:nvSpPr>
          <p:cNvPr id="13" name="图片占位符 12"/>
          <p:cNvSpPr>
            <a:spLocks noGrp="1"/>
          </p:cNvSpPr>
          <p:nvPr>
            <p:ph type="pic" sz="quarter" idx="11"/>
          </p:nvPr>
        </p:nvSpPr>
        <p:spPr>
          <a:xfrm>
            <a:off x="6305550" y="1936268"/>
            <a:ext cx="2294499" cy="1622543"/>
          </a:xfrm>
          <a:custGeom>
            <a:avLst/>
            <a:gdLst>
              <a:gd name="connsiteX0" fmla="*/ 0 w 2294499"/>
              <a:gd name="connsiteY0" fmla="*/ 0 h 1622543"/>
              <a:gd name="connsiteX1" fmla="*/ 2294499 w 2294499"/>
              <a:gd name="connsiteY1" fmla="*/ 0 h 1622543"/>
              <a:gd name="connsiteX2" fmla="*/ 2294499 w 2294499"/>
              <a:gd name="connsiteY2" fmla="*/ 1622543 h 1622543"/>
              <a:gd name="connsiteX3" fmla="*/ 0 w 2294499"/>
              <a:gd name="connsiteY3" fmla="*/ 1622543 h 1622543"/>
            </a:gdLst>
            <a:ahLst/>
            <a:cxnLst>
              <a:cxn ang="0">
                <a:pos x="connsiteX0" y="connsiteY0"/>
              </a:cxn>
              <a:cxn ang="0">
                <a:pos x="connsiteX1" y="connsiteY1"/>
              </a:cxn>
              <a:cxn ang="0">
                <a:pos x="connsiteX2" y="connsiteY2"/>
              </a:cxn>
              <a:cxn ang="0">
                <a:pos x="connsiteX3" y="connsiteY3"/>
              </a:cxn>
            </a:cxnLst>
            <a:rect l="l" t="t" r="r" b="b"/>
            <a:pathLst>
              <a:path w="2294499" h="1622543">
                <a:moveTo>
                  <a:pt x="0" y="0"/>
                </a:moveTo>
                <a:lnTo>
                  <a:pt x="2294499" y="0"/>
                </a:lnTo>
                <a:lnTo>
                  <a:pt x="2294499" y="1622543"/>
                </a:lnTo>
                <a:lnTo>
                  <a:pt x="0" y="1622543"/>
                </a:lnTo>
                <a:close/>
              </a:path>
            </a:pathLst>
          </a:custGeom>
        </p:spPr>
        <p:txBody>
          <a:bodyPr wrap="square">
            <a:noAutofit/>
          </a:bodyPr>
          <a:lstStyle/>
          <a:p>
            <a:endParaRPr lang="zh-CN" altLang="en-US"/>
          </a:p>
        </p:txBody>
      </p:sp>
      <p:sp>
        <p:nvSpPr>
          <p:cNvPr id="14" name="图片占位符 13"/>
          <p:cNvSpPr>
            <a:spLocks noGrp="1"/>
          </p:cNvSpPr>
          <p:nvPr>
            <p:ph type="pic" sz="quarter" idx="12"/>
          </p:nvPr>
        </p:nvSpPr>
        <p:spPr>
          <a:xfrm>
            <a:off x="8802126" y="1936268"/>
            <a:ext cx="2294499" cy="1622543"/>
          </a:xfrm>
          <a:custGeom>
            <a:avLst/>
            <a:gdLst>
              <a:gd name="connsiteX0" fmla="*/ 0 w 2294499"/>
              <a:gd name="connsiteY0" fmla="*/ 0 h 1622543"/>
              <a:gd name="connsiteX1" fmla="*/ 2294499 w 2294499"/>
              <a:gd name="connsiteY1" fmla="*/ 0 h 1622543"/>
              <a:gd name="connsiteX2" fmla="*/ 2294499 w 2294499"/>
              <a:gd name="connsiteY2" fmla="*/ 1622543 h 1622543"/>
              <a:gd name="connsiteX3" fmla="*/ 0 w 2294499"/>
              <a:gd name="connsiteY3" fmla="*/ 1622543 h 1622543"/>
            </a:gdLst>
            <a:ahLst/>
            <a:cxnLst>
              <a:cxn ang="0">
                <a:pos x="connsiteX0" y="connsiteY0"/>
              </a:cxn>
              <a:cxn ang="0">
                <a:pos x="connsiteX1" y="connsiteY1"/>
              </a:cxn>
              <a:cxn ang="0">
                <a:pos x="connsiteX2" y="connsiteY2"/>
              </a:cxn>
              <a:cxn ang="0">
                <a:pos x="connsiteX3" y="connsiteY3"/>
              </a:cxn>
            </a:cxnLst>
            <a:rect l="l" t="t" r="r" b="b"/>
            <a:pathLst>
              <a:path w="2294499" h="1622543">
                <a:moveTo>
                  <a:pt x="0" y="0"/>
                </a:moveTo>
                <a:lnTo>
                  <a:pt x="2294499" y="0"/>
                </a:lnTo>
                <a:lnTo>
                  <a:pt x="2294499" y="1622543"/>
                </a:lnTo>
                <a:lnTo>
                  <a:pt x="0" y="1622543"/>
                </a:lnTo>
                <a:close/>
              </a:path>
            </a:pathLst>
          </a:custGeom>
        </p:spPr>
        <p:txBody>
          <a:bodyPr wrap="square">
            <a:noAutofit/>
          </a:bodyPr>
          <a:lstStyle/>
          <a:p>
            <a:endParaRPr lang="zh-CN" altLang="en-US"/>
          </a:p>
        </p:txBody>
      </p:sp>
      <p:sp>
        <p:nvSpPr>
          <p:cNvPr id="16" name="图片占位符 15"/>
          <p:cNvSpPr>
            <a:spLocks noGrp="1"/>
          </p:cNvSpPr>
          <p:nvPr>
            <p:ph type="pic" sz="quarter" idx="13"/>
          </p:nvPr>
        </p:nvSpPr>
        <p:spPr>
          <a:xfrm>
            <a:off x="8802126" y="3797182"/>
            <a:ext cx="2294499" cy="1622543"/>
          </a:xfrm>
          <a:custGeom>
            <a:avLst/>
            <a:gdLst>
              <a:gd name="connsiteX0" fmla="*/ 0 w 2294499"/>
              <a:gd name="connsiteY0" fmla="*/ 0 h 1622543"/>
              <a:gd name="connsiteX1" fmla="*/ 2294499 w 2294499"/>
              <a:gd name="connsiteY1" fmla="*/ 0 h 1622543"/>
              <a:gd name="connsiteX2" fmla="*/ 2294499 w 2294499"/>
              <a:gd name="connsiteY2" fmla="*/ 1622543 h 1622543"/>
              <a:gd name="connsiteX3" fmla="*/ 0 w 2294499"/>
              <a:gd name="connsiteY3" fmla="*/ 1622543 h 1622543"/>
            </a:gdLst>
            <a:ahLst/>
            <a:cxnLst>
              <a:cxn ang="0">
                <a:pos x="connsiteX0" y="connsiteY0"/>
              </a:cxn>
              <a:cxn ang="0">
                <a:pos x="connsiteX1" y="connsiteY1"/>
              </a:cxn>
              <a:cxn ang="0">
                <a:pos x="connsiteX2" y="connsiteY2"/>
              </a:cxn>
              <a:cxn ang="0">
                <a:pos x="connsiteX3" y="connsiteY3"/>
              </a:cxn>
            </a:cxnLst>
            <a:rect l="l" t="t" r="r" b="b"/>
            <a:pathLst>
              <a:path w="2294499" h="1622543">
                <a:moveTo>
                  <a:pt x="0" y="0"/>
                </a:moveTo>
                <a:lnTo>
                  <a:pt x="2294499" y="0"/>
                </a:lnTo>
                <a:lnTo>
                  <a:pt x="2294499" y="1622543"/>
                </a:lnTo>
                <a:lnTo>
                  <a:pt x="0" y="1622543"/>
                </a:lnTo>
                <a:close/>
              </a:path>
            </a:pathLst>
          </a:custGeom>
        </p:spPr>
        <p:txBody>
          <a:bodyPr wrap="square">
            <a:noAutofit/>
          </a:bodyPr>
          <a:lstStyle/>
          <a:p>
            <a:endParaRPr lang="zh-CN" altLang="en-US"/>
          </a:p>
        </p:txBody>
      </p:sp>
      <p:sp>
        <p:nvSpPr>
          <p:cNvPr id="15" name="图片占位符 14"/>
          <p:cNvSpPr>
            <a:spLocks noGrp="1"/>
          </p:cNvSpPr>
          <p:nvPr>
            <p:ph type="pic" sz="quarter" idx="14"/>
          </p:nvPr>
        </p:nvSpPr>
        <p:spPr>
          <a:xfrm>
            <a:off x="6305550" y="3797182"/>
            <a:ext cx="2294499" cy="1622543"/>
          </a:xfrm>
          <a:custGeom>
            <a:avLst/>
            <a:gdLst>
              <a:gd name="connsiteX0" fmla="*/ 0 w 2294499"/>
              <a:gd name="connsiteY0" fmla="*/ 0 h 1622543"/>
              <a:gd name="connsiteX1" fmla="*/ 2294499 w 2294499"/>
              <a:gd name="connsiteY1" fmla="*/ 0 h 1622543"/>
              <a:gd name="connsiteX2" fmla="*/ 2294499 w 2294499"/>
              <a:gd name="connsiteY2" fmla="*/ 1622543 h 1622543"/>
              <a:gd name="connsiteX3" fmla="*/ 0 w 2294499"/>
              <a:gd name="connsiteY3" fmla="*/ 1622543 h 1622543"/>
            </a:gdLst>
            <a:ahLst/>
            <a:cxnLst>
              <a:cxn ang="0">
                <a:pos x="connsiteX0" y="connsiteY0"/>
              </a:cxn>
              <a:cxn ang="0">
                <a:pos x="connsiteX1" y="connsiteY1"/>
              </a:cxn>
              <a:cxn ang="0">
                <a:pos x="connsiteX2" y="connsiteY2"/>
              </a:cxn>
              <a:cxn ang="0">
                <a:pos x="connsiteX3" y="connsiteY3"/>
              </a:cxn>
            </a:cxnLst>
            <a:rect l="l" t="t" r="r" b="b"/>
            <a:pathLst>
              <a:path w="2294499" h="1622543">
                <a:moveTo>
                  <a:pt x="0" y="0"/>
                </a:moveTo>
                <a:lnTo>
                  <a:pt x="2294499" y="0"/>
                </a:lnTo>
                <a:lnTo>
                  <a:pt x="2294499" y="1622543"/>
                </a:lnTo>
                <a:lnTo>
                  <a:pt x="0" y="1622543"/>
                </a:lnTo>
                <a:close/>
              </a:path>
            </a:pathLst>
          </a:custGeom>
        </p:spPr>
        <p:txBody>
          <a:bodyPr wrap="square">
            <a:noAutofit/>
          </a:bodyPr>
          <a:lstStyle/>
          <a:p>
            <a:endParaRPr lang="zh-CN" altLang="en-US"/>
          </a:p>
        </p:txBody>
      </p:sp>
      <p:sp>
        <p:nvSpPr>
          <p:cNvPr id="3" name="灯片编号占位符 2"/>
          <p:cNvSpPr>
            <a:spLocks noGrp="1"/>
          </p:cNvSpPr>
          <p:nvPr>
            <p:ph type="sldNum" sz="quarter" idx="10"/>
          </p:nvPr>
        </p:nvSpPr>
        <p:spPr/>
        <p:txBody>
          <a:bodyPr/>
          <a:lstStyle/>
          <a:p>
            <a:fld id="{1F57BEC6-7C2B-4B03-B4DD-37A8D3CA46A8}"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9_自定义版式">
    <p:spTree>
      <p:nvGrpSpPr>
        <p:cNvPr id="1" name=""/>
        <p:cNvGrpSpPr/>
        <p:nvPr/>
      </p:nvGrpSpPr>
      <p:grpSpPr>
        <a:xfrm>
          <a:off x="0" y="0"/>
          <a:ext cx="0" cy="0"/>
          <a:chOff x="0" y="0"/>
          <a:chExt cx="0" cy="0"/>
        </a:xfrm>
      </p:grpSpPr>
      <p:sp>
        <p:nvSpPr>
          <p:cNvPr id="6" name="图片占位符 5"/>
          <p:cNvSpPr>
            <a:spLocks noGrp="1"/>
          </p:cNvSpPr>
          <p:nvPr>
            <p:ph type="pic" sz="quarter" idx="10"/>
          </p:nvPr>
        </p:nvSpPr>
        <p:spPr>
          <a:xfrm>
            <a:off x="4862286" y="2555649"/>
            <a:ext cx="2467428" cy="2467428"/>
          </a:xfrm>
          <a:custGeom>
            <a:avLst/>
            <a:gdLst>
              <a:gd name="connsiteX0" fmla="*/ 1233714 w 2467428"/>
              <a:gd name="connsiteY0" fmla="*/ 0 h 2467428"/>
              <a:gd name="connsiteX1" fmla="*/ 2467428 w 2467428"/>
              <a:gd name="connsiteY1" fmla="*/ 1233714 h 2467428"/>
              <a:gd name="connsiteX2" fmla="*/ 1233714 w 2467428"/>
              <a:gd name="connsiteY2" fmla="*/ 2467428 h 2467428"/>
              <a:gd name="connsiteX3" fmla="*/ 0 w 2467428"/>
              <a:gd name="connsiteY3" fmla="*/ 1233714 h 2467428"/>
              <a:gd name="connsiteX4" fmla="*/ 1233714 w 2467428"/>
              <a:gd name="connsiteY4" fmla="*/ 0 h 24674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7428" h="2467428">
                <a:moveTo>
                  <a:pt x="1233714" y="0"/>
                </a:moveTo>
                <a:cubicBezTo>
                  <a:pt x="1915075" y="0"/>
                  <a:pt x="2467428" y="552353"/>
                  <a:pt x="2467428" y="1233714"/>
                </a:cubicBezTo>
                <a:cubicBezTo>
                  <a:pt x="2467428" y="1915075"/>
                  <a:pt x="1915075" y="2467428"/>
                  <a:pt x="1233714" y="2467428"/>
                </a:cubicBezTo>
                <a:cubicBezTo>
                  <a:pt x="552353" y="2467428"/>
                  <a:pt x="0" y="1915075"/>
                  <a:pt x="0" y="1233714"/>
                </a:cubicBezTo>
                <a:cubicBezTo>
                  <a:pt x="0" y="552353"/>
                  <a:pt x="552353" y="0"/>
                  <a:pt x="1233714" y="0"/>
                </a:cubicBezTo>
                <a:close/>
              </a:path>
            </a:pathLst>
          </a:custGeom>
        </p:spPr>
        <p:txBody>
          <a:bodyPr wrap="square">
            <a:noAutofit/>
          </a:bodyPr>
          <a:lstStyle/>
          <a:p>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3_自定义版式">
    <p:spTree>
      <p:nvGrpSpPr>
        <p:cNvPr id="1" name=""/>
        <p:cNvGrpSpPr/>
        <p:nvPr/>
      </p:nvGrpSpPr>
      <p:grpSpPr>
        <a:xfrm>
          <a:off x="0" y="0"/>
          <a:ext cx="0" cy="0"/>
          <a:chOff x="0" y="0"/>
          <a:chExt cx="0" cy="0"/>
        </a:xfrm>
      </p:grpSpPr>
      <p:sp>
        <p:nvSpPr>
          <p:cNvPr id="8" name="图片占位符 7"/>
          <p:cNvSpPr>
            <a:spLocks noGrp="1"/>
          </p:cNvSpPr>
          <p:nvPr>
            <p:ph type="pic" sz="quarter" idx="10"/>
          </p:nvPr>
        </p:nvSpPr>
        <p:spPr>
          <a:xfrm>
            <a:off x="2352675" y="1908631"/>
            <a:ext cx="3448050" cy="2162175"/>
          </a:xfrm>
          <a:custGeom>
            <a:avLst/>
            <a:gdLst>
              <a:gd name="connsiteX0" fmla="*/ 0 w 3448050"/>
              <a:gd name="connsiteY0" fmla="*/ 0 h 2162175"/>
              <a:gd name="connsiteX1" fmla="*/ 3448050 w 3448050"/>
              <a:gd name="connsiteY1" fmla="*/ 0 h 2162175"/>
              <a:gd name="connsiteX2" fmla="*/ 3448050 w 3448050"/>
              <a:gd name="connsiteY2" fmla="*/ 2162175 h 2162175"/>
              <a:gd name="connsiteX3" fmla="*/ 0 w 3448050"/>
              <a:gd name="connsiteY3" fmla="*/ 2162175 h 2162175"/>
            </a:gdLst>
            <a:ahLst/>
            <a:cxnLst>
              <a:cxn ang="0">
                <a:pos x="connsiteX0" y="connsiteY0"/>
              </a:cxn>
              <a:cxn ang="0">
                <a:pos x="connsiteX1" y="connsiteY1"/>
              </a:cxn>
              <a:cxn ang="0">
                <a:pos x="connsiteX2" y="connsiteY2"/>
              </a:cxn>
              <a:cxn ang="0">
                <a:pos x="connsiteX3" y="connsiteY3"/>
              </a:cxn>
            </a:cxnLst>
            <a:rect l="l" t="t" r="r" b="b"/>
            <a:pathLst>
              <a:path w="3448050" h="2162175">
                <a:moveTo>
                  <a:pt x="0" y="0"/>
                </a:moveTo>
                <a:lnTo>
                  <a:pt x="3448050" y="0"/>
                </a:lnTo>
                <a:lnTo>
                  <a:pt x="3448050" y="2162175"/>
                </a:lnTo>
                <a:lnTo>
                  <a:pt x="0" y="2162175"/>
                </a:lnTo>
                <a:close/>
              </a:path>
            </a:pathLst>
          </a:custGeom>
        </p:spPr>
        <p:txBody>
          <a:bodyPr wrap="square">
            <a:noAutofit/>
          </a:bodyPr>
          <a:lstStyle/>
          <a:p>
            <a:endParaRPr lang="zh-CN" altLang="en-US"/>
          </a:p>
        </p:txBody>
      </p:sp>
      <p:sp>
        <p:nvSpPr>
          <p:cNvPr id="7" name="图片占位符 6"/>
          <p:cNvSpPr>
            <a:spLocks noGrp="1"/>
          </p:cNvSpPr>
          <p:nvPr>
            <p:ph type="pic" sz="quarter" idx="11"/>
          </p:nvPr>
        </p:nvSpPr>
        <p:spPr>
          <a:xfrm>
            <a:off x="6629400" y="3727906"/>
            <a:ext cx="3448050" cy="2162175"/>
          </a:xfrm>
          <a:custGeom>
            <a:avLst/>
            <a:gdLst>
              <a:gd name="connsiteX0" fmla="*/ 0 w 3448050"/>
              <a:gd name="connsiteY0" fmla="*/ 0 h 2162175"/>
              <a:gd name="connsiteX1" fmla="*/ 3448050 w 3448050"/>
              <a:gd name="connsiteY1" fmla="*/ 0 h 2162175"/>
              <a:gd name="connsiteX2" fmla="*/ 3448050 w 3448050"/>
              <a:gd name="connsiteY2" fmla="*/ 2162175 h 2162175"/>
              <a:gd name="connsiteX3" fmla="*/ 0 w 3448050"/>
              <a:gd name="connsiteY3" fmla="*/ 2162175 h 2162175"/>
            </a:gdLst>
            <a:ahLst/>
            <a:cxnLst>
              <a:cxn ang="0">
                <a:pos x="connsiteX0" y="connsiteY0"/>
              </a:cxn>
              <a:cxn ang="0">
                <a:pos x="connsiteX1" y="connsiteY1"/>
              </a:cxn>
              <a:cxn ang="0">
                <a:pos x="connsiteX2" y="connsiteY2"/>
              </a:cxn>
              <a:cxn ang="0">
                <a:pos x="connsiteX3" y="connsiteY3"/>
              </a:cxn>
            </a:cxnLst>
            <a:rect l="l" t="t" r="r" b="b"/>
            <a:pathLst>
              <a:path w="3448050" h="2162175">
                <a:moveTo>
                  <a:pt x="0" y="0"/>
                </a:moveTo>
                <a:lnTo>
                  <a:pt x="3448050" y="0"/>
                </a:lnTo>
                <a:lnTo>
                  <a:pt x="3448050" y="2162175"/>
                </a:lnTo>
                <a:lnTo>
                  <a:pt x="0" y="2162175"/>
                </a:lnTo>
                <a:close/>
              </a:path>
            </a:pathLst>
          </a:custGeom>
        </p:spPr>
        <p:txBody>
          <a:bodyPr wrap="square">
            <a:noAutofit/>
          </a:bodyPr>
          <a:lstStyle/>
          <a:p>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5_自定义版式">
    <p:spTree>
      <p:nvGrpSpPr>
        <p:cNvPr id="1" name=""/>
        <p:cNvGrpSpPr/>
        <p:nvPr/>
      </p:nvGrpSpPr>
      <p:grpSpPr>
        <a:xfrm>
          <a:off x="0" y="0"/>
          <a:ext cx="0" cy="0"/>
          <a:chOff x="0" y="0"/>
          <a:chExt cx="0" cy="0"/>
        </a:xfrm>
      </p:grpSpPr>
      <p:sp>
        <p:nvSpPr>
          <p:cNvPr id="7" name="图片占位符 6"/>
          <p:cNvSpPr>
            <a:spLocks noGrp="1"/>
          </p:cNvSpPr>
          <p:nvPr>
            <p:ph type="pic" sz="quarter" idx="10"/>
          </p:nvPr>
        </p:nvSpPr>
        <p:spPr>
          <a:xfrm>
            <a:off x="985519" y="1518470"/>
            <a:ext cx="3461834" cy="2221681"/>
          </a:xfrm>
          <a:custGeom>
            <a:avLst/>
            <a:gdLst>
              <a:gd name="connsiteX0" fmla="*/ 0 w 3461834"/>
              <a:gd name="connsiteY0" fmla="*/ 0 h 2221681"/>
              <a:gd name="connsiteX1" fmla="*/ 3461834 w 3461834"/>
              <a:gd name="connsiteY1" fmla="*/ 0 h 2221681"/>
              <a:gd name="connsiteX2" fmla="*/ 3461834 w 3461834"/>
              <a:gd name="connsiteY2" fmla="*/ 2221681 h 2221681"/>
              <a:gd name="connsiteX3" fmla="*/ 0 w 3461834"/>
              <a:gd name="connsiteY3" fmla="*/ 2221681 h 2221681"/>
            </a:gdLst>
            <a:ahLst/>
            <a:cxnLst>
              <a:cxn ang="0">
                <a:pos x="connsiteX0" y="connsiteY0"/>
              </a:cxn>
              <a:cxn ang="0">
                <a:pos x="connsiteX1" y="connsiteY1"/>
              </a:cxn>
              <a:cxn ang="0">
                <a:pos x="connsiteX2" y="connsiteY2"/>
              </a:cxn>
              <a:cxn ang="0">
                <a:pos x="connsiteX3" y="connsiteY3"/>
              </a:cxn>
            </a:cxnLst>
            <a:rect l="l" t="t" r="r" b="b"/>
            <a:pathLst>
              <a:path w="3461834" h="2221681">
                <a:moveTo>
                  <a:pt x="0" y="0"/>
                </a:moveTo>
                <a:lnTo>
                  <a:pt x="3461834" y="0"/>
                </a:lnTo>
                <a:lnTo>
                  <a:pt x="3461834" y="2221681"/>
                </a:lnTo>
                <a:lnTo>
                  <a:pt x="0" y="2221681"/>
                </a:lnTo>
                <a:close/>
              </a:path>
            </a:pathLst>
          </a:custGeom>
        </p:spPr>
        <p:txBody>
          <a:bodyPr wrap="square">
            <a:noAutofit/>
          </a:bodyPr>
          <a:lstStyle/>
          <a:p>
            <a:endParaRPr lang="zh-CN" altLang="en-US"/>
          </a:p>
        </p:txBody>
      </p:sp>
      <p:sp>
        <p:nvSpPr>
          <p:cNvPr id="8" name="图片占位符 7"/>
          <p:cNvSpPr>
            <a:spLocks noGrp="1"/>
          </p:cNvSpPr>
          <p:nvPr>
            <p:ph type="pic" sz="quarter" idx="11"/>
          </p:nvPr>
        </p:nvSpPr>
        <p:spPr>
          <a:xfrm>
            <a:off x="985519" y="3822700"/>
            <a:ext cx="3461832" cy="2211614"/>
          </a:xfrm>
          <a:custGeom>
            <a:avLst/>
            <a:gdLst>
              <a:gd name="connsiteX0" fmla="*/ 0 w 3461832"/>
              <a:gd name="connsiteY0" fmla="*/ 0 h 2211614"/>
              <a:gd name="connsiteX1" fmla="*/ 3461832 w 3461832"/>
              <a:gd name="connsiteY1" fmla="*/ 0 h 2211614"/>
              <a:gd name="connsiteX2" fmla="*/ 3461832 w 3461832"/>
              <a:gd name="connsiteY2" fmla="*/ 2211614 h 2211614"/>
              <a:gd name="connsiteX3" fmla="*/ 0 w 3461832"/>
              <a:gd name="connsiteY3" fmla="*/ 2211614 h 2211614"/>
            </a:gdLst>
            <a:ahLst/>
            <a:cxnLst>
              <a:cxn ang="0">
                <a:pos x="connsiteX0" y="connsiteY0"/>
              </a:cxn>
              <a:cxn ang="0">
                <a:pos x="connsiteX1" y="connsiteY1"/>
              </a:cxn>
              <a:cxn ang="0">
                <a:pos x="connsiteX2" y="connsiteY2"/>
              </a:cxn>
              <a:cxn ang="0">
                <a:pos x="connsiteX3" y="connsiteY3"/>
              </a:cxn>
            </a:cxnLst>
            <a:rect l="l" t="t" r="r" b="b"/>
            <a:pathLst>
              <a:path w="3461832" h="2211614">
                <a:moveTo>
                  <a:pt x="0" y="0"/>
                </a:moveTo>
                <a:lnTo>
                  <a:pt x="3461832" y="0"/>
                </a:lnTo>
                <a:lnTo>
                  <a:pt x="3461832" y="2211614"/>
                </a:lnTo>
                <a:lnTo>
                  <a:pt x="0" y="2211614"/>
                </a:lnTo>
                <a:close/>
              </a:path>
            </a:pathLst>
          </a:custGeom>
        </p:spPr>
        <p:txBody>
          <a:bodyPr wrap="square">
            <a:noAutofit/>
          </a:bodyPr>
          <a:lstStyle/>
          <a:p>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6_自定义版式">
    <p:spTree>
      <p:nvGrpSpPr>
        <p:cNvPr id="1" name=""/>
        <p:cNvGrpSpPr/>
        <p:nvPr/>
      </p:nvGrpSpPr>
      <p:grpSpPr>
        <a:xfrm>
          <a:off x="0" y="0"/>
          <a:ext cx="0" cy="0"/>
          <a:chOff x="0" y="0"/>
          <a:chExt cx="0" cy="0"/>
        </a:xfrm>
      </p:grpSpPr>
      <p:sp>
        <p:nvSpPr>
          <p:cNvPr id="5" name="图片占位符 4"/>
          <p:cNvSpPr>
            <a:spLocks noGrp="1"/>
          </p:cNvSpPr>
          <p:nvPr>
            <p:ph type="pic" sz="quarter" idx="10"/>
          </p:nvPr>
        </p:nvSpPr>
        <p:spPr>
          <a:xfrm>
            <a:off x="1698623" y="2746373"/>
            <a:ext cx="2187580" cy="2187580"/>
          </a:xfrm>
          <a:custGeom>
            <a:avLst/>
            <a:gdLst>
              <a:gd name="connsiteX0" fmla="*/ 1093790 w 2187580"/>
              <a:gd name="connsiteY0" fmla="*/ 0 h 2187580"/>
              <a:gd name="connsiteX1" fmla="*/ 2187580 w 2187580"/>
              <a:gd name="connsiteY1" fmla="*/ 1093790 h 2187580"/>
              <a:gd name="connsiteX2" fmla="*/ 1093790 w 2187580"/>
              <a:gd name="connsiteY2" fmla="*/ 2187580 h 2187580"/>
              <a:gd name="connsiteX3" fmla="*/ 0 w 2187580"/>
              <a:gd name="connsiteY3" fmla="*/ 1093790 h 2187580"/>
              <a:gd name="connsiteX4" fmla="*/ 1093790 w 2187580"/>
              <a:gd name="connsiteY4" fmla="*/ 0 h 2187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87580" h="2187580">
                <a:moveTo>
                  <a:pt x="1093790" y="0"/>
                </a:moveTo>
                <a:cubicBezTo>
                  <a:pt x="1697874" y="0"/>
                  <a:pt x="2187580" y="489706"/>
                  <a:pt x="2187580" y="1093790"/>
                </a:cubicBezTo>
                <a:cubicBezTo>
                  <a:pt x="2187580" y="1697874"/>
                  <a:pt x="1697874" y="2187580"/>
                  <a:pt x="1093790" y="2187580"/>
                </a:cubicBezTo>
                <a:cubicBezTo>
                  <a:pt x="489706" y="2187580"/>
                  <a:pt x="0" y="1697874"/>
                  <a:pt x="0" y="1093790"/>
                </a:cubicBezTo>
                <a:cubicBezTo>
                  <a:pt x="0" y="489706"/>
                  <a:pt x="489706" y="0"/>
                  <a:pt x="1093790" y="0"/>
                </a:cubicBezTo>
                <a:close/>
              </a:path>
            </a:pathLst>
          </a:custGeom>
        </p:spPr>
        <p:txBody>
          <a:bodyPr wrap="square">
            <a:noAutofit/>
          </a:bodyPr>
          <a:lstStyle/>
          <a:p>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斜纹 3"/>
          <p:cNvSpPr/>
          <p:nvPr userDrawn="1"/>
        </p:nvSpPr>
        <p:spPr>
          <a:xfrm>
            <a:off x="0" y="0"/>
            <a:ext cx="2068025" cy="1688841"/>
          </a:xfrm>
          <a:prstGeom prst="diagStrip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tags" Target="../tags/tag1.xml"/><Relationship Id="rId1" Type="http://schemas.openxmlformats.org/officeDocument/2006/relationships/image" Target="../media/image3.jpe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xml"/><Relationship Id="rId2" Type="http://schemas.openxmlformats.org/officeDocument/2006/relationships/tags" Target="../tags/tag2.xml"/><Relationship Id="rId1" Type="http://schemas.openxmlformats.org/officeDocument/2006/relationships/image" Target="../media/image3.jpe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xml"/><Relationship Id="rId2" Type="http://schemas.openxmlformats.org/officeDocument/2006/relationships/tags" Target="../tags/tag3.xml"/><Relationship Id="rId1" Type="http://schemas.openxmlformats.org/officeDocument/2006/relationships/image" Target="../media/image3.jpe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xml"/><Relationship Id="rId2" Type="http://schemas.openxmlformats.org/officeDocument/2006/relationships/tags" Target="../tags/tag4.xml"/><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xml"/><Relationship Id="rId2" Type="http://schemas.openxmlformats.org/officeDocument/2006/relationships/tags" Target="../tags/tag5.xml"/><Relationship Id="rId1" Type="http://schemas.openxmlformats.org/officeDocument/2006/relationships/image" Target="../media/image3.jpe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xml"/><Relationship Id="rId2" Type="http://schemas.openxmlformats.org/officeDocument/2006/relationships/tags" Target="../tags/tag6.xml"/><Relationship Id="rId1" Type="http://schemas.openxmlformats.org/officeDocument/2006/relationships/image" Target="../media/image3.jpe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xml"/><Relationship Id="rId2" Type="http://schemas.openxmlformats.org/officeDocument/2006/relationships/tags" Target="../tags/tag7.xml"/><Relationship Id="rId1" Type="http://schemas.openxmlformats.org/officeDocument/2006/relationships/image" Target="../media/image3.jpe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xml"/><Relationship Id="rId2" Type="http://schemas.openxmlformats.org/officeDocument/2006/relationships/tags" Target="../tags/tag8.xml"/><Relationship Id="rId1" Type="http://schemas.openxmlformats.org/officeDocument/2006/relationships/image" Target="../media/image3.jpe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xml"/><Relationship Id="rId2" Type="http://schemas.openxmlformats.org/officeDocument/2006/relationships/tags" Target="../tags/tag9.xml"/><Relationship Id="rId1" Type="http://schemas.openxmlformats.org/officeDocument/2006/relationships/image" Target="../media/image3.jpe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xml"/><Relationship Id="rId2" Type="http://schemas.openxmlformats.org/officeDocument/2006/relationships/tags" Target="../tags/tag10.xml"/><Relationship Id="rId1" Type="http://schemas.openxmlformats.org/officeDocument/2006/relationships/image" Target="../media/image3.jpe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xml"/><Relationship Id="rId2" Type="http://schemas.openxmlformats.org/officeDocument/2006/relationships/tags" Target="../tags/tag11.xml"/><Relationship Id="rId1" Type="http://schemas.openxmlformats.org/officeDocument/2006/relationships/image" Target="../media/image3.jpe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xml"/><Relationship Id="rId2" Type="http://schemas.openxmlformats.org/officeDocument/2006/relationships/tags" Target="../tags/tag12.xml"/><Relationship Id="rId1" Type="http://schemas.openxmlformats.org/officeDocument/2006/relationships/image" Target="../media/image3.jpe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1.xml"/><Relationship Id="rId2" Type="http://schemas.openxmlformats.org/officeDocument/2006/relationships/tags" Target="../tags/tag13.xml"/><Relationship Id="rId1" Type="http://schemas.openxmlformats.org/officeDocument/2006/relationships/image" Target="../media/image3.jpe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1.xml"/><Relationship Id="rId2" Type="http://schemas.openxmlformats.org/officeDocument/2006/relationships/tags" Target="../tags/tag14.xml"/><Relationship Id="rId1" Type="http://schemas.openxmlformats.org/officeDocument/2006/relationships/image" Target="../media/image3.jpe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1.xml"/><Relationship Id="rId2" Type="http://schemas.openxmlformats.org/officeDocument/2006/relationships/tags" Target="../tags/tag15.xml"/><Relationship Id="rId1" Type="http://schemas.openxmlformats.org/officeDocument/2006/relationships/image" Target="../media/image3.jpe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1.xml"/><Relationship Id="rId2" Type="http://schemas.openxmlformats.org/officeDocument/2006/relationships/tags" Target="../tags/tag16.xml"/><Relationship Id="rId1" Type="http://schemas.openxmlformats.org/officeDocument/2006/relationships/image" Target="../media/image3.jpe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1.xml"/><Relationship Id="rId2" Type="http://schemas.openxmlformats.org/officeDocument/2006/relationships/tags" Target="../tags/tag17.xml"/><Relationship Id="rId1" Type="http://schemas.openxmlformats.org/officeDocument/2006/relationships/image" Target="../media/image3.jpe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1.xml"/><Relationship Id="rId2" Type="http://schemas.openxmlformats.org/officeDocument/2006/relationships/tags" Target="../tags/tag18.xml"/><Relationship Id="rId1" Type="http://schemas.openxmlformats.org/officeDocument/2006/relationships/image" Target="../media/image3.jpe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1.xml"/><Relationship Id="rId2" Type="http://schemas.openxmlformats.org/officeDocument/2006/relationships/tags" Target="../tags/tag19.xml"/><Relationship Id="rId1" Type="http://schemas.openxmlformats.org/officeDocument/2006/relationships/image" Target="../media/image3.jpeg"/></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1.xml"/><Relationship Id="rId2" Type="http://schemas.openxmlformats.org/officeDocument/2006/relationships/tags" Target="../tags/tag20.xml"/><Relationship Id="rId1" Type="http://schemas.openxmlformats.org/officeDocument/2006/relationships/image" Target="../media/image3.jpeg"/></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1.xml"/><Relationship Id="rId2" Type="http://schemas.openxmlformats.org/officeDocument/2006/relationships/tags" Target="../tags/tag21.xml"/><Relationship Id="rId1" Type="http://schemas.openxmlformats.org/officeDocument/2006/relationships/image" Target="../media/image3.jpeg"/></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1.xml"/><Relationship Id="rId2" Type="http://schemas.openxmlformats.org/officeDocument/2006/relationships/tags" Target="../tags/tag22.xml"/><Relationship Id="rId1" Type="http://schemas.openxmlformats.org/officeDocument/2006/relationships/image" Target="../media/image3.jpeg"/></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1.xml"/><Relationship Id="rId2" Type="http://schemas.openxmlformats.org/officeDocument/2006/relationships/tags" Target="../tags/tag23.xml"/><Relationship Id="rId1" Type="http://schemas.openxmlformats.org/officeDocument/2006/relationships/image" Target="../media/image3.jpeg"/></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1.xml"/><Relationship Id="rId2" Type="http://schemas.openxmlformats.org/officeDocument/2006/relationships/tags" Target="../tags/tag24.xml"/><Relationship Id="rId1" Type="http://schemas.openxmlformats.org/officeDocument/2006/relationships/image" Target="../media/image3.jpeg"/></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1.xml"/><Relationship Id="rId2" Type="http://schemas.openxmlformats.org/officeDocument/2006/relationships/tags" Target="../tags/tag25.xml"/><Relationship Id="rId1" Type="http://schemas.openxmlformats.org/officeDocument/2006/relationships/image" Target="../media/image3.jpeg"/></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26.xml"/><Relationship Id="rId3" Type="http://schemas.openxmlformats.org/officeDocument/2006/relationships/slideLayout" Target="../slideLayouts/slideLayout1.xml"/><Relationship Id="rId2" Type="http://schemas.openxmlformats.org/officeDocument/2006/relationships/tags" Target="../tags/tag26.xml"/><Relationship Id="rId1" Type="http://schemas.openxmlformats.org/officeDocument/2006/relationships/image" Target="../media/image3.jpeg"/></Relationships>
</file>

<file path=ppt/slides/_rels/slide27.xml.rels><?xml version="1.0" encoding="UTF-8" standalone="yes"?>
<Relationships xmlns="http://schemas.openxmlformats.org/package/2006/relationships"><Relationship Id="rId4" Type="http://schemas.openxmlformats.org/officeDocument/2006/relationships/notesSlide" Target="../notesSlides/notesSlide27.xml"/><Relationship Id="rId3" Type="http://schemas.openxmlformats.org/officeDocument/2006/relationships/slideLayout" Target="../slideLayouts/slideLayout1.xml"/><Relationship Id="rId2" Type="http://schemas.openxmlformats.org/officeDocument/2006/relationships/tags" Target="../tags/tag27.xml"/><Relationship Id="rId1" Type="http://schemas.openxmlformats.org/officeDocument/2006/relationships/image" Target="../media/image3.jpeg"/></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28.xml"/><Relationship Id="rId3" Type="http://schemas.openxmlformats.org/officeDocument/2006/relationships/slideLayout" Target="../slideLayouts/slideLayout1.xml"/><Relationship Id="rId2" Type="http://schemas.openxmlformats.org/officeDocument/2006/relationships/tags" Target="../tags/tag28.xml"/><Relationship Id="rId1" Type="http://schemas.openxmlformats.org/officeDocument/2006/relationships/image" Target="../media/image3.jpeg"/></Relationships>
</file>

<file path=ppt/slides/_rels/slide29.xml.rels><?xml version="1.0" encoding="UTF-8" standalone="yes"?>
<Relationships xmlns="http://schemas.openxmlformats.org/package/2006/relationships"><Relationship Id="rId4" Type="http://schemas.openxmlformats.org/officeDocument/2006/relationships/notesSlide" Target="../notesSlides/notesSlide29.xml"/><Relationship Id="rId3" Type="http://schemas.openxmlformats.org/officeDocument/2006/relationships/slideLayout" Target="../slideLayouts/slideLayout1.xml"/><Relationship Id="rId2" Type="http://schemas.openxmlformats.org/officeDocument/2006/relationships/tags" Target="../tags/tag29.xml"/><Relationship Id="rId1" Type="http://schemas.openxmlformats.org/officeDocument/2006/relationships/image" Target="../media/image3.jpeg"/></Relationships>
</file>

<file path=ppt/slides/_rels/slide30.xml.rels><?xml version="1.0" encoding="UTF-8" standalone="yes"?>
<Relationships xmlns="http://schemas.openxmlformats.org/package/2006/relationships"><Relationship Id="rId4" Type="http://schemas.openxmlformats.org/officeDocument/2006/relationships/notesSlide" Target="../notesSlides/notesSlide30.xml"/><Relationship Id="rId3" Type="http://schemas.openxmlformats.org/officeDocument/2006/relationships/slideLayout" Target="../slideLayouts/slideLayout1.xml"/><Relationship Id="rId2" Type="http://schemas.openxmlformats.org/officeDocument/2006/relationships/tags" Target="../tags/tag30.xml"/><Relationship Id="rId1" Type="http://schemas.openxmlformats.org/officeDocument/2006/relationships/image" Target="../media/image3.jpeg"/></Relationships>
</file>

<file path=ppt/slides/_rels/slide31.xml.rels><?xml version="1.0" encoding="UTF-8" standalone="yes"?>
<Relationships xmlns="http://schemas.openxmlformats.org/package/2006/relationships"><Relationship Id="rId4" Type="http://schemas.openxmlformats.org/officeDocument/2006/relationships/notesSlide" Target="../notesSlides/notesSlide31.xml"/><Relationship Id="rId3" Type="http://schemas.openxmlformats.org/officeDocument/2006/relationships/slideLayout" Target="../slideLayouts/slideLayout1.xml"/><Relationship Id="rId2" Type="http://schemas.openxmlformats.org/officeDocument/2006/relationships/tags" Target="../tags/tag31.xml"/><Relationship Id="rId1" Type="http://schemas.openxmlformats.org/officeDocument/2006/relationships/image" Target="../media/image3.jpeg"/></Relationships>
</file>

<file path=ppt/slides/_rels/slide32.xml.rels><?xml version="1.0" encoding="UTF-8" standalone="yes"?>
<Relationships xmlns="http://schemas.openxmlformats.org/package/2006/relationships"><Relationship Id="rId4" Type="http://schemas.openxmlformats.org/officeDocument/2006/relationships/notesSlide" Target="../notesSlides/notesSlide32.xml"/><Relationship Id="rId3" Type="http://schemas.openxmlformats.org/officeDocument/2006/relationships/slideLayout" Target="../slideLayouts/slideLayout1.xml"/><Relationship Id="rId2" Type="http://schemas.openxmlformats.org/officeDocument/2006/relationships/tags" Target="../tags/tag32.xml"/><Relationship Id="rId1" Type="http://schemas.openxmlformats.org/officeDocument/2006/relationships/image" Target="../media/image3.jpeg"/></Relationships>
</file>

<file path=ppt/slides/_rels/slide33.xml.rels><?xml version="1.0" encoding="UTF-8" standalone="yes"?>
<Relationships xmlns="http://schemas.openxmlformats.org/package/2006/relationships"><Relationship Id="rId4" Type="http://schemas.openxmlformats.org/officeDocument/2006/relationships/notesSlide" Target="../notesSlides/notesSlide33.xml"/><Relationship Id="rId3" Type="http://schemas.openxmlformats.org/officeDocument/2006/relationships/slideLayout" Target="../slideLayouts/slideLayout1.xml"/><Relationship Id="rId2" Type="http://schemas.openxmlformats.org/officeDocument/2006/relationships/tags" Target="../tags/tag33.xml"/><Relationship Id="rId1" Type="http://schemas.openxmlformats.org/officeDocument/2006/relationships/image" Target="../media/image3.jpeg"/></Relationships>
</file>

<file path=ppt/slides/_rels/slide34.xml.rels><?xml version="1.0" encoding="UTF-8" standalone="yes"?>
<Relationships xmlns="http://schemas.openxmlformats.org/package/2006/relationships"><Relationship Id="rId4" Type="http://schemas.openxmlformats.org/officeDocument/2006/relationships/notesSlide" Target="../notesSlides/notesSlide34.xml"/><Relationship Id="rId3" Type="http://schemas.openxmlformats.org/officeDocument/2006/relationships/slideLayout" Target="../slideLayouts/slideLayout1.xml"/><Relationship Id="rId2" Type="http://schemas.openxmlformats.org/officeDocument/2006/relationships/tags" Target="../tags/tag34.xml"/><Relationship Id="rId1"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p:cNvSpPr txBox="1"/>
          <p:nvPr/>
        </p:nvSpPr>
        <p:spPr>
          <a:xfrm>
            <a:off x="602474" y="358140"/>
            <a:ext cx="2399030" cy="553085"/>
          </a:xfrm>
          <a:prstGeom prst="rect">
            <a:avLst/>
          </a:prstGeom>
          <a:noFill/>
        </p:spPr>
        <p:txBody>
          <a:bodyPr wrap="none" rtlCol="0">
            <a:spAutoFit/>
            <a:scene3d>
              <a:camera prst="orthographicFront"/>
              <a:lightRig rig="threePt" dir="t"/>
            </a:scene3d>
            <a:sp3d contourW="12700"/>
          </a:bodyPr>
          <a:lstStyle/>
          <a:p>
            <a:pPr algn="l"/>
            <a:r>
              <a:rPr lang="en-US" altLang="zh-CN" sz="3000" b="1" dirty="0">
                <a:solidFill>
                  <a:schemeClr val="accent2"/>
                </a:solidFill>
                <a:latin typeface="微软雅黑" panose="020B0503020204020204" pitchFamily="34" charset="-122"/>
                <a:ea typeface="微软雅黑" panose="020B0503020204020204" pitchFamily="34" charset="-122"/>
              </a:rPr>
              <a:t>4.1 </a:t>
            </a:r>
            <a:r>
              <a:rPr lang="zh-CN" altLang="en-US" sz="3000" b="1" dirty="0">
                <a:solidFill>
                  <a:schemeClr val="accent2"/>
                </a:solidFill>
                <a:latin typeface="微软雅黑" panose="020B0503020204020204" pitchFamily="34" charset="-122"/>
                <a:ea typeface="微软雅黑" panose="020B0503020204020204" pitchFamily="34" charset="-122"/>
              </a:rPr>
              <a:t>软件质量</a:t>
            </a:r>
            <a:endParaRPr lang="zh-CN" altLang="en-US" sz="3000" b="1" dirty="0">
              <a:solidFill>
                <a:schemeClr val="accent2"/>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667775" y="968635"/>
            <a:ext cx="10867390" cy="5438885"/>
            <a:chOff x="669290" y="1581150"/>
            <a:chExt cx="10867390" cy="5438885"/>
          </a:xfrm>
        </p:grpSpPr>
        <p:sp>
          <p:nvSpPr>
            <p:cNvPr id="4" name="矩形 3"/>
            <p:cNvSpPr/>
            <p:nvPr/>
          </p:nvSpPr>
          <p:spPr>
            <a:xfrm flipV="1">
              <a:off x="669290" y="1581150"/>
              <a:ext cx="5910580" cy="76200"/>
            </a:xfrm>
            <a:prstGeom prst="rect">
              <a:avLst/>
            </a:prstGeom>
            <a:ln>
              <a:solidFill>
                <a:srgbClr val="4B8E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p:cNvCxnSpPr/>
            <p:nvPr/>
          </p:nvCxnSpPr>
          <p:spPr>
            <a:xfrm>
              <a:off x="4500880" y="1584325"/>
              <a:ext cx="69786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669290" y="7020035"/>
              <a:ext cx="10867390" cy="0"/>
            </a:xfrm>
            <a:prstGeom prst="line">
              <a:avLst/>
            </a:prstGeom>
          </p:spPr>
          <p:style>
            <a:lnRef idx="1">
              <a:schemeClr val="accent1"/>
            </a:lnRef>
            <a:fillRef idx="0">
              <a:schemeClr val="accent1"/>
            </a:fillRef>
            <a:effectRef idx="0">
              <a:schemeClr val="accent1"/>
            </a:effectRef>
            <a:fontRef idx="minor">
              <a:schemeClr val="tx1"/>
            </a:fontRef>
          </p:style>
        </p:cxnSp>
      </p:grpSp>
      <p:pic>
        <p:nvPicPr>
          <p:cNvPr id="10" name="图片 9" descr="2021最新山大logo标准组合(1)(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9137239" y="218668"/>
            <a:ext cx="2691130" cy="690245"/>
          </a:xfrm>
          <a:prstGeom prst="rect">
            <a:avLst/>
          </a:prstGeom>
          <a:noFill/>
          <a:ln>
            <a:noFill/>
          </a:ln>
        </p:spPr>
      </p:pic>
      <p:sp>
        <p:nvSpPr>
          <p:cNvPr id="19" name="矩形 18"/>
          <p:cNvSpPr/>
          <p:nvPr>
            <p:custDataLst>
              <p:tags r:id="rId2"/>
            </p:custDataLst>
          </p:nvPr>
        </p:nvSpPr>
        <p:spPr>
          <a:xfrm>
            <a:off x="515620" y="1137920"/>
            <a:ext cx="11311890" cy="4192270"/>
          </a:xfrm>
          <a:prstGeom prst="rect">
            <a:avLst/>
          </a:prstGeom>
        </p:spPr>
        <p:txBody>
          <a:bodyPr wrap="square">
            <a:noAutofit/>
          </a:bodyPr>
          <a:lstStyle/>
          <a:p>
            <a:pPr marL="285750" indent="-285750">
              <a:lnSpc>
                <a:spcPct val="150000"/>
              </a:lnSpc>
              <a:spcBef>
                <a:spcPct val="20000"/>
              </a:spcBef>
              <a:buSzPct val="100000"/>
              <a:buFont typeface="Wingdings" panose="05000000000000000000" charset="0"/>
              <a:buChar char="u"/>
            </a:pPr>
            <a:r>
              <a:rPr lang="zh-CN" altLang="en-US" sz="2400" b="1" kern="100" dirty="0">
                <a:effectLst/>
                <a:latin typeface="微软雅黑" panose="020B0503020204020204" pitchFamily="34" charset="-122"/>
                <a:ea typeface="微软雅黑" panose="020B0503020204020204" pitchFamily="34" charset="-122"/>
                <a:cs typeface="微软雅黑" panose="020B0503020204020204" pitchFamily="34" charset="-122"/>
              </a:rPr>
              <a:t>软件质量</a:t>
            </a:r>
            <a:r>
              <a:rPr lang="zh-CN" altLang="en-US" sz="2400" kern="100" dirty="0">
                <a:effectLst/>
                <a:latin typeface="微软雅黑" panose="020B0503020204020204" pitchFamily="34" charset="-122"/>
                <a:ea typeface="微软雅黑" panose="020B0503020204020204" pitchFamily="34" charset="-122"/>
                <a:cs typeface="微软雅黑" panose="020B0503020204020204" pitchFamily="34" charset="-122"/>
                <a:sym typeface="+mn-ea"/>
              </a:rPr>
              <a:t>：软件质量是</a:t>
            </a:r>
            <a:r>
              <a:rPr lang="zh-CN" altLang="en-US" sz="2400" kern="100" dirty="0">
                <a:effectLst/>
                <a:latin typeface="微软雅黑" panose="020B0503020204020204" pitchFamily="34" charset="-122"/>
                <a:ea typeface="微软雅黑" panose="020B0503020204020204" pitchFamily="34" charset="-122"/>
                <a:cs typeface="微软雅黑" panose="020B0503020204020204" pitchFamily="34" charset="-122"/>
              </a:rPr>
              <a:t>衡量软件产品满足明确规定需求与用户潜在需求的综合标准，其理论基础可追溯至</a:t>
            </a:r>
            <a:r>
              <a:rPr lang="en-US" altLang="zh-CN" sz="2400" kern="100" dirty="0">
                <a:effectLst/>
                <a:latin typeface="微软雅黑" panose="020B0503020204020204" pitchFamily="34" charset="-122"/>
                <a:ea typeface="微软雅黑" panose="020B0503020204020204" pitchFamily="34" charset="-122"/>
                <a:cs typeface="微软雅黑" panose="020B0503020204020204" pitchFamily="34" charset="-122"/>
              </a:rPr>
              <a:t> 20 </a:t>
            </a:r>
            <a:r>
              <a:rPr lang="zh-CN" altLang="en-US" sz="2400" kern="100" dirty="0">
                <a:effectLst/>
                <a:latin typeface="微软雅黑" panose="020B0503020204020204" pitchFamily="34" charset="-122"/>
                <a:ea typeface="微软雅黑" panose="020B0503020204020204" pitchFamily="34" charset="-122"/>
                <a:cs typeface="微软雅黑" panose="020B0503020204020204" pitchFamily="34" charset="-122"/>
              </a:rPr>
              <a:t>世纪</a:t>
            </a:r>
            <a:r>
              <a:rPr lang="en-US" altLang="zh-CN" sz="2400" kern="100" dirty="0">
                <a:effectLst/>
                <a:latin typeface="微软雅黑" panose="020B0503020204020204" pitchFamily="34" charset="-122"/>
                <a:ea typeface="微软雅黑" panose="020B0503020204020204" pitchFamily="34" charset="-122"/>
                <a:cs typeface="微软雅黑" panose="020B0503020204020204" pitchFamily="34" charset="-122"/>
              </a:rPr>
              <a:t> 70 </a:t>
            </a:r>
            <a:r>
              <a:rPr lang="zh-CN" altLang="en-US" sz="2400" kern="100" dirty="0">
                <a:effectLst/>
                <a:latin typeface="微软雅黑" panose="020B0503020204020204" pitchFamily="34" charset="-122"/>
                <a:ea typeface="微软雅黑" panose="020B0503020204020204" pitchFamily="34" charset="-122"/>
                <a:cs typeface="微软雅黑" panose="020B0503020204020204" pitchFamily="34" charset="-122"/>
              </a:rPr>
              <a:t>年代的</a:t>
            </a:r>
            <a:r>
              <a:rPr lang="en-US" altLang="zh-CN" sz="2400" kern="100" dirty="0">
                <a:effectLst/>
                <a:latin typeface="微软雅黑" panose="020B0503020204020204" pitchFamily="34" charset="-122"/>
                <a:ea typeface="微软雅黑" panose="020B0503020204020204" pitchFamily="34" charset="-122"/>
                <a:cs typeface="微软雅黑" panose="020B0503020204020204" pitchFamily="34" charset="-122"/>
              </a:rPr>
              <a:t> McCall </a:t>
            </a:r>
            <a:r>
              <a:rPr lang="zh-CN" altLang="en-US" sz="2400" kern="100" dirty="0">
                <a:effectLst/>
                <a:latin typeface="微软雅黑" panose="020B0503020204020204" pitchFamily="34" charset="-122"/>
                <a:ea typeface="微软雅黑" panose="020B0503020204020204" pitchFamily="34" charset="-122"/>
                <a:cs typeface="微软雅黑" panose="020B0503020204020204" pitchFamily="34" charset="-122"/>
              </a:rPr>
              <a:t>和</a:t>
            </a:r>
            <a:r>
              <a:rPr lang="en-US" altLang="zh-CN" sz="2400" kern="100" dirty="0">
                <a:effectLst/>
                <a:latin typeface="微软雅黑" panose="020B0503020204020204" pitchFamily="34" charset="-122"/>
                <a:ea typeface="微软雅黑" panose="020B0503020204020204" pitchFamily="34" charset="-122"/>
                <a:cs typeface="微软雅黑" panose="020B0503020204020204" pitchFamily="34" charset="-122"/>
              </a:rPr>
              <a:t> Boehm </a:t>
            </a:r>
            <a:r>
              <a:rPr lang="zh-CN" altLang="en-US" sz="2400" kern="100" dirty="0">
                <a:effectLst/>
                <a:latin typeface="微软雅黑" panose="020B0503020204020204" pitchFamily="34" charset="-122"/>
                <a:ea typeface="微软雅黑" panose="020B0503020204020204" pitchFamily="34" charset="-122"/>
                <a:cs typeface="微软雅黑" panose="020B0503020204020204" pitchFamily="34" charset="-122"/>
              </a:rPr>
              <a:t>模型，经过</a:t>
            </a:r>
            <a:r>
              <a:rPr lang="en-US" altLang="zh-CN" sz="2400" kern="100" dirty="0">
                <a:effectLst/>
                <a:latin typeface="微软雅黑" panose="020B0503020204020204" pitchFamily="34" charset="-122"/>
                <a:ea typeface="微软雅黑" panose="020B0503020204020204" pitchFamily="34" charset="-122"/>
                <a:cs typeface="微软雅黑" panose="020B0503020204020204" pitchFamily="34" charset="-122"/>
              </a:rPr>
              <a:t> ISO/IEC 9126 </a:t>
            </a:r>
            <a:r>
              <a:rPr lang="zh-CN" altLang="en-US" sz="2400" kern="100" dirty="0">
                <a:effectLst/>
                <a:latin typeface="微软雅黑" panose="020B0503020204020204" pitchFamily="34" charset="-122"/>
                <a:ea typeface="微软雅黑" panose="020B0503020204020204" pitchFamily="34" charset="-122"/>
                <a:cs typeface="微软雅黑" panose="020B0503020204020204" pitchFamily="34" charset="-122"/>
              </a:rPr>
              <a:t>标准的系统化发展，最终演化为当前的</a:t>
            </a:r>
            <a:r>
              <a:rPr lang="en-US" altLang="zh-CN" sz="2400" kern="100" dirty="0">
                <a:effectLst/>
                <a:latin typeface="微软雅黑" panose="020B0503020204020204" pitchFamily="34" charset="-122"/>
                <a:ea typeface="微软雅黑" panose="020B0503020204020204" pitchFamily="34" charset="-122"/>
                <a:cs typeface="微软雅黑" panose="020B0503020204020204" pitchFamily="34" charset="-122"/>
              </a:rPr>
              <a:t> ISO/IEC 25010 </a:t>
            </a:r>
            <a:r>
              <a:rPr lang="zh-CN" altLang="en-US" sz="2400" kern="100" dirty="0">
                <a:effectLst/>
                <a:latin typeface="微软雅黑" panose="020B0503020204020204" pitchFamily="34" charset="-122"/>
                <a:ea typeface="微软雅黑" panose="020B0503020204020204" pitchFamily="34" charset="-122"/>
                <a:cs typeface="微软雅黑" panose="020B0503020204020204" pitchFamily="34" charset="-122"/>
              </a:rPr>
              <a:t>质量体系。</a:t>
            </a:r>
            <a:endParaRPr lang="zh-CN" altLang="en-US" sz="2400" kern="100" dirty="0">
              <a:effectLst/>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spcBef>
                <a:spcPct val="20000"/>
              </a:spcBef>
              <a:buSzPct val="100000"/>
              <a:buFont typeface="Wingdings" panose="05000000000000000000" charset="0"/>
              <a:buChar char="u"/>
            </a:pPr>
            <a:endParaRPr lang="zh-CN" altLang="en-US" sz="2400" kern="100" dirty="0">
              <a:effectLst/>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spcBef>
                <a:spcPct val="20000"/>
              </a:spcBef>
              <a:buSzPct val="100000"/>
              <a:buFont typeface="Wingdings" panose="05000000000000000000" charset="0"/>
              <a:buChar char="u"/>
            </a:pPr>
            <a:r>
              <a:rPr lang="zh-CN" altLang="en-US" sz="2400" b="1" kern="100" dirty="0">
                <a:effectLst/>
                <a:latin typeface="微软雅黑" panose="020B0503020204020204" pitchFamily="34" charset="-122"/>
                <a:ea typeface="微软雅黑" panose="020B0503020204020204" pitchFamily="34" charset="-122"/>
                <a:cs typeface="微软雅黑" panose="020B0503020204020204" pitchFamily="34" charset="-122"/>
              </a:rPr>
              <a:t>核心结论</a:t>
            </a:r>
            <a:r>
              <a:rPr lang="zh-CN" altLang="en-US" sz="2400" kern="100" dirty="0">
                <a:effectLst/>
                <a:latin typeface="微软雅黑" panose="020B0503020204020204" pitchFamily="34" charset="-122"/>
                <a:ea typeface="微软雅黑" panose="020B0503020204020204" pitchFamily="34" charset="-122"/>
                <a:cs typeface="微软雅黑" panose="020B0503020204020204" pitchFamily="34" charset="-122"/>
              </a:rPr>
              <a:t>：软件质量是软件产品满足明确规定需求与用户潜在需求的全部特性总和，是衡量软件</a:t>
            </a:r>
            <a:r>
              <a:rPr lang="en-US" altLang="zh-CN" sz="2400" kern="100" dirty="0">
                <a:effectLst/>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kern="100" dirty="0">
                <a:effectLst/>
                <a:latin typeface="微软雅黑" panose="020B0503020204020204" pitchFamily="34" charset="-122"/>
                <a:ea typeface="微软雅黑" panose="020B0503020204020204" pitchFamily="34" charset="-122"/>
                <a:cs typeface="微软雅黑" panose="020B0503020204020204" pitchFamily="34" charset="-122"/>
              </a:rPr>
              <a:t>好用、能用、耐用</a:t>
            </a:r>
            <a:r>
              <a:rPr lang="en-US" altLang="zh-CN" sz="2400" kern="100" dirty="0">
                <a:effectLst/>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kern="100" dirty="0">
                <a:effectLst/>
                <a:latin typeface="微软雅黑" panose="020B0503020204020204" pitchFamily="34" charset="-122"/>
                <a:ea typeface="微软雅黑" panose="020B0503020204020204" pitchFamily="34" charset="-122"/>
                <a:cs typeface="微软雅黑" panose="020B0503020204020204" pitchFamily="34" charset="-122"/>
              </a:rPr>
              <a:t>的综合标准。</a:t>
            </a:r>
            <a:endParaRPr lang="zh-CN" altLang="en-US" sz="2400" kern="100" dirty="0">
              <a:effectLst/>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p:cNvSpPr txBox="1"/>
          <p:nvPr/>
        </p:nvSpPr>
        <p:spPr>
          <a:xfrm>
            <a:off x="602474" y="358140"/>
            <a:ext cx="2399030" cy="553085"/>
          </a:xfrm>
          <a:prstGeom prst="rect">
            <a:avLst/>
          </a:prstGeom>
          <a:noFill/>
        </p:spPr>
        <p:txBody>
          <a:bodyPr wrap="none" rtlCol="0">
            <a:spAutoFit/>
            <a:scene3d>
              <a:camera prst="orthographicFront"/>
              <a:lightRig rig="threePt" dir="t"/>
            </a:scene3d>
            <a:sp3d contourW="12700"/>
          </a:bodyPr>
          <a:lstStyle/>
          <a:p>
            <a:pPr algn="l"/>
            <a:r>
              <a:rPr lang="en-US" altLang="zh-CN" sz="3000" b="1" dirty="0">
                <a:solidFill>
                  <a:schemeClr val="accent2"/>
                </a:solidFill>
                <a:latin typeface="微软雅黑" panose="020B0503020204020204" pitchFamily="34" charset="-122"/>
                <a:ea typeface="微软雅黑" panose="020B0503020204020204" pitchFamily="34" charset="-122"/>
              </a:rPr>
              <a:t>4.1 </a:t>
            </a:r>
            <a:r>
              <a:rPr lang="zh-CN" altLang="en-US" sz="3000" b="1" dirty="0">
                <a:solidFill>
                  <a:schemeClr val="accent2"/>
                </a:solidFill>
                <a:latin typeface="微软雅黑" panose="020B0503020204020204" pitchFamily="34" charset="-122"/>
                <a:ea typeface="微软雅黑" panose="020B0503020204020204" pitchFamily="34" charset="-122"/>
              </a:rPr>
              <a:t>软件质量</a:t>
            </a:r>
            <a:endParaRPr lang="zh-CN" altLang="en-US" sz="3000" b="1" dirty="0">
              <a:solidFill>
                <a:schemeClr val="accent2"/>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667775" y="968635"/>
            <a:ext cx="10867390" cy="5438885"/>
            <a:chOff x="669290" y="1581150"/>
            <a:chExt cx="10867390" cy="5438885"/>
          </a:xfrm>
        </p:grpSpPr>
        <p:sp>
          <p:nvSpPr>
            <p:cNvPr id="4" name="矩形 3"/>
            <p:cNvSpPr/>
            <p:nvPr/>
          </p:nvSpPr>
          <p:spPr>
            <a:xfrm flipV="1">
              <a:off x="669290" y="1581150"/>
              <a:ext cx="5910580" cy="76200"/>
            </a:xfrm>
            <a:prstGeom prst="rect">
              <a:avLst/>
            </a:prstGeom>
            <a:ln>
              <a:solidFill>
                <a:srgbClr val="4B8E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p:cNvCxnSpPr/>
            <p:nvPr/>
          </p:nvCxnSpPr>
          <p:spPr>
            <a:xfrm>
              <a:off x="4500880" y="1584325"/>
              <a:ext cx="69786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669290" y="7020035"/>
              <a:ext cx="10867390" cy="0"/>
            </a:xfrm>
            <a:prstGeom prst="line">
              <a:avLst/>
            </a:prstGeom>
          </p:spPr>
          <p:style>
            <a:lnRef idx="1">
              <a:schemeClr val="accent1"/>
            </a:lnRef>
            <a:fillRef idx="0">
              <a:schemeClr val="accent1"/>
            </a:fillRef>
            <a:effectRef idx="0">
              <a:schemeClr val="accent1"/>
            </a:effectRef>
            <a:fontRef idx="minor">
              <a:schemeClr val="tx1"/>
            </a:fontRef>
          </p:style>
        </p:cxnSp>
      </p:grpSp>
      <p:pic>
        <p:nvPicPr>
          <p:cNvPr id="10" name="图片 9" descr="2021最新山大logo标准组合(1)(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9137239" y="218668"/>
            <a:ext cx="2691130" cy="690245"/>
          </a:xfrm>
          <a:prstGeom prst="rect">
            <a:avLst/>
          </a:prstGeom>
          <a:noFill/>
          <a:ln>
            <a:noFill/>
          </a:ln>
        </p:spPr>
      </p:pic>
      <p:sp>
        <p:nvSpPr>
          <p:cNvPr id="19" name="矩形 18"/>
          <p:cNvSpPr/>
          <p:nvPr>
            <p:custDataLst>
              <p:tags r:id="rId2"/>
            </p:custDataLst>
          </p:nvPr>
        </p:nvSpPr>
        <p:spPr>
          <a:xfrm>
            <a:off x="515620" y="1137920"/>
            <a:ext cx="11311890" cy="4192270"/>
          </a:xfrm>
          <a:prstGeom prst="rect">
            <a:avLst/>
          </a:prstGeom>
        </p:spPr>
        <p:txBody>
          <a:bodyPr wrap="square">
            <a:noAutofit/>
          </a:bodyPr>
          <a:lstStyle/>
          <a:p>
            <a:pPr marL="285750" indent="-285750">
              <a:lnSpc>
                <a:spcPct val="150000"/>
              </a:lnSpc>
              <a:spcBef>
                <a:spcPct val="20000"/>
              </a:spcBef>
              <a:buSzPct val="100000"/>
              <a:buFont typeface="Wingdings" panose="05000000000000000000" charset="0"/>
              <a:buChar char="u"/>
            </a:pPr>
            <a:r>
              <a:rPr lang="zh-CN" altLang="en-US" sz="2400" kern="100" dirty="0">
                <a:effectLst/>
                <a:latin typeface="微软雅黑" panose="020B0503020204020204" pitchFamily="34" charset="-122"/>
                <a:ea typeface="微软雅黑" panose="020B0503020204020204" pitchFamily="34" charset="-122"/>
                <a:cs typeface="微软雅黑" panose="020B0503020204020204" pitchFamily="34" charset="-122"/>
              </a:rPr>
              <a:t>软件质量作为软件工程领域的核心概念，直接关系到软件产品的市场竞争力和用户满意度。随着信息技术的快速发展，软件产品的复杂性日益增长，用户需求也呈现出多样化特征，这对软件质量提出了更高要求。传统的</a:t>
            </a:r>
            <a:r>
              <a:rPr lang="en-US" altLang="zh-CN" sz="2400" kern="100" dirty="0">
                <a:effectLst/>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kern="100" dirty="0">
                <a:effectLst/>
                <a:latin typeface="微软雅黑" panose="020B0503020204020204" pitchFamily="34" charset="-122"/>
                <a:ea typeface="微软雅黑" panose="020B0503020204020204" pitchFamily="34" charset="-122"/>
                <a:cs typeface="微软雅黑" panose="020B0503020204020204" pitchFamily="34" charset="-122"/>
              </a:rPr>
              <a:t>无</a:t>
            </a:r>
            <a:r>
              <a:rPr lang="en-US" altLang="zh-CN" sz="2400" kern="100" dirty="0">
                <a:effectLst/>
                <a:latin typeface="微软雅黑" panose="020B0503020204020204" pitchFamily="34" charset="-122"/>
                <a:ea typeface="微软雅黑" panose="020B0503020204020204" pitchFamily="34" charset="-122"/>
                <a:cs typeface="微软雅黑" panose="020B0503020204020204" pitchFamily="34" charset="-122"/>
              </a:rPr>
              <a:t> bug" </a:t>
            </a:r>
            <a:r>
              <a:rPr lang="zh-CN" altLang="en-US" sz="2400" kern="100" dirty="0">
                <a:effectLst/>
                <a:latin typeface="微软雅黑" panose="020B0503020204020204" pitchFamily="34" charset="-122"/>
                <a:ea typeface="微软雅黑" panose="020B0503020204020204" pitchFamily="34" charset="-122"/>
                <a:cs typeface="微软雅黑" panose="020B0503020204020204" pitchFamily="34" charset="-122"/>
              </a:rPr>
              <a:t>观念已无法满足现代软件的质量需求，需要建立更加全面、系统的质量评估体系。</a:t>
            </a:r>
            <a:endParaRPr lang="zh-CN" altLang="en-US" sz="2400" kern="100" dirty="0">
              <a:effectLst/>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p:cNvSpPr txBox="1"/>
          <p:nvPr/>
        </p:nvSpPr>
        <p:spPr>
          <a:xfrm>
            <a:off x="602474" y="358140"/>
            <a:ext cx="2399030" cy="553085"/>
          </a:xfrm>
          <a:prstGeom prst="rect">
            <a:avLst/>
          </a:prstGeom>
          <a:noFill/>
        </p:spPr>
        <p:txBody>
          <a:bodyPr wrap="none" rtlCol="0">
            <a:spAutoFit/>
            <a:scene3d>
              <a:camera prst="orthographicFront"/>
              <a:lightRig rig="threePt" dir="t"/>
            </a:scene3d>
            <a:sp3d contourW="12700"/>
          </a:bodyPr>
          <a:lstStyle/>
          <a:p>
            <a:pPr algn="l"/>
            <a:r>
              <a:rPr lang="en-US" altLang="zh-CN" sz="3000" b="1" dirty="0">
                <a:solidFill>
                  <a:schemeClr val="accent2"/>
                </a:solidFill>
                <a:latin typeface="微软雅黑" panose="020B0503020204020204" pitchFamily="34" charset="-122"/>
                <a:ea typeface="微软雅黑" panose="020B0503020204020204" pitchFamily="34" charset="-122"/>
              </a:rPr>
              <a:t>4.1 </a:t>
            </a:r>
            <a:r>
              <a:rPr lang="zh-CN" altLang="en-US" sz="3000" b="1" dirty="0">
                <a:solidFill>
                  <a:schemeClr val="accent2"/>
                </a:solidFill>
                <a:latin typeface="微软雅黑" panose="020B0503020204020204" pitchFamily="34" charset="-122"/>
                <a:ea typeface="微软雅黑" panose="020B0503020204020204" pitchFamily="34" charset="-122"/>
              </a:rPr>
              <a:t>软件质量</a:t>
            </a:r>
            <a:endParaRPr lang="zh-CN" altLang="en-US" sz="3000" b="1" dirty="0">
              <a:solidFill>
                <a:schemeClr val="accent2"/>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667775" y="968635"/>
            <a:ext cx="10867390" cy="5438885"/>
            <a:chOff x="669290" y="1581150"/>
            <a:chExt cx="10867390" cy="5438885"/>
          </a:xfrm>
        </p:grpSpPr>
        <p:sp>
          <p:nvSpPr>
            <p:cNvPr id="4" name="矩形 3"/>
            <p:cNvSpPr/>
            <p:nvPr/>
          </p:nvSpPr>
          <p:spPr>
            <a:xfrm flipV="1">
              <a:off x="669290" y="1581150"/>
              <a:ext cx="5910580" cy="76200"/>
            </a:xfrm>
            <a:prstGeom prst="rect">
              <a:avLst/>
            </a:prstGeom>
            <a:ln>
              <a:solidFill>
                <a:srgbClr val="4B8E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p:cNvCxnSpPr/>
            <p:nvPr/>
          </p:nvCxnSpPr>
          <p:spPr>
            <a:xfrm>
              <a:off x="4500880" y="1584325"/>
              <a:ext cx="69786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669290" y="7020035"/>
              <a:ext cx="10867390" cy="0"/>
            </a:xfrm>
            <a:prstGeom prst="line">
              <a:avLst/>
            </a:prstGeom>
          </p:spPr>
          <p:style>
            <a:lnRef idx="1">
              <a:schemeClr val="accent1"/>
            </a:lnRef>
            <a:fillRef idx="0">
              <a:schemeClr val="accent1"/>
            </a:fillRef>
            <a:effectRef idx="0">
              <a:schemeClr val="accent1"/>
            </a:effectRef>
            <a:fontRef idx="minor">
              <a:schemeClr val="tx1"/>
            </a:fontRef>
          </p:style>
        </p:cxnSp>
      </p:grpSp>
      <p:pic>
        <p:nvPicPr>
          <p:cNvPr id="10" name="图片 9" descr="2021最新山大logo标准组合(1)(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9137239" y="218668"/>
            <a:ext cx="2691130" cy="690245"/>
          </a:xfrm>
          <a:prstGeom prst="rect">
            <a:avLst/>
          </a:prstGeom>
          <a:noFill/>
          <a:ln>
            <a:noFill/>
          </a:ln>
        </p:spPr>
      </p:pic>
      <p:sp>
        <p:nvSpPr>
          <p:cNvPr id="19" name="矩形 18"/>
          <p:cNvSpPr/>
          <p:nvPr>
            <p:custDataLst>
              <p:tags r:id="rId2"/>
            </p:custDataLst>
          </p:nvPr>
        </p:nvSpPr>
        <p:spPr>
          <a:xfrm>
            <a:off x="515620" y="1137920"/>
            <a:ext cx="11311890" cy="4192270"/>
          </a:xfrm>
          <a:prstGeom prst="rect">
            <a:avLst/>
          </a:prstGeom>
        </p:spPr>
        <p:txBody>
          <a:bodyPr wrap="square">
            <a:noAutofit/>
          </a:bodyPr>
          <a:lstStyle/>
          <a:p>
            <a:pPr marL="342900" indent="-342900">
              <a:lnSpc>
                <a:spcPct val="150000"/>
              </a:lnSpc>
              <a:spcBef>
                <a:spcPct val="20000"/>
              </a:spcBef>
              <a:buSzPct val="100000"/>
              <a:buFont typeface="Wingdings" panose="05000000000000000000" charset="0"/>
              <a:buChar char="l"/>
            </a:pPr>
            <a:r>
              <a:rPr lang="zh-CN" altLang="en-US" sz="2400" kern="100" dirty="0">
                <a:effectLst/>
                <a:latin typeface="微软雅黑" panose="020B0503020204020204" pitchFamily="34" charset="-122"/>
                <a:ea typeface="微软雅黑" panose="020B0503020204020204" pitchFamily="34" charset="-122"/>
                <a:cs typeface="微软雅黑" panose="020B0503020204020204" pitchFamily="34" charset="-122"/>
              </a:rPr>
              <a:t>软件质量概念的演进过程体现了三个重要特征：</a:t>
            </a:r>
            <a:endParaRPr lang="zh-CN" altLang="en-US" sz="2400" kern="100" dirty="0">
              <a:effectLst/>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spcBef>
                <a:spcPct val="20000"/>
              </a:spcBef>
              <a:buSzPct val="100000"/>
              <a:buFont typeface="Wingdings" panose="05000000000000000000" charset="0"/>
              <a:buChar char="u"/>
            </a:pPr>
            <a:r>
              <a:rPr lang="zh-CN" altLang="en-US" sz="2000" b="1" kern="100" dirty="0">
                <a:effectLst/>
                <a:latin typeface="微软雅黑" panose="020B0503020204020204" pitchFamily="34" charset="-122"/>
                <a:ea typeface="微软雅黑" panose="020B0503020204020204" pitchFamily="34" charset="-122"/>
                <a:cs typeface="微软雅黑" panose="020B0503020204020204" pitchFamily="34" charset="-122"/>
              </a:rPr>
              <a:t>从单一维度到多维度评估</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。早期的质量评估主要关注功能正确性，而现代质量模型涵盖了功能性、可靠性、易用性、效率、可维护性和可移植性等多个维度。这种多维度评估体系能够更全面地反映软件产品的综合质量水平。</a:t>
            </a:r>
            <a:endPar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spcBef>
                <a:spcPct val="20000"/>
              </a:spcBef>
              <a:buSzPct val="100000"/>
              <a:buFont typeface="Wingdings" panose="05000000000000000000" charset="0"/>
              <a:buChar char="u"/>
            </a:pPr>
            <a:r>
              <a:rPr lang="zh-CN" altLang="en-US" sz="2000" b="1" kern="100" dirty="0">
                <a:effectLst/>
                <a:latin typeface="微软雅黑" panose="020B0503020204020204" pitchFamily="34" charset="-122"/>
                <a:ea typeface="微软雅黑" panose="020B0503020204020204" pitchFamily="34" charset="-122"/>
                <a:cs typeface="微软雅黑" panose="020B0503020204020204" pitchFamily="34" charset="-122"/>
              </a:rPr>
              <a:t>从技术导向到用户导向转变</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。传统的质量观念主要从技术角度出发，关注代码规范、算法效率等技术指标。现代质量理念则更加强调用户体验，将易用性、满意度等用户感知因素纳入质量评估体系。</a:t>
            </a:r>
            <a:endPar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spcBef>
                <a:spcPct val="20000"/>
              </a:spcBef>
              <a:buSzPct val="100000"/>
              <a:buFont typeface="Wingdings" panose="05000000000000000000" charset="0"/>
              <a:buChar char="u"/>
            </a:pPr>
            <a:r>
              <a:rPr lang="zh-CN" altLang="en-US" sz="2000" b="1" kern="100" dirty="0">
                <a:effectLst/>
                <a:latin typeface="微软雅黑" panose="020B0503020204020204" pitchFamily="34" charset="-122"/>
                <a:ea typeface="微软雅黑" panose="020B0503020204020204" pitchFamily="34" charset="-122"/>
                <a:cs typeface="微软雅黑" panose="020B0503020204020204" pitchFamily="34" charset="-122"/>
              </a:rPr>
              <a:t>从静态评估到动态演进</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。早期的质量评估往往在软件交付后进行，属于静态评估。现代质量理念则强调全生命周期的质量管控，将质量保证贯穿于需求分析、设计、开发、测试、部署和维护的全过程。</a:t>
            </a:r>
            <a:endPar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p:cNvSpPr txBox="1"/>
          <p:nvPr/>
        </p:nvSpPr>
        <p:spPr>
          <a:xfrm>
            <a:off x="602474" y="358140"/>
            <a:ext cx="2399030" cy="553085"/>
          </a:xfrm>
          <a:prstGeom prst="rect">
            <a:avLst/>
          </a:prstGeom>
          <a:noFill/>
        </p:spPr>
        <p:txBody>
          <a:bodyPr wrap="none" rtlCol="0">
            <a:spAutoFit/>
            <a:scene3d>
              <a:camera prst="orthographicFront"/>
              <a:lightRig rig="threePt" dir="t"/>
            </a:scene3d>
            <a:sp3d contourW="12700"/>
          </a:bodyPr>
          <a:lstStyle/>
          <a:p>
            <a:pPr algn="l"/>
            <a:r>
              <a:rPr lang="en-US" altLang="zh-CN" sz="3000" b="1" dirty="0">
                <a:solidFill>
                  <a:schemeClr val="accent2"/>
                </a:solidFill>
                <a:latin typeface="微软雅黑" panose="020B0503020204020204" pitchFamily="34" charset="-122"/>
                <a:ea typeface="微软雅黑" panose="020B0503020204020204" pitchFamily="34" charset="-122"/>
              </a:rPr>
              <a:t>4.1 </a:t>
            </a:r>
            <a:r>
              <a:rPr lang="zh-CN" altLang="en-US" sz="3000" b="1" dirty="0">
                <a:solidFill>
                  <a:schemeClr val="accent2"/>
                </a:solidFill>
                <a:latin typeface="微软雅黑" panose="020B0503020204020204" pitchFamily="34" charset="-122"/>
                <a:ea typeface="微软雅黑" panose="020B0503020204020204" pitchFamily="34" charset="-122"/>
              </a:rPr>
              <a:t>软件质量</a:t>
            </a:r>
            <a:endParaRPr lang="zh-CN" altLang="en-US" sz="3000" b="1" dirty="0">
              <a:solidFill>
                <a:schemeClr val="accent2"/>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667775" y="968635"/>
            <a:ext cx="10867390" cy="5438885"/>
            <a:chOff x="669290" y="1581150"/>
            <a:chExt cx="10867390" cy="5438885"/>
          </a:xfrm>
        </p:grpSpPr>
        <p:sp>
          <p:nvSpPr>
            <p:cNvPr id="4" name="矩形 3"/>
            <p:cNvSpPr/>
            <p:nvPr/>
          </p:nvSpPr>
          <p:spPr>
            <a:xfrm flipV="1">
              <a:off x="669290" y="1581150"/>
              <a:ext cx="5910580" cy="76200"/>
            </a:xfrm>
            <a:prstGeom prst="rect">
              <a:avLst/>
            </a:prstGeom>
            <a:ln>
              <a:solidFill>
                <a:srgbClr val="4B8E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p:cNvCxnSpPr/>
            <p:nvPr/>
          </p:nvCxnSpPr>
          <p:spPr>
            <a:xfrm>
              <a:off x="4500880" y="1584325"/>
              <a:ext cx="69786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669290" y="7020035"/>
              <a:ext cx="10867390" cy="0"/>
            </a:xfrm>
            <a:prstGeom prst="line">
              <a:avLst/>
            </a:prstGeom>
          </p:spPr>
          <p:style>
            <a:lnRef idx="1">
              <a:schemeClr val="accent1"/>
            </a:lnRef>
            <a:fillRef idx="0">
              <a:schemeClr val="accent1"/>
            </a:fillRef>
            <a:effectRef idx="0">
              <a:schemeClr val="accent1"/>
            </a:effectRef>
            <a:fontRef idx="minor">
              <a:schemeClr val="tx1"/>
            </a:fontRef>
          </p:style>
        </p:cxnSp>
      </p:grpSp>
      <p:pic>
        <p:nvPicPr>
          <p:cNvPr id="10" name="图片 9" descr="2021最新山大logo标准组合(1)(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9137239" y="218668"/>
            <a:ext cx="2691130" cy="690245"/>
          </a:xfrm>
          <a:prstGeom prst="rect">
            <a:avLst/>
          </a:prstGeom>
          <a:noFill/>
          <a:ln>
            <a:noFill/>
          </a:ln>
        </p:spPr>
      </p:pic>
      <p:sp>
        <p:nvSpPr>
          <p:cNvPr id="19" name="矩形 18"/>
          <p:cNvSpPr/>
          <p:nvPr>
            <p:custDataLst>
              <p:tags r:id="rId2"/>
            </p:custDataLst>
          </p:nvPr>
        </p:nvSpPr>
        <p:spPr>
          <a:xfrm>
            <a:off x="515620" y="1137920"/>
            <a:ext cx="11311890" cy="4192270"/>
          </a:xfrm>
          <a:prstGeom prst="rect">
            <a:avLst/>
          </a:prstGeom>
        </p:spPr>
        <p:txBody>
          <a:bodyPr wrap="square">
            <a:noAutofit/>
          </a:bodyPr>
          <a:lstStyle/>
          <a:p>
            <a:pPr marL="342900" indent="-342900">
              <a:lnSpc>
                <a:spcPct val="150000"/>
              </a:lnSpc>
              <a:spcBef>
                <a:spcPct val="20000"/>
              </a:spcBef>
              <a:buSzPct val="100000"/>
              <a:buFont typeface="Wingdings" panose="05000000000000000000" charset="0"/>
              <a:buChar char="l"/>
            </a:pPr>
            <a:r>
              <a:rPr lang="en-US" altLang="zh-CN" sz="2400" b="1" kern="100" dirty="0">
                <a:effectLst/>
                <a:latin typeface="微软雅黑" panose="020B0503020204020204" pitchFamily="34" charset="-122"/>
                <a:ea typeface="微软雅黑" panose="020B0503020204020204" pitchFamily="34" charset="-122"/>
                <a:cs typeface="微软雅黑" panose="020B0503020204020204" pitchFamily="34" charset="-122"/>
              </a:rPr>
              <a:t>ISO/IEC 9126 </a:t>
            </a:r>
            <a:r>
              <a:rPr lang="zh-CN" altLang="en-US" sz="2400" b="1" kern="100" dirty="0">
                <a:effectLst/>
                <a:latin typeface="微软雅黑" panose="020B0503020204020204" pitchFamily="34" charset="-122"/>
                <a:ea typeface="微软雅黑" panose="020B0503020204020204" pitchFamily="34" charset="-122"/>
                <a:cs typeface="微软雅黑" panose="020B0503020204020204" pitchFamily="34" charset="-122"/>
              </a:rPr>
              <a:t>质量模型</a:t>
            </a:r>
            <a:r>
              <a:rPr lang="zh-CN" altLang="en-US" sz="2400" kern="100" dirty="0">
                <a:effectLst/>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400" kern="100" dirty="0">
                <a:effectLst/>
                <a:latin typeface="微软雅黑" panose="020B0503020204020204" pitchFamily="34" charset="-122"/>
                <a:ea typeface="微软雅黑" panose="020B0503020204020204" pitchFamily="34" charset="-122"/>
                <a:cs typeface="微软雅黑" panose="020B0503020204020204" pitchFamily="34" charset="-122"/>
              </a:rPr>
              <a:t>ISO/IEC 9126 </a:t>
            </a:r>
            <a:r>
              <a:rPr lang="zh-CN" altLang="en-US" sz="2400" kern="100" dirty="0">
                <a:effectLst/>
                <a:latin typeface="微软雅黑" panose="020B0503020204020204" pitchFamily="34" charset="-122"/>
                <a:ea typeface="微软雅黑" panose="020B0503020204020204" pitchFamily="34" charset="-122"/>
                <a:cs typeface="微软雅黑" panose="020B0503020204020204" pitchFamily="34" charset="-122"/>
              </a:rPr>
              <a:t>标准采用四层结构体系，形成了从抽象概念到具体度量的完整框架。该标准分为四个主要部分，每个部分承担特定的功能：</a:t>
            </a:r>
            <a:endParaRPr lang="zh-CN" altLang="en-US" sz="2400" kern="100" dirty="0">
              <a:effectLst/>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spcBef>
                <a:spcPct val="20000"/>
              </a:spcBef>
              <a:buSzPct val="100000"/>
              <a:buFont typeface="Wingdings" panose="05000000000000000000" charset="0"/>
              <a:buChar char="u"/>
            </a:pPr>
            <a:r>
              <a:rPr lang="en-US" altLang="zh-CN" sz="2000" b="1" kern="100" dirty="0">
                <a:effectLst/>
                <a:latin typeface="微软雅黑" panose="020B0503020204020204" pitchFamily="34" charset="-122"/>
                <a:ea typeface="微软雅黑" panose="020B0503020204020204" pitchFamily="34" charset="-122"/>
                <a:cs typeface="微软雅黑" panose="020B0503020204020204" pitchFamily="34" charset="-122"/>
              </a:rPr>
              <a:t>Part 1 - </a:t>
            </a:r>
            <a:r>
              <a:rPr lang="zh-CN" altLang="en-US" sz="2000" b="1" kern="100" dirty="0">
                <a:effectLst/>
                <a:latin typeface="微软雅黑" panose="020B0503020204020204" pitchFamily="34" charset="-122"/>
                <a:ea typeface="微软雅黑" panose="020B0503020204020204" pitchFamily="34" charset="-122"/>
                <a:cs typeface="微软雅黑" panose="020B0503020204020204" pitchFamily="34" charset="-122"/>
              </a:rPr>
              <a:t>质量模型（</a:t>
            </a:r>
            <a:r>
              <a:rPr lang="en-US" altLang="zh-CN" sz="2000" b="1" kern="100" dirty="0">
                <a:effectLst/>
                <a:latin typeface="微软雅黑" panose="020B0503020204020204" pitchFamily="34" charset="-122"/>
                <a:ea typeface="微软雅黑" panose="020B0503020204020204" pitchFamily="34" charset="-122"/>
                <a:cs typeface="微软雅黑" panose="020B0503020204020204" pitchFamily="34" charset="-122"/>
              </a:rPr>
              <a:t>Quality Model</a:t>
            </a:r>
            <a:r>
              <a:rPr lang="zh-CN" altLang="en-US" sz="2000" b="1" kern="100" dirty="0">
                <a:effectLst/>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描述质量模型框架，解释不同质量方法之间的关系，识别软件产品的质量特性和子特性。这是整个标准的核心，建立了质量评估的理论基础和结构框架。</a:t>
            </a:r>
            <a:endPar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spcBef>
                <a:spcPct val="20000"/>
              </a:spcBef>
              <a:buSzPct val="100000"/>
              <a:buFont typeface="Wingdings" panose="05000000000000000000" charset="0"/>
              <a:buChar char="u"/>
            </a:pPr>
            <a:r>
              <a:rPr lang="en-US" altLang="zh-CN" sz="2000" b="1" kern="100" dirty="0">
                <a:effectLst/>
                <a:latin typeface="微软雅黑" panose="020B0503020204020204" pitchFamily="34" charset="-122"/>
                <a:ea typeface="微软雅黑" panose="020B0503020204020204" pitchFamily="34" charset="-122"/>
                <a:cs typeface="微软雅黑" panose="020B0503020204020204" pitchFamily="34" charset="-122"/>
              </a:rPr>
              <a:t>Part 2 - </a:t>
            </a:r>
            <a:r>
              <a:rPr lang="zh-CN" altLang="en-US" sz="2000" b="1" kern="100" dirty="0">
                <a:effectLst/>
                <a:latin typeface="微软雅黑" panose="020B0503020204020204" pitchFamily="34" charset="-122"/>
                <a:ea typeface="微软雅黑" panose="020B0503020204020204" pitchFamily="34" charset="-122"/>
                <a:cs typeface="微软雅黑" panose="020B0503020204020204" pitchFamily="34" charset="-122"/>
              </a:rPr>
              <a:t>外部度量（</a:t>
            </a:r>
            <a:r>
              <a:rPr lang="en-US" altLang="zh-CN" sz="2000" b="1" kern="100" dirty="0">
                <a:effectLst/>
                <a:latin typeface="微软雅黑" panose="020B0503020204020204" pitchFamily="34" charset="-122"/>
                <a:ea typeface="微软雅黑" panose="020B0503020204020204" pitchFamily="34" charset="-122"/>
                <a:cs typeface="微软雅黑" panose="020B0503020204020204" pitchFamily="34" charset="-122"/>
              </a:rPr>
              <a:t>External Metrics</a:t>
            </a:r>
            <a:r>
              <a:rPr lang="zh-CN" altLang="en-US" sz="2000" b="1" kern="100" dirty="0">
                <a:effectLst/>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定义用于测量质量特性和子特性的外部度量指标。外部度量关注软件在实际运行环境中的表现，通过观察软件的行为和输出结果来评估质量。</a:t>
            </a:r>
            <a:endPar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p:cNvSpPr txBox="1"/>
          <p:nvPr/>
        </p:nvSpPr>
        <p:spPr>
          <a:xfrm>
            <a:off x="602474" y="358140"/>
            <a:ext cx="2399030" cy="553085"/>
          </a:xfrm>
          <a:prstGeom prst="rect">
            <a:avLst/>
          </a:prstGeom>
          <a:noFill/>
        </p:spPr>
        <p:txBody>
          <a:bodyPr wrap="none" rtlCol="0">
            <a:spAutoFit/>
            <a:scene3d>
              <a:camera prst="orthographicFront"/>
              <a:lightRig rig="threePt" dir="t"/>
            </a:scene3d>
            <a:sp3d contourW="12700"/>
          </a:bodyPr>
          <a:lstStyle/>
          <a:p>
            <a:pPr algn="l"/>
            <a:r>
              <a:rPr lang="en-US" altLang="zh-CN" sz="3000" b="1" dirty="0">
                <a:solidFill>
                  <a:schemeClr val="accent2"/>
                </a:solidFill>
                <a:latin typeface="微软雅黑" panose="020B0503020204020204" pitchFamily="34" charset="-122"/>
                <a:ea typeface="微软雅黑" panose="020B0503020204020204" pitchFamily="34" charset="-122"/>
              </a:rPr>
              <a:t>4.1 </a:t>
            </a:r>
            <a:r>
              <a:rPr lang="zh-CN" altLang="en-US" sz="3000" b="1" dirty="0">
                <a:solidFill>
                  <a:schemeClr val="accent2"/>
                </a:solidFill>
                <a:latin typeface="微软雅黑" panose="020B0503020204020204" pitchFamily="34" charset="-122"/>
                <a:ea typeface="微软雅黑" panose="020B0503020204020204" pitchFamily="34" charset="-122"/>
              </a:rPr>
              <a:t>软件质量</a:t>
            </a:r>
            <a:endParaRPr lang="zh-CN" altLang="en-US" sz="3000" b="1" dirty="0">
              <a:solidFill>
                <a:schemeClr val="accent2"/>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667775" y="968635"/>
            <a:ext cx="10867390" cy="5438885"/>
            <a:chOff x="669290" y="1581150"/>
            <a:chExt cx="10867390" cy="5438885"/>
          </a:xfrm>
        </p:grpSpPr>
        <p:sp>
          <p:nvSpPr>
            <p:cNvPr id="4" name="矩形 3"/>
            <p:cNvSpPr/>
            <p:nvPr/>
          </p:nvSpPr>
          <p:spPr>
            <a:xfrm flipV="1">
              <a:off x="669290" y="1581150"/>
              <a:ext cx="5910580" cy="76200"/>
            </a:xfrm>
            <a:prstGeom prst="rect">
              <a:avLst/>
            </a:prstGeom>
            <a:ln>
              <a:solidFill>
                <a:srgbClr val="4B8E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p:cNvCxnSpPr/>
            <p:nvPr/>
          </p:nvCxnSpPr>
          <p:spPr>
            <a:xfrm>
              <a:off x="4500880" y="1584325"/>
              <a:ext cx="69786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669290" y="7020035"/>
              <a:ext cx="10867390" cy="0"/>
            </a:xfrm>
            <a:prstGeom prst="line">
              <a:avLst/>
            </a:prstGeom>
          </p:spPr>
          <p:style>
            <a:lnRef idx="1">
              <a:schemeClr val="accent1"/>
            </a:lnRef>
            <a:fillRef idx="0">
              <a:schemeClr val="accent1"/>
            </a:fillRef>
            <a:effectRef idx="0">
              <a:schemeClr val="accent1"/>
            </a:effectRef>
            <a:fontRef idx="minor">
              <a:schemeClr val="tx1"/>
            </a:fontRef>
          </p:style>
        </p:cxnSp>
      </p:grpSp>
      <p:pic>
        <p:nvPicPr>
          <p:cNvPr id="10" name="图片 9" descr="2021最新山大logo标准组合(1)(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9137239" y="218668"/>
            <a:ext cx="2691130" cy="690245"/>
          </a:xfrm>
          <a:prstGeom prst="rect">
            <a:avLst/>
          </a:prstGeom>
          <a:noFill/>
          <a:ln>
            <a:noFill/>
          </a:ln>
        </p:spPr>
      </p:pic>
      <p:sp>
        <p:nvSpPr>
          <p:cNvPr id="19" name="矩形 18"/>
          <p:cNvSpPr/>
          <p:nvPr>
            <p:custDataLst>
              <p:tags r:id="rId2"/>
            </p:custDataLst>
          </p:nvPr>
        </p:nvSpPr>
        <p:spPr>
          <a:xfrm>
            <a:off x="515620" y="1137920"/>
            <a:ext cx="11311890" cy="4192270"/>
          </a:xfrm>
          <a:prstGeom prst="rect">
            <a:avLst/>
          </a:prstGeom>
        </p:spPr>
        <p:txBody>
          <a:bodyPr wrap="square">
            <a:noAutofit/>
          </a:bodyPr>
          <a:lstStyle/>
          <a:p>
            <a:pPr marL="285750" indent="-285750">
              <a:lnSpc>
                <a:spcPct val="150000"/>
              </a:lnSpc>
              <a:spcBef>
                <a:spcPct val="20000"/>
              </a:spcBef>
              <a:buSzPct val="100000"/>
              <a:buFont typeface="Wingdings" panose="05000000000000000000" charset="0"/>
              <a:buChar char="u"/>
            </a:pPr>
            <a:r>
              <a:rPr lang="en-US" altLang="zh-CN" sz="2000" b="1" kern="100" dirty="0">
                <a:effectLst/>
                <a:latin typeface="微软雅黑" panose="020B0503020204020204" pitchFamily="34" charset="-122"/>
                <a:ea typeface="微软雅黑" panose="020B0503020204020204" pitchFamily="34" charset="-122"/>
                <a:cs typeface="微软雅黑" panose="020B0503020204020204" pitchFamily="34" charset="-122"/>
              </a:rPr>
              <a:t>Part 3 - </a:t>
            </a:r>
            <a:r>
              <a:rPr lang="zh-CN" altLang="en-US" sz="2000" b="1" kern="100" dirty="0">
                <a:effectLst/>
                <a:latin typeface="微软雅黑" panose="020B0503020204020204" pitchFamily="34" charset="-122"/>
                <a:ea typeface="微软雅黑" panose="020B0503020204020204" pitchFamily="34" charset="-122"/>
                <a:cs typeface="微软雅黑" panose="020B0503020204020204" pitchFamily="34" charset="-122"/>
              </a:rPr>
              <a:t>内部度量（</a:t>
            </a:r>
            <a:r>
              <a:rPr lang="en-US" altLang="zh-CN" sz="2000" b="1" kern="100" dirty="0">
                <a:effectLst/>
                <a:latin typeface="微软雅黑" panose="020B0503020204020204" pitchFamily="34" charset="-122"/>
                <a:ea typeface="微软雅黑" panose="020B0503020204020204" pitchFamily="34" charset="-122"/>
                <a:cs typeface="微软雅黑" panose="020B0503020204020204" pitchFamily="34" charset="-122"/>
              </a:rPr>
              <a:t>Internal Metrics</a:t>
            </a:r>
            <a:r>
              <a:rPr lang="zh-CN" altLang="en-US" sz="2000" b="1" kern="100" dirty="0">
                <a:effectLst/>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描述用于测量质量特性和子特性的内部度量指标。内部度量直接分析软件本身的属性，如代码复杂度、模块耦合度等，不需要运行软件即可进行评估。</a:t>
            </a:r>
            <a:endPar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spcBef>
                <a:spcPct val="20000"/>
              </a:spcBef>
              <a:buSzPct val="100000"/>
              <a:buFont typeface="Wingdings" panose="05000000000000000000" charset="0"/>
              <a:buChar char="u"/>
            </a:pPr>
            <a:r>
              <a:rPr lang="en-US" altLang="zh-CN" sz="2000" b="1" kern="100" dirty="0">
                <a:effectLst/>
                <a:latin typeface="微软雅黑" panose="020B0503020204020204" pitchFamily="34" charset="-122"/>
                <a:ea typeface="微软雅黑" panose="020B0503020204020204" pitchFamily="34" charset="-122"/>
                <a:cs typeface="微软雅黑" panose="020B0503020204020204" pitchFamily="34" charset="-122"/>
              </a:rPr>
              <a:t>Part 4 - </a:t>
            </a:r>
            <a:r>
              <a:rPr lang="zh-CN" altLang="en-US" sz="2000" b="1" kern="100" dirty="0">
                <a:effectLst/>
                <a:latin typeface="微软雅黑" panose="020B0503020204020204" pitchFamily="34" charset="-122"/>
                <a:ea typeface="微软雅黑" panose="020B0503020204020204" pitchFamily="34" charset="-122"/>
                <a:cs typeface="微软雅黑" panose="020B0503020204020204" pitchFamily="34" charset="-122"/>
              </a:rPr>
              <a:t>使用质量度量（</a:t>
            </a:r>
            <a:r>
              <a:rPr lang="en-US" altLang="zh-CN" sz="2000" b="1" kern="100" dirty="0">
                <a:effectLst/>
                <a:latin typeface="微软雅黑" panose="020B0503020204020204" pitchFamily="34" charset="-122"/>
                <a:ea typeface="微软雅黑" panose="020B0503020204020204" pitchFamily="34" charset="-122"/>
                <a:cs typeface="微软雅黑" panose="020B0503020204020204" pitchFamily="34" charset="-122"/>
              </a:rPr>
              <a:t>Quality in Use Metrics</a:t>
            </a:r>
            <a:r>
              <a:rPr lang="zh-CN" altLang="en-US" sz="2000" b="1" kern="100" dirty="0">
                <a:effectLst/>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识别用于测量质量特性组合对用户影响的度量指标。使用质量度量从用户视角评估软件的综合价值，关注软件是否能够帮助用户实现目标并获得满意的体验。</a:t>
            </a:r>
            <a:endPar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p:cNvSpPr txBox="1"/>
          <p:nvPr/>
        </p:nvSpPr>
        <p:spPr>
          <a:xfrm>
            <a:off x="602474" y="358140"/>
            <a:ext cx="2399030" cy="553085"/>
          </a:xfrm>
          <a:prstGeom prst="rect">
            <a:avLst/>
          </a:prstGeom>
          <a:noFill/>
        </p:spPr>
        <p:txBody>
          <a:bodyPr wrap="none" rtlCol="0">
            <a:spAutoFit/>
            <a:scene3d>
              <a:camera prst="orthographicFront"/>
              <a:lightRig rig="threePt" dir="t"/>
            </a:scene3d>
            <a:sp3d contourW="12700"/>
          </a:bodyPr>
          <a:lstStyle/>
          <a:p>
            <a:pPr algn="l"/>
            <a:r>
              <a:rPr lang="en-US" altLang="zh-CN" sz="3000" b="1" dirty="0">
                <a:solidFill>
                  <a:schemeClr val="accent2"/>
                </a:solidFill>
                <a:latin typeface="微软雅黑" panose="020B0503020204020204" pitchFamily="34" charset="-122"/>
                <a:ea typeface="微软雅黑" panose="020B0503020204020204" pitchFamily="34" charset="-122"/>
              </a:rPr>
              <a:t>4.1 </a:t>
            </a:r>
            <a:r>
              <a:rPr lang="zh-CN" altLang="en-US" sz="3000" b="1" dirty="0">
                <a:solidFill>
                  <a:schemeClr val="accent2"/>
                </a:solidFill>
                <a:latin typeface="微软雅黑" panose="020B0503020204020204" pitchFamily="34" charset="-122"/>
                <a:ea typeface="微软雅黑" panose="020B0503020204020204" pitchFamily="34" charset="-122"/>
              </a:rPr>
              <a:t>软件质量</a:t>
            </a:r>
            <a:endParaRPr lang="zh-CN" altLang="en-US" sz="3000" b="1" dirty="0">
              <a:solidFill>
                <a:schemeClr val="accent2"/>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667775" y="968635"/>
            <a:ext cx="10867390" cy="5438885"/>
            <a:chOff x="669290" y="1581150"/>
            <a:chExt cx="10867390" cy="5438885"/>
          </a:xfrm>
        </p:grpSpPr>
        <p:sp>
          <p:nvSpPr>
            <p:cNvPr id="4" name="矩形 3"/>
            <p:cNvSpPr/>
            <p:nvPr/>
          </p:nvSpPr>
          <p:spPr>
            <a:xfrm flipV="1">
              <a:off x="669290" y="1581150"/>
              <a:ext cx="5910580" cy="76200"/>
            </a:xfrm>
            <a:prstGeom prst="rect">
              <a:avLst/>
            </a:prstGeom>
            <a:ln>
              <a:solidFill>
                <a:srgbClr val="4B8E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p:cNvCxnSpPr/>
            <p:nvPr/>
          </p:nvCxnSpPr>
          <p:spPr>
            <a:xfrm>
              <a:off x="4500880" y="1584325"/>
              <a:ext cx="69786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669290" y="7020035"/>
              <a:ext cx="10867390" cy="0"/>
            </a:xfrm>
            <a:prstGeom prst="line">
              <a:avLst/>
            </a:prstGeom>
          </p:spPr>
          <p:style>
            <a:lnRef idx="1">
              <a:schemeClr val="accent1"/>
            </a:lnRef>
            <a:fillRef idx="0">
              <a:schemeClr val="accent1"/>
            </a:fillRef>
            <a:effectRef idx="0">
              <a:schemeClr val="accent1"/>
            </a:effectRef>
            <a:fontRef idx="minor">
              <a:schemeClr val="tx1"/>
            </a:fontRef>
          </p:style>
        </p:cxnSp>
      </p:grpSp>
      <p:pic>
        <p:nvPicPr>
          <p:cNvPr id="10" name="图片 9" descr="2021最新山大logo标准组合(1)(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9137239" y="218668"/>
            <a:ext cx="2691130" cy="690245"/>
          </a:xfrm>
          <a:prstGeom prst="rect">
            <a:avLst/>
          </a:prstGeom>
          <a:noFill/>
          <a:ln>
            <a:noFill/>
          </a:ln>
        </p:spPr>
      </p:pic>
      <p:sp>
        <p:nvSpPr>
          <p:cNvPr id="19" name="矩形 18"/>
          <p:cNvSpPr/>
          <p:nvPr>
            <p:custDataLst>
              <p:tags r:id="rId2"/>
            </p:custDataLst>
          </p:nvPr>
        </p:nvSpPr>
        <p:spPr>
          <a:xfrm>
            <a:off x="515620" y="1137920"/>
            <a:ext cx="11311890" cy="5088890"/>
          </a:xfrm>
          <a:prstGeom prst="rect">
            <a:avLst/>
          </a:prstGeom>
        </p:spPr>
        <p:txBody>
          <a:bodyPr wrap="square">
            <a:noAutofit/>
          </a:bodyPr>
          <a:lstStyle/>
          <a:p>
            <a:pPr marL="285750" indent="-285750">
              <a:lnSpc>
                <a:spcPct val="150000"/>
              </a:lnSpc>
              <a:spcBef>
                <a:spcPct val="20000"/>
              </a:spcBef>
              <a:buSzPct val="100000"/>
              <a:buFont typeface="Wingdings" panose="05000000000000000000" charset="0"/>
              <a:buChar char="u"/>
            </a:pPr>
            <a:r>
              <a:rPr lang="zh-CN" altLang="en-US" sz="2400" b="1" kern="100" dirty="0">
                <a:effectLst/>
                <a:latin typeface="微软雅黑" panose="020B0503020204020204" pitchFamily="34" charset="-122"/>
                <a:ea typeface="微软雅黑" panose="020B0503020204020204" pitchFamily="34" charset="-122"/>
                <a:cs typeface="微软雅黑" panose="020B0503020204020204" pitchFamily="34" charset="-122"/>
              </a:rPr>
              <a:t>这种四层结构体现了质量评估的多视角原则。</a:t>
            </a:r>
            <a:r>
              <a:rPr lang="en-US" altLang="zh-CN" sz="2400" kern="100" dirty="0">
                <a:effectLst/>
                <a:latin typeface="微软雅黑" panose="020B0503020204020204" pitchFamily="34" charset="-122"/>
                <a:ea typeface="微软雅黑" panose="020B0503020204020204" pitchFamily="34" charset="-122"/>
                <a:cs typeface="微软雅黑" panose="020B0503020204020204" pitchFamily="34" charset="-122"/>
              </a:rPr>
              <a:t>Part 1-3 </a:t>
            </a:r>
            <a:r>
              <a:rPr lang="zh-CN" altLang="en-US" sz="2400" kern="100" dirty="0">
                <a:effectLst/>
                <a:latin typeface="微软雅黑" panose="020B0503020204020204" pitchFamily="34" charset="-122"/>
                <a:ea typeface="微软雅黑" panose="020B0503020204020204" pitchFamily="34" charset="-122"/>
                <a:cs typeface="微软雅黑" panose="020B0503020204020204" pitchFamily="34" charset="-122"/>
              </a:rPr>
              <a:t>关注软件产品本身的质量，而</a:t>
            </a:r>
            <a:r>
              <a:rPr lang="en-US" altLang="zh-CN" sz="2400" kern="100" dirty="0">
                <a:effectLst/>
                <a:latin typeface="微软雅黑" panose="020B0503020204020204" pitchFamily="34" charset="-122"/>
                <a:ea typeface="微软雅黑" panose="020B0503020204020204" pitchFamily="34" charset="-122"/>
                <a:cs typeface="微软雅黑" panose="020B0503020204020204" pitchFamily="34" charset="-122"/>
              </a:rPr>
              <a:t> Part 4 </a:t>
            </a:r>
            <a:r>
              <a:rPr lang="zh-CN" altLang="en-US" sz="2400" kern="100" dirty="0">
                <a:effectLst/>
                <a:latin typeface="微软雅黑" panose="020B0503020204020204" pitchFamily="34" charset="-122"/>
                <a:ea typeface="微软雅黑" panose="020B0503020204020204" pitchFamily="34" charset="-122"/>
                <a:cs typeface="微软雅黑" panose="020B0503020204020204" pitchFamily="34" charset="-122"/>
              </a:rPr>
              <a:t>则从用户角度评估质量的实际效果。这种设计理念反映了现代质量观念的转变：不仅要关注软件本身的技术质量，更要关注软件对用户的实际价值。</a:t>
            </a:r>
            <a:endParaRPr lang="zh-CN" altLang="en-US" sz="2400" b="1" kern="100" dirty="0">
              <a:effectLst/>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spcBef>
                <a:spcPct val="20000"/>
              </a:spcBef>
              <a:buSzPct val="100000"/>
              <a:buFont typeface="Wingdings" panose="05000000000000000000" charset="0"/>
              <a:buChar char="u"/>
            </a:pPr>
            <a:r>
              <a:rPr lang="zh-CN" altLang="en-US" sz="2400" b="1" kern="100" dirty="0">
                <a:effectLst/>
                <a:latin typeface="微软雅黑" panose="020B0503020204020204" pitchFamily="34" charset="-122"/>
                <a:ea typeface="微软雅黑" panose="020B0503020204020204" pitchFamily="34" charset="-122"/>
                <a:cs typeface="微软雅黑" panose="020B0503020204020204" pitchFamily="34" charset="-122"/>
              </a:rPr>
              <a:t>质量模型的核心是一个三层层次结构：</a:t>
            </a:r>
            <a:r>
              <a:rPr lang="zh-CN" altLang="en-US" sz="2400" kern="100" dirty="0">
                <a:effectLst/>
                <a:latin typeface="微软雅黑" panose="020B0503020204020204" pitchFamily="34" charset="-122"/>
                <a:ea typeface="微软雅黑" panose="020B0503020204020204" pitchFamily="34" charset="-122"/>
                <a:cs typeface="微软雅黑" panose="020B0503020204020204" pitchFamily="34" charset="-122"/>
              </a:rPr>
              <a:t>质量特性（</a:t>
            </a:r>
            <a:r>
              <a:rPr lang="en-US" altLang="zh-CN" sz="2400" kern="100" dirty="0">
                <a:effectLst/>
                <a:latin typeface="微软雅黑" panose="020B0503020204020204" pitchFamily="34" charset="-122"/>
                <a:ea typeface="微软雅黑" panose="020B0503020204020204" pitchFamily="34" charset="-122"/>
                <a:cs typeface="微软雅黑" panose="020B0503020204020204" pitchFamily="34" charset="-122"/>
              </a:rPr>
              <a:t>Quality Characteristics</a:t>
            </a:r>
            <a:r>
              <a:rPr lang="zh-CN" altLang="en-US" sz="2400" kern="100" dirty="0">
                <a:effectLst/>
                <a:latin typeface="微软雅黑" panose="020B0503020204020204" pitchFamily="34" charset="-122"/>
                <a:ea typeface="微软雅黑" panose="020B0503020204020204" pitchFamily="34" charset="-122"/>
                <a:cs typeface="微软雅黑" panose="020B0503020204020204" pitchFamily="34" charset="-122"/>
              </a:rPr>
              <a:t>）、质量子特性（</a:t>
            </a:r>
            <a:r>
              <a:rPr lang="en-US" altLang="zh-CN" sz="2400" kern="100" dirty="0">
                <a:effectLst/>
                <a:latin typeface="微软雅黑" panose="020B0503020204020204" pitchFamily="34" charset="-122"/>
                <a:ea typeface="微软雅黑" panose="020B0503020204020204" pitchFamily="34" charset="-122"/>
                <a:cs typeface="微软雅黑" panose="020B0503020204020204" pitchFamily="34" charset="-122"/>
              </a:rPr>
              <a:t>Quality Subcharacteristics</a:t>
            </a:r>
            <a:r>
              <a:rPr lang="zh-CN" altLang="en-US" sz="2400" kern="100" dirty="0">
                <a:effectLst/>
                <a:latin typeface="微软雅黑" panose="020B0503020204020204" pitchFamily="34" charset="-122"/>
                <a:ea typeface="微软雅黑" panose="020B0503020204020204" pitchFamily="34" charset="-122"/>
                <a:cs typeface="微软雅黑" panose="020B0503020204020204" pitchFamily="34" charset="-122"/>
              </a:rPr>
              <a:t>）和度量因子（</a:t>
            </a:r>
            <a:r>
              <a:rPr lang="en-US" altLang="zh-CN" sz="2400" kern="100" dirty="0">
                <a:effectLst/>
                <a:latin typeface="微软雅黑" panose="020B0503020204020204" pitchFamily="34" charset="-122"/>
                <a:ea typeface="微软雅黑" panose="020B0503020204020204" pitchFamily="34" charset="-122"/>
                <a:cs typeface="微软雅黑" panose="020B0503020204020204" pitchFamily="34" charset="-122"/>
              </a:rPr>
              <a:t>Metrics</a:t>
            </a:r>
            <a:r>
              <a:rPr lang="zh-CN" altLang="en-US" sz="2400" kern="100" dirty="0">
                <a:effectLst/>
                <a:latin typeface="微软雅黑" panose="020B0503020204020204" pitchFamily="34" charset="-122"/>
                <a:ea typeface="微软雅黑" panose="020B0503020204020204" pitchFamily="34" charset="-122"/>
                <a:cs typeface="微软雅黑" panose="020B0503020204020204" pitchFamily="34" charset="-122"/>
              </a:rPr>
              <a:t>）。上层的质量特性面向管理，代表软件质量的不同方面；中层的质量子特性是上层特性的细化，是管理人员和技术人员之间沟通的桥梁；下层的度量因子用于量化测量，为质量评估提供具体的数据支撑。</a:t>
            </a:r>
            <a:endParaRPr lang="zh-CN" altLang="en-US" sz="2400" kern="100" dirty="0">
              <a:effectLst/>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p:cNvSpPr txBox="1"/>
          <p:nvPr/>
        </p:nvSpPr>
        <p:spPr>
          <a:xfrm>
            <a:off x="602474" y="358140"/>
            <a:ext cx="2399030" cy="553085"/>
          </a:xfrm>
          <a:prstGeom prst="rect">
            <a:avLst/>
          </a:prstGeom>
          <a:noFill/>
        </p:spPr>
        <p:txBody>
          <a:bodyPr wrap="none" rtlCol="0">
            <a:spAutoFit/>
            <a:scene3d>
              <a:camera prst="orthographicFront"/>
              <a:lightRig rig="threePt" dir="t"/>
            </a:scene3d>
            <a:sp3d contourW="12700"/>
          </a:bodyPr>
          <a:lstStyle/>
          <a:p>
            <a:pPr algn="l"/>
            <a:r>
              <a:rPr lang="en-US" altLang="zh-CN" sz="3000" b="1" dirty="0">
                <a:solidFill>
                  <a:schemeClr val="accent2"/>
                </a:solidFill>
                <a:latin typeface="微软雅黑" panose="020B0503020204020204" pitchFamily="34" charset="-122"/>
                <a:ea typeface="微软雅黑" panose="020B0503020204020204" pitchFamily="34" charset="-122"/>
              </a:rPr>
              <a:t>4.1 </a:t>
            </a:r>
            <a:r>
              <a:rPr lang="zh-CN" altLang="en-US" sz="3000" b="1" dirty="0">
                <a:solidFill>
                  <a:schemeClr val="accent2"/>
                </a:solidFill>
                <a:latin typeface="微软雅黑" panose="020B0503020204020204" pitchFamily="34" charset="-122"/>
                <a:ea typeface="微软雅黑" panose="020B0503020204020204" pitchFamily="34" charset="-122"/>
              </a:rPr>
              <a:t>软件质量</a:t>
            </a:r>
            <a:endParaRPr lang="zh-CN" altLang="en-US" sz="3000" b="1" dirty="0">
              <a:solidFill>
                <a:schemeClr val="accent2"/>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667775" y="968635"/>
            <a:ext cx="10867390" cy="5438885"/>
            <a:chOff x="669290" y="1581150"/>
            <a:chExt cx="10867390" cy="5438885"/>
          </a:xfrm>
        </p:grpSpPr>
        <p:sp>
          <p:nvSpPr>
            <p:cNvPr id="4" name="矩形 3"/>
            <p:cNvSpPr/>
            <p:nvPr/>
          </p:nvSpPr>
          <p:spPr>
            <a:xfrm flipV="1">
              <a:off x="669290" y="1581150"/>
              <a:ext cx="5910580" cy="76200"/>
            </a:xfrm>
            <a:prstGeom prst="rect">
              <a:avLst/>
            </a:prstGeom>
            <a:ln>
              <a:solidFill>
                <a:srgbClr val="4B8E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p:cNvCxnSpPr/>
            <p:nvPr/>
          </p:nvCxnSpPr>
          <p:spPr>
            <a:xfrm>
              <a:off x="4500880" y="1584325"/>
              <a:ext cx="69786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669290" y="7020035"/>
              <a:ext cx="10867390" cy="0"/>
            </a:xfrm>
            <a:prstGeom prst="line">
              <a:avLst/>
            </a:prstGeom>
          </p:spPr>
          <p:style>
            <a:lnRef idx="1">
              <a:schemeClr val="accent1"/>
            </a:lnRef>
            <a:fillRef idx="0">
              <a:schemeClr val="accent1"/>
            </a:fillRef>
            <a:effectRef idx="0">
              <a:schemeClr val="accent1"/>
            </a:effectRef>
            <a:fontRef idx="minor">
              <a:schemeClr val="tx1"/>
            </a:fontRef>
          </p:style>
        </p:cxnSp>
      </p:grpSp>
      <p:pic>
        <p:nvPicPr>
          <p:cNvPr id="10" name="图片 9" descr="2021最新山大logo标准组合(1)(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9137239" y="218668"/>
            <a:ext cx="2691130" cy="690245"/>
          </a:xfrm>
          <a:prstGeom prst="rect">
            <a:avLst/>
          </a:prstGeom>
          <a:noFill/>
          <a:ln>
            <a:noFill/>
          </a:ln>
        </p:spPr>
      </p:pic>
      <p:sp>
        <p:nvSpPr>
          <p:cNvPr id="19" name="矩形 18"/>
          <p:cNvSpPr/>
          <p:nvPr>
            <p:custDataLst>
              <p:tags r:id="rId2"/>
            </p:custDataLst>
          </p:nvPr>
        </p:nvSpPr>
        <p:spPr>
          <a:xfrm>
            <a:off x="515620" y="1137920"/>
            <a:ext cx="11311890" cy="5152390"/>
          </a:xfrm>
          <a:prstGeom prst="rect">
            <a:avLst/>
          </a:prstGeom>
        </p:spPr>
        <p:txBody>
          <a:bodyPr wrap="square">
            <a:noAutofit/>
          </a:bodyPr>
          <a:lstStyle/>
          <a:p>
            <a:pPr marL="457200" indent="-457200">
              <a:lnSpc>
                <a:spcPct val="150000"/>
              </a:lnSpc>
              <a:spcBef>
                <a:spcPct val="20000"/>
              </a:spcBef>
              <a:buSzPct val="100000"/>
              <a:buFont typeface="Wingdings" panose="05000000000000000000" charset="0"/>
              <a:buChar char="l"/>
            </a:pPr>
            <a:r>
              <a:rPr lang="zh-CN" altLang="en-US" sz="2400" b="1" kern="100" dirty="0">
                <a:effectLst/>
                <a:latin typeface="微软雅黑" panose="020B0503020204020204" pitchFamily="34" charset="-122"/>
                <a:ea typeface="微软雅黑" panose="020B0503020204020204" pitchFamily="34" charset="-122"/>
                <a:cs typeface="微软雅黑" panose="020B0503020204020204" pitchFamily="34" charset="-122"/>
              </a:rPr>
              <a:t>六大质量特性</a:t>
            </a:r>
            <a:r>
              <a:rPr lang="en-US" altLang="zh-CN" sz="2400" kern="100" dirty="0">
                <a:effectLst/>
                <a:latin typeface="微软雅黑" panose="020B0503020204020204" pitchFamily="34" charset="-122"/>
                <a:ea typeface="微软雅黑" panose="020B0503020204020204" pitchFamily="34" charset="-122"/>
                <a:cs typeface="微软雅黑" panose="020B0503020204020204" pitchFamily="34" charset="-122"/>
              </a:rPr>
              <a:t> ISO/IEC 9126-1:2001 </a:t>
            </a:r>
            <a:r>
              <a:rPr lang="zh-CN" altLang="en-US" sz="2400" kern="100" dirty="0">
                <a:effectLst/>
                <a:latin typeface="微软雅黑" panose="020B0503020204020204" pitchFamily="34" charset="-122"/>
                <a:ea typeface="微软雅黑" panose="020B0503020204020204" pitchFamily="34" charset="-122"/>
                <a:cs typeface="微软雅黑" panose="020B0503020204020204" pitchFamily="34" charset="-122"/>
              </a:rPr>
              <a:t>定义的六大质量特性构成了软件质量评估的基础框架，每个特性都有其独特的内涵和评估要点。</a:t>
            </a:r>
            <a:endParaRPr lang="zh-CN" altLang="en-US" sz="2400" kern="100" dirty="0">
              <a:effectLst/>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spcBef>
                <a:spcPct val="20000"/>
              </a:spcBef>
              <a:buSzPct val="100000"/>
              <a:buFont typeface="Wingdings" panose="05000000000000000000" charset="0"/>
              <a:buChar char="u"/>
            </a:pP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1. </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功能性（</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Functionality</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spcBef>
                <a:spcPct val="20000"/>
              </a:spcBef>
              <a:buSzPct val="100000"/>
              <a:buFont typeface="Wingdings" panose="05000000000000000000" charset="0"/>
              <a:buChar char="u"/>
            </a:pP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2. </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可靠性（</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Reliability</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spcBef>
                <a:spcPct val="20000"/>
              </a:spcBef>
              <a:buSzPct val="100000"/>
              <a:buFont typeface="Wingdings" panose="05000000000000000000" charset="0"/>
              <a:buChar char="u"/>
            </a:pP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3. </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易用性（</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Usability</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spcBef>
                <a:spcPct val="20000"/>
              </a:spcBef>
              <a:buSzPct val="100000"/>
              <a:buFont typeface="Wingdings" panose="05000000000000000000" charset="0"/>
              <a:buChar char="u"/>
            </a:pP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4. </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效率（</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Efficiency</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spcBef>
                <a:spcPct val="20000"/>
              </a:spcBef>
              <a:buSzPct val="100000"/>
              <a:buFont typeface="Wingdings" panose="05000000000000000000" charset="0"/>
              <a:buChar char="u"/>
            </a:pP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5. </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可维护性（</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Maintainability</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spcBef>
                <a:spcPct val="20000"/>
              </a:spcBef>
              <a:buSzPct val="100000"/>
              <a:buFont typeface="Wingdings" panose="05000000000000000000" charset="0"/>
              <a:buChar char="u"/>
            </a:pP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6. </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可移植性（</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Portability</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p:cNvSpPr txBox="1"/>
          <p:nvPr/>
        </p:nvSpPr>
        <p:spPr>
          <a:xfrm>
            <a:off x="602474" y="358140"/>
            <a:ext cx="2399030" cy="553085"/>
          </a:xfrm>
          <a:prstGeom prst="rect">
            <a:avLst/>
          </a:prstGeom>
          <a:noFill/>
        </p:spPr>
        <p:txBody>
          <a:bodyPr wrap="none" rtlCol="0">
            <a:spAutoFit/>
            <a:scene3d>
              <a:camera prst="orthographicFront"/>
              <a:lightRig rig="threePt" dir="t"/>
            </a:scene3d>
            <a:sp3d contourW="12700"/>
          </a:bodyPr>
          <a:lstStyle/>
          <a:p>
            <a:pPr algn="l"/>
            <a:r>
              <a:rPr lang="en-US" altLang="zh-CN" sz="3000" b="1" dirty="0">
                <a:solidFill>
                  <a:schemeClr val="accent2"/>
                </a:solidFill>
                <a:latin typeface="微软雅黑" panose="020B0503020204020204" pitchFamily="34" charset="-122"/>
                <a:ea typeface="微软雅黑" panose="020B0503020204020204" pitchFamily="34" charset="-122"/>
              </a:rPr>
              <a:t>4.1 </a:t>
            </a:r>
            <a:r>
              <a:rPr lang="zh-CN" altLang="en-US" sz="3000" b="1" dirty="0">
                <a:solidFill>
                  <a:schemeClr val="accent2"/>
                </a:solidFill>
                <a:latin typeface="微软雅黑" panose="020B0503020204020204" pitchFamily="34" charset="-122"/>
                <a:ea typeface="微软雅黑" panose="020B0503020204020204" pitchFamily="34" charset="-122"/>
              </a:rPr>
              <a:t>软件质量</a:t>
            </a:r>
            <a:endParaRPr lang="zh-CN" altLang="en-US" sz="3000" b="1" dirty="0">
              <a:solidFill>
                <a:schemeClr val="accent2"/>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667775" y="968635"/>
            <a:ext cx="10867390" cy="5438885"/>
            <a:chOff x="669290" y="1581150"/>
            <a:chExt cx="10867390" cy="5438885"/>
          </a:xfrm>
        </p:grpSpPr>
        <p:sp>
          <p:nvSpPr>
            <p:cNvPr id="4" name="矩形 3"/>
            <p:cNvSpPr/>
            <p:nvPr/>
          </p:nvSpPr>
          <p:spPr>
            <a:xfrm flipV="1">
              <a:off x="669290" y="1581150"/>
              <a:ext cx="5910580" cy="76200"/>
            </a:xfrm>
            <a:prstGeom prst="rect">
              <a:avLst/>
            </a:prstGeom>
            <a:ln>
              <a:solidFill>
                <a:srgbClr val="4B8E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p:cNvCxnSpPr/>
            <p:nvPr/>
          </p:nvCxnSpPr>
          <p:spPr>
            <a:xfrm>
              <a:off x="4500880" y="1584325"/>
              <a:ext cx="69786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669290" y="7020035"/>
              <a:ext cx="10867390" cy="0"/>
            </a:xfrm>
            <a:prstGeom prst="line">
              <a:avLst/>
            </a:prstGeom>
          </p:spPr>
          <p:style>
            <a:lnRef idx="1">
              <a:schemeClr val="accent1"/>
            </a:lnRef>
            <a:fillRef idx="0">
              <a:schemeClr val="accent1"/>
            </a:fillRef>
            <a:effectRef idx="0">
              <a:schemeClr val="accent1"/>
            </a:effectRef>
            <a:fontRef idx="minor">
              <a:schemeClr val="tx1"/>
            </a:fontRef>
          </p:style>
        </p:cxnSp>
      </p:grpSp>
      <p:pic>
        <p:nvPicPr>
          <p:cNvPr id="10" name="图片 9" descr="2021最新山大logo标准组合(1)(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9137239" y="218668"/>
            <a:ext cx="2691130" cy="690245"/>
          </a:xfrm>
          <a:prstGeom prst="rect">
            <a:avLst/>
          </a:prstGeom>
          <a:noFill/>
          <a:ln>
            <a:noFill/>
          </a:ln>
        </p:spPr>
      </p:pic>
      <p:sp>
        <p:nvSpPr>
          <p:cNvPr id="19" name="矩形 18"/>
          <p:cNvSpPr/>
          <p:nvPr>
            <p:custDataLst>
              <p:tags r:id="rId2"/>
            </p:custDataLst>
          </p:nvPr>
        </p:nvSpPr>
        <p:spPr>
          <a:xfrm>
            <a:off x="515620" y="1137920"/>
            <a:ext cx="11311890" cy="5152390"/>
          </a:xfrm>
          <a:prstGeom prst="rect">
            <a:avLst/>
          </a:prstGeom>
        </p:spPr>
        <p:txBody>
          <a:bodyPr wrap="square">
            <a:noAutofit/>
          </a:bodyPr>
          <a:lstStyle/>
          <a:p>
            <a:pPr marL="342900" indent="-342900">
              <a:lnSpc>
                <a:spcPct val="150000"/>
              </a:lnSpc>
              <a:spcBef>
                <a:spcPct val="20000"/>
              </a:spcBef>
              <a:buSzPct val="100000"/>
              <a:buFont typeface="Wingdings" panose="05000000000000000000" charset="0"/>
              <a:buChar char="l"/>
            </a:pPr>
            <a:r>
              <a:rPr lang="zh-CN" altLang="en-US" sz="2400" b="1" kern="100" dirty="0">
                <a:effectLst/>
                <a:latin typeface="微软雅黑" panose="020B0503020204020204" pitchFamily="34" charset="-122"/>
                <a:ea typeface="微软雅黑" panose="020B0503020204020204" pitchFamily="34" charset="-122"/>
                <a:cs typeface="微软雅黑" panose="020B0503020204020204" pitchFamily="34" charset="-122"/>
              </a:rPr>
              <a:t>质量特性间的相互关系与权衡</a:t>
            </a:r>
            <a:endParaRPr lang="zh-CN" altLang="en-US" sz="2400" b="1" kern="100" dirty="0">
              <a:effectLst/>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spcBef>
                <a:spcPct val="20000"/>
              </a:spcBef>
              <a:buSzPct val="100000"/>
              <a:buFont typeface="Wingdings" panose="05000000000000000000" charset="0"/>
              <a:buChar char="u"/>
            </a:pP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软件质量特性之间存在着复杂的相互作用关系，这种关系既包括协同效应，也包括冲突和权衡。理解这些关系对于软件质量设计和评估具有重要意义。</a:t>
            </a:r>
            <a:endPar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spcBef>
                <a:spcPct val="20000"/>
              </a:spcBef>
              <a:buSzPct val="100000"/>
              <a:buFont typeface="Wingdings" panose="05000000000000000000" charset="0"/>
              <a:buChar char="u"/>
            </a:pPr>
            <a:r>
              <a:rPr lang="zh-CN" altLang="en-US" sz="2000" b="1" kern="100" dirty="0">
                <a:effectLst/>
                <a:latin typeface="微软雅黑" panose="020B0503020204020204" pitchFamily="34" charset="-122"/>
                <a:ea typeface="微软雅黑" panose="020B0503020204020204" pitchFamily="34" charset="-122"/>
                <a:cs typeface="微软雅黑" panose="020B0503020204020204" pitchFamily="34" charset="-122"/>
              </a:rPr>
              <a:t>协同关系</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体现在某些特性的提升能够带动其他特性的改善。例如，高可靠性设计能够提升可用性和完整性：如果系统不崩溃，用户就能够使用它；系统故障导致数据丢失或损坏的风险也会降低。这种协同效应为质量设计提供了优化空间，通过重点关注关键特性可以实现质量的整体提升。</a:t>
            </a:r>
            <a:endPar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spcBef>
                <a:spcPct val="20000"/>
              </a:spcBef>
              <a:buSzPct val="100000"/>
              <a:buFont typeface="Wingdings" panose="05000000000000000000" charset="0"/>
              <a:buChar char="u"/>
            </a:pP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然而，质量特性之间更多地表现为</a:t>
            </a:r>
            <a:r>
              <a:rPr lang="zh-CN" altLang="en-US" sz="2000" b="1" kern="100" dirty="0">
                <a:effectLst/>
                <a:latin typeface="微软雅黑" panose="020B0503020204020204" pitchFamily="34" charset="-122"/>
                <a:ea typeface="微软雅黑" panose="020B0503020204020204" pitchFamily="34" charset="-122"/>
                <a:cs typeface="微软雅黑" panose="020B0503020204020204" pitchFamily="34" charset="-122"/>
              </a:rPr>
              <a:t>权衡关系</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。系统架构设计的核心就是权衡，因为质量属性要求之间常常相互冲突，很难建立一个在所有方面都完美的系统。</a:t>
            </a:r>
            <a:endPar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p:cNvSpPr txBox="1"/>
          <p:nvPr/>
        </p:nvSpPr>
        <p:spPr>
          <a:xfrm>
            <a:off x="602474" y="358140"/>
            <a:ext cx="2399030" cy="553085"/>
          </a:xfrm>
          <a:prstGeom prst="rect">
            <a:avLst/>
          </a:prstGeom>
          <a:noFill/>
        </p:spPr>
        <p:txBody>
          <a:bodyPr wrap="none" rtlCol="0">
            <a:spAutoFit/>
            <a:scene3d>
              <a:camera prst="orthographicFront"/>
              <a:lightRig rig="threePt" dir="t"/>
            </a:scene3d>
            <a:sp3d contourW="12700"/>
          </a:bodyPr>
          <a:lstStyle/>
          <a:p>
            <a:pPr algn="l"/>
            <a:r>
              <a:rPr lang="en-US" altLang="zh-CN" sz="3000" b="1" dirty="0">
                <a:solidFill>
                  <a:schemeClr val="accent2"/>
                </a:solidFill>
                <a:latin typeface="微软雅黑" panose="020B0503020204020204" pitchFamily="34" charset="-122"/>
                <a:ea typeface="微软雅黑" panose="020B0503020204020204" pitchFamily="34" charset="-122"/>
              </a:rPr>
              <a:t>4.1 </a:t>
            </a:r>
            <a:r>
              <a:rPr lang="zh-CN" altLang="en-US" sz="3000" b="1" dirty="0">
                <a:solidFill>
                  <a:schemeClr val="accent2"/>
                </a:solidFill>
                <a:latin typeface="微软雅黑" panose="020B0503020204020204" pitchFamily="34" charset="-122"/>
                <a:ea typeface="微软雅黑" panose="020B0503020204020204" pitchFamily="34" charset="-122"/>
              </a:rPr>
              <a:t>软件质量</a:t>
            </a:r>
            <a:endParaRPr lang="zh-CN" altLang="en-US" sz="3000" b="1" dirty="0">
              <a:solidFill>
                <a:schemeClr val="accent2"/>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667775" y="968635"/>
            <a:ext cx="10867390" cy="5438885"/>
            <a:chOff x="669290" y="1581150"/>
            <a:chExt cx="10867390" cy="5438885"/>
          </a:xfrm>
        </p:grpSpPr>
        <p:sp>
          <p:nvSpPr>
            <p:cNvPr id="4" name="矩形 3"/>
            <p:cNvSpPr/>
            <p:nvPr/>
          </p:nvSpPr>
          <p:spPr>
            <a:xfrm flipV="1">
              <a:off x="669290" y="1581150"/>
              <a:ext cx="5910580" cy="76200"/>
            </a:xfrm>
            <a:prstGeom prst="rect">
              <a:avLst/>
            </a:prstGeom>
            <a:ln>
              <a:solidFill>
                <a:srgbClr val="4B8E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p:cNvCxnSpPr/>
            <p:nvPr/>
          </p:nvCxnSpPr>
          <p:spPr>
            <a:xfrm>
              <a:off x="4500880" y="1584325"/>
              <a:ext cx="69786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669290" y="7020035"/>
              <a:ext cx="10867390" cy="0"/>
            </a:xfrm>
            <a:prstGeom prst="line">
              <a:avLst/>
            </a:prstGeom>
          </p:spPr>
          <p:style>
            <a:lnRef idx="1">
              <a:schemeClr val="accent1"/>
            </a:lnRef>
            <a:fillRef idx="0">
              <a:schemeClr val="accent1"/>
            </a:fillRef>
            <a:effectRef idx="0">
              <a:schemeClr val="accent1"/>
            </a:effectRef>
            <a:fontRef idx="minor">
              <a:schemeClr val="tx1"/>
            </a:fontRef>
          </p:style>
        </p:cxnSp>
      </p:grpSp>
      <p:pic>
        <p:nvPicPr>
          <p:cNvPr id="10" name="图片 9" descr="2021最新山大logo标准组合(1)(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9137239" y="218668"/>
            <a:ext cx="2691130" cy="690245"/>
          </a:xfrm>
          <a:prstGeom prst="rect">
            <a:avLst/>
          </a:prstGeom>
          <a:noFill/>
          <a:ln>
            <a:noFill/>
          </a:ln>
        </p:spPr>
      </p:pic>
      <p:sp>
        <p:nvSpPr>
          <p:cNvPr id="19" name="矩形 18"/>
          <p:cNvSpPr/>
          <p:nvPr>
            <p:custDataLst>
              <p:tags r:id="rId2"/>
            </p:custDataLst>
          </p:nvPr>
        </p:nvSpPr>
        <p:spPr>
          <a:xfrm>
            <a:off x="515620" y="1137920"/>
            <a:ext cx="11311890" cy="5152390"/>
          </a:xfrm>
          <a:prstGeom prst="rect">
            <a:avLst/>
          </a:prstGeom>
        </p:spPr>
        <p:txBody>
          <a:bodyPr wrap="square">
            <a:noAutofit/>
          </a:bodyPr>
          <a:lstStyle/>
          <a:p>
            <a:pPr marL="342900" indent="-342900">
              <a:lnSpc>
                <a:spcPct val="150000"/>
              </a:lnSpc>
              <a:spcBef>
                <a:spcPct val="20000"/>
              </a:spcBef>
              <a:buSzPct val="100000"/>
              <a:buFont typeface="Wingdings" panose="05000000000000000000" charset="0"/>
              <a:buChar char="l"/>
            </a:pPr>
            <a:r>
              <a:rPr lang="zh-CN" altLang="en-US" sz="2400" b="1" kern="100" dirty="0">
                <a:effectLst/>
                <a:latin typeface="微软雅黑" panose="020B0503020204020204" pitchFamily="34" charset="-122"/>
                <a:ea typeface="微软雅黑" panose="020B0503020204020204" pitchFamily="34" charset="-122"/>
                <a:cs typeface="微软雅黑" panose="020B0503020204020204" pitchFamily="34" charset="-122"/>
                <a:sym typeface="+mn-ea"/>
              </a:rPr>
              <a:t>典型的权衡关系</a:t>
            </a:r>
            <a:r>
              <a:rPr lang="zh-CN" altLang="en-US" sz="2400" kern="100" dirty="0">
                <a:effectLst/>
                <a:latin typeface="微软雅黑" panose="020B0503020204020204" pitchFamily="34" charset="-122"/>
                <a:ea typeface="微软雅黑" panose="020B0503020204020204" pitchFamily="34" charset="-122"/>
                <a:cs typeface="微软雅黑" panose="020B0503020204020204" pitchFamily="34" charset="-122"/>
                <a:sym typeface="+mn-ea"/>
              </a:rPr>
              <a:t>包括：</a:t>
            </a:r>
            <a:endParaRPr lang="zh-CN" altLang="en-US" sz="2400" kern="100" dirty="0">
              <a:effectLst/>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spcBef>
                <a:spcPct val="20000"/>
              </a:spcBef>
              <a:buSzPct val="100000"/>
              <a:buFont typeface="Wingdings" panose="05000000000000000000" charset="0"/>
              <a:buChar char="u"/>
            </a:pPr>
            <a:r>
              <a:rPr lang="zh-CN" altLang="en-US" sz="2000" b="1" kern="100" dirty="0">
                <a:effectLst/>
                <a:latin typeface="微软雅黑" panose="020B0503020204020204" pitchFamily="34" charset="-122"/>
                <a:ea typeface="微软雅黑" panose="020B0503020204020204" pitchFamily="34" charset="-122"/>
                <a:cs typeface="微软雅黑" panose="020B0503020204020204" pitchFamily="34" charset="-122"/>
              </a:rPr>
              <a:t>性能与可靠性的权衡</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。过高的性能要求可能导致系统可靠性降低，而过分强调可靠性可能牺牲一定的性能。例如，为了提高系统响应速度而采用激进的优化策略，可能会降低系统的稳定性和容错能力。</a:t>
            </a:r>
            <a:endPar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spcBef>
                <a:spcPct val="20000"/>
              </a:spcBef>
              <a:buSzPct val="100000"/>
              <a:buFont typeface="Wingdings" panose="05000000000000000000" charset="0"/>
              <a:buChar char="u"/>
            </a:pPr>
            <a:r>
              <a:rPr lang="zh-CN" altLang="en-US" sz="2000" b="1" kern="100" dirty="0">
                <a:effectLst/>
                <a:latin typeface="微软雅黑" panose="020B0503020204020204" pitchFamily="34" charset="-122"/>
                <a:ea typeface="微软雅黑" panose="020B0503020204020204" pitchFamily="34" charset="-122"/>
                <a:cs typeface="微软雅黑" panose="020B0503020204020204" pitchFamily="34" charset="-122"/>
              </a:rPr>
              <a:t>安全性与易用性的权衡</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增强安全性往往会增加系统的复杂性，从而降低易用性。加密级别变更会同时影响安全性和性能，需要在项目中进行平衡。这种权衡在实际应用中经常遇到，例如多因素认证提高了安全性，但增加了用户的操作步骤。</a:t>
            </a:r>
            <a:endPar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spcBef>
                <a:spcPct val="20000"/>
              </a:spcBef>
              <a:buSzPct val="100000"/>
              <a:buFont typeface="Wingdings" panose="05000000000000000000" charset="0"/>
              <a:buChar char="u"/>
            </a:pPr>
            <a:r>
              <a:rPr lang="zh-CN" altLang="en-US" sz="2000" b="1" kern="100" dirty="0">
                <a:effectLst/>
                <a:latin typeface="微软雅黑" panose="020B0503020204020204" pitchFamily="34" charset="-122"/>
                <a:ea typeface="微软雅黑" panose="020B0503020204020204" pitchFamily="34" charset="-122"/>
                <a:cs typeface="微软雅黑" panose="020B0503020204020204" pitchFamily="34" charset="-122"/>
              </a:rPr>
              <a:t>可维护性与效率的权衡</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。为了提高可维护性而采用的模块化设计和代码规范，可能会降低系统的运行效率。相反，为了追求极致性能而编写的高度优化代码，往往难以理解和维护。</a:t>
            </a:r>
            <a:endPar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spcBef>
                <a:spcPct val="20000"/>
              </a:spcBef>
              <a:buSzPct val="100000"/>
              <a:buFont typeface="Wingdings" panose="05000000000000000000" charset="0"/>
              <a:buChar char="u"/>
            </a:pPr>
            <a:endPar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p:cNvSpPr txBox="1"/>
          <p:nvPr/>
        </p:nvSpPr>
        <p:spPr>
          <a:xfrm>
            <a:off x="602474" y="358140"/>
            <a:ext cx="2399030" cy="553085"/>
          </a:xfrm>
          <a:prstGeom prst="rect">
            <a:avLst/>
          </a:prstGeom>
          <a:noFill/>
        </p:spPr>
        <p:txBody>
          <a:bodyPr wrap="none" rtlCol="0">
            <a:spAutoFit/>
            <a:scene3d>
              <a:camera prst="orthographicFront"/>
              <a:lightRig rig="threePt" dir="t"/>
            </a:scene3d>
            <a:sp3d contourW="12700"/>
          </a:bodyPr>
          <a:lstStyle/>
          <a:p>
            <a:pPr algn="l"/>
            <a:r>
              <a:rPr lang="en-US" altLang="zh-CN" sz="3000" b="1" dirty="0">
                <a:solidFill>
                  <a:schemeClr val="accent2"/>
                </a:solidFill>
                <a:latin typeface="微软雅黑" panose="020B0503020204020204" pitchFamily="34" charset="-122"/>
                <a:ea typeface="微软雅黑" panose="020B0503020204020204" pitchFamily="34" charset="-122"/>
              </a:rPr>
              <a:t>4.1 </a:t>
            </a:r>
            <a:r>
              <a:rPr lang="zh-CN" altLang="en-US" sz="3000" b="1" dirty="0">
                <a:solidFill>
                  <a:schemeClr val="accent2"/>
                </a:solidFill>
                <a:latin typeface="微软雅黑" panose="020B0503020204020204" pitchFamily="34" charset="-122"/>
                <a:ea typeface="微软雅黑" panose="020B0503020204020204" pitchFamily="34" charset="-122"/>
              </a:rPr>
              <a:t>软件质量</a:t>
            </a:r>
            <a:endParaRPr lang="zh-CN" altLang="en-US" sz="3000" b="1" dirty="0">
              <a:solidFill>
                <a:schemeClr val="accent2"/>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667775" y="968635"/>
            <a:ext cx="10867390" cy="5438885"/>
            <a:chOff x="669290" y="1581150"/>
            <a:chExt cx="10867390" cy="5438885"/>
          </a:xfrm>
        </p:grpSpPr>
        <p:sp>
          <p:nvSpPr>
            <p:cNvPr id="4" name="矩形 3"/>
            <p:cNvSpPr/>
            <p:nvPr/>
          </p:nvSpPr>
          <p:spPr>
            <a:xfrm flipV="1">
              <a:off x="669290" y="1581150"/>
              <a:ext cx="5910580" cy="76200"/>
            </a:xfrm>
            <a:prstGeom prst="rect">
              <a:avLst/>
            </a:prstGeom>
            <a:ln>
              <a:solidFill>
                <a:srgbClr val="4B8E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p:cNvCxnSpPr/>
            <p:nvPr/>
          </p:nvCxnSpPr>
          <p:spPr>
            <a:xfrm>
              <a:off x="4500880" y="1584325"/>
              <a:ext cx="69786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669290" y="7020035"/>
              <a:ext cx="10867390" cy="0"/>
            </a:xfrm>
            <a:prstGeom prst="line">
              <a:avLst/>
            </a:prstGeom>
          </p:spPr>
          <p:style>
            <a:lnRef idx="1">
              <a:schemeClr val="accent1"/>
            </a:lnRef>
            <a:fillRef idx="0">
              <a:schemeClr val="accent1"/>
            </a:fillRef>
            <a:effectRef idx="0">
              <a:schemeClr val="accent1"/>
            </a:effectRef>
            <a:fontRef idx="minor">
              <a:schemeClr val="tx1"/>
            </a:fontRef>
          </p:style>
        </p:cxnSp>
      </p:grpSp>
      <p:pic>
        <p:nvPicPr>
          <p:cNvPr id="10" name="图片 9" descr="2021最新山大logo标准组合(1)(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9137239" y="218668"/>
            <a:ext cx="2691130" cy="690245"/>
          </a:xfrm>
          <a:prstGeom prst="rect">
            <a:avLst/>
          </a:prstGeom>
          <a:noFill/>
          <a:ln>
            <a:noFill/>
          </a:ln>
        </p:spPr>
      </p:pic>
      <p:sp>
        <p:nvSpPr>
          <p:cNvPr id="19" name="矩形 18"/>
          <p:cNvSpPr/>
          <p:nvPr>
            <p:custDataLst>
              <p:tags r:id="rId2"/>
            </p:custDataLst>
          </p:nvPr>
        </p:nvSpPr>
        <p:spPr>
          <a:xfrm>
            <a:off x="515620" y="1137920"/>
            <a:ext cx="11311890" cy="5152390"/>
          </a:xfrm>
          <a:prstGeom prst="rect">
            <a:avLst/>
          </a:prstGeom>
        </p:spPr>
        <p:txBody>
          <a:bodyPr wrap="square">
            <a:noAutofit/>
          </a:bodyPr>
          <a:lstStyle/>
          <a:p>
            <a:pPr marL="285750" indent="-285750">
              <a:lnSpc>
                <a:spcPct val="150000"/>
              </a:lnSpc>
              <a:spcBef>
                <a:spcPct val="20000"/>
              </a:spcBef>
              <a:buSzPct val="100000"/>
              <a:buFont typeface="Wingdings" panose="05000000000000000000" charset="0"/>
              <a:buChar char="u"/>
            </a:pPr>
            <a:r>
              <a:rPr lang="zh-CN" altLang="en-US" sz="2000" b="1" kern="100" dirty="0">
                <a:effectLst/>
                <a:latin typeface="微软雅黑" panose="020B0503020204020204" pitchFamily="34" charset="-122"/>
                <a:ea typeface="微软雅黑" panose="020B0503020204020204" pitchFamily="34" charset="-122"/>
                <a:cs typeface="微软雅黑" panose="020B0503020204020204" pitchFamily="34" charset="-122"/>
              </a:rPr>
              <a:t>权衡点</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是指影响多个质量属性的设计决策。例如，选择数据库架构时，需要在数据一致性、系统可用性和查询性能之间进行权衡；设计缓存策略时，需要在响应速度、数据一致性和内存使用之间找到平衡点。</a:t>
            </a:r>
            <a:endPar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spcBef>
                <a:spcPct val="20000"/>
              </a:spcBef>
              <a:buSzPct val="100000"/>
              <a:buFont typeface="Wingdings" panose="05000000000000000000" charset="0"/>
              <a:buChar char="u"/>
            </a:pPr>
            <a:endPar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p:cNvSpPr txBox="1"/>
          <p:nvPr/>
        </p:nvSpPr>
        <p:spPr>
          <a:xfrm>
            <a:off x="602474" y="358140"/>
            <a:ext cx="2399030" cy="553085"/>
          </a:xfrm>
          <a:prstGeom prst="rect">
            <a:avLst/>
          </a:prstGeom>
          <a:noFill/>
        </p:spPr>
        <p:txBody>
          <a:bodyPr wrap="none" rtlCol="0">
            <a:spAutoFit/>
            <a:scene3d>
              <a:camera prst="orthographicFront"/>
              <a:lightRig rig="threePt" dir="t"/>
            </a:scene3d>
            <a:sp3d contourW="12700"/>
          </a:bodyPr>
          <a:lstStyle/>
          <a:p>
            <a:pPr algn="l"/>
            <a:r>
              <a:rPr lang="en-US" altLang="zh-CN" sz="3000" b="1" dirty="0">
                <a:solidFill>
                  <a:schemeClr val="accent2"/>
                </a:solidFill>
                <a:latin typeface="微软雅黑" panose="020B0503020204020204" pitchFamily="34" charset="-122"/>
                <a:ea typeface="微软雅黑" panose="020B0503020204020204" pitchFamily="34" charset="-122"/>
              </a:rPr>
              <a:t>4.1 </a:t>
            </a:r>
            <a:r>
              <a:rPr lang="zh-CN" altLang="en-US" sz="3000" b="1" dirty="0">
                <a:solidFill>
                  <a:schemeClr val="accent2"/>
                </a:solidFill>
                <a:latin typeface="微软雅黑" panose="020B0503020204020204" pitchFamily="34" charset="-122"/>
                <a:ea typeface="微软雅黑" panose="020B0503020204020204" pitchFamily="34" charset="-122"/>
              </a:rPr>
              <a:t>软件质量</a:t>
            </a:r>
            <a:endParaRPr lang="zh-CN" altLang="en-US" sz="3000" b="1" dirty="0">
              <a:solidFill>
                <a:schemeClr val="accent2"/>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667775" y="968635"/>
            <a:ext cx="10867390" cy="5438885"/>
            <a:chOff x="669290" y="1581150"/>
            <a:chExt cx="10867390" cy="5438885"/>
          </a:xfrm>
        </p:grpSpPr>
        <p:sp>
          <p:nvSpPr>
            <p:cNvPr id="4" name="矩形 3"/>
            <p:cNvSpPr/>
            <p:nvPr/>
          </p:nvSpPr>
          <p:spPr>
            <a:xfrm flipV="1">
              <a:off x="669290" y="1581150"/>
              <a:ext cx="5910580" cy="76200"/>
            </a:xfrm>
            <a:prstGeom prst="rect">
              <a:avLst/>
            </a:prstGeom>
            <a:ln>
              <a:solidFill>
                <a:srgbClr val="4B8E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p:cNvCxnSpPr/>
            <p:nvPr/>
          </p:nvCxnSpPr>
          <p:spPr>
            <a:xfrm>
              <a:off x="4500880" y="1584325"/>
              <a:ext cx="69786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669290" y="7020035"/>
              <a:ext cx="10867390" cy="0"/>
            </a:xfrm>
            <a:prstGeom prst="line">
              <a:avLst/>
            </a:prstGeom>
          </p:spPr>
          <p:style>
            <a:lnRef idx="1">
              <a:schemeClr val="accent1"/>
            </a:lnRef>
            <a:fillRef idx="0">
              <a:schemeClr val="accent1"/>
            </a:fillRef>
            <a:effectRef idx="0">
              <a:schemeClr val="accent1"/>
            </a:effectRef>
            <a:fontRef idx="minor">
              <a:schemeClr val="tx1"/>
            </a:fontRef>
          </p:style>
        </p:cxnSp>
      </p:grpSp>
      <p:pic>
        <p:nvPicPr>
          <p:cNvPr id="10" name="图片 9" descr="2021最新山大logo标准组合(1)(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9137239" y="218668"/>
            <a:ext cx="2691130" cy="690245"/>
          </a:xfrm>
          <a:prstGeom prst="rect">
            <a:avLst/>
          </a:prstGeom>
          <a:noFill/>
          <a:ln>
            <a:noFill/>
          </a:ln>
        </p:spPr>
      </p:pic>
      <p:sp>
        <p:nvSpPr>
          <p:cNvPr id="19" name="矩形 18"/>
          <p:cNvSpPr/>
          <p:nvPr>
            <p:custDataLst>
              <p:tags r:id="rId2"/>
            </p:custDataLst>
          </p:nvPr>
        </p:nvSpPr>
        <p:spPr>
          <a:xfrm>
            <a:off x="515620" y="1137920"/>
            <a:ext cx="11311890" cy="5152390"/>
          </a:xfrm>
          <a:prstGeom prst="rect">
            <a:avLst/>
          </a:prstGeom>
        </p:spPr>
        <p:txBody>
          <a:bodyPr wrap="square">
            <a:noAutofit/>
          </a:bodyPr>
          <a:lstStyle/>
          <a:p>
            <a:pPr marL="342900" indent="-342900">
              <a:lnSpc>
                <a:spcPct val="150000"/>
              </a:lnSpc>
              <a:spcBef>
                <a:spcPct val="20000"/>
              </a:spcBef>
              <a:buSzPct val="100000"/>
              <a:buFont typeface="Wingdings" panose="05000000000000000000" charset="0"/>
              <a:buChar char="l"/>
            </a:pPr>
            <a:r>
              <a:rPr lang="zh-CN" altLang="en-US" sz="2400" b="1" kern="100" dirty="0">
                <a:effectLst/>
                <a:latin typeface="微软雅黑" panose="020B0503020204020204" pitchFamily="34" charset="-122"/>
                <a:ea typeface="微软雅黑" panose="020B0503020204020204" pitchFamily="34" charset="-122"/>
                <a:cs typeface="微软雅黑" panose="020B0503020204020204" pitchFamily="34" charset="-122"/>
              </a:rPr>
              <a:t>质量属性的优先级排序受多种因素影响：</a:t>
            </a:r>
            <a:r>
              <a:rPr lang="en-US" altLang="zh-CN" sz="2400" b="1" kern="100" dirty="0">
                <a:effectLst/>
                <a:latin typeface="微软雅黑" panose="020B0503020204020204" pitchFamily="34" charset="-122"/>
                <a:ea typeface="微软雅黑" panose="020B0503020204020204" pitchFamily="34" charset="-122"/>
                <a:cs typeface="微软雅黑" panose="020B0503020204020204" pitchFamily="34" charset="-122"/>
              </a:rPr>
              <a:t> </a:t>
            </a:r>
            <a:endParaRPr lang="zh-CN" altLang="en-US" sz="2400" kern="100" dirty="0">
              <a:effectLst/>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spcBef>
                <a:spcPct val="20000"/>
              </a:spcBef>
              <a:buSzPct val="100000"/>
              <a:buFont typeface="Wingdings" panose="05000000000000000000" charset="0"/>
              <a:buChar char="u"/>
            </a:pPr>
            <a:r>
              <a:rPr lang="zh-CN" altLang="en-US" sz="2000" b="1" kern="100" dirty="0">
                <a:effectLst/>
                <a:latin typeface="微软雅黑" panose="020B0503020204020204" pitchFamily="34" charset="-122"/>
                <a:ea typeface="微软雅黑" panose="020B0503020204020204" pitchFamily="34" charset="-122"/>
                <a:cs typeface="微软雅黑" panose="020B0503020204020204" pitchFamily="34" charset="-122"/>
              </a:rPr>
              <a:t>项目约束条件。</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在资源有限的情况下，系统架构师必须对不同质量属性进行优先级排序，因为项目预算和时间限制无法满足所有质量属性的最优实现。</a:t>
            </a:r>
            <a:endPar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spcBef>
                <a:spcPct val="20000"/>
              </a:spcBef>
              <a:buSzPct val="100000"/>
              <a:buFont typeface="Wingdings" panose="05000000000000000000" charset="0"/>
              <a:buChar char="u"/>
            </a:pPr>
            <a:r>
              <a:rPr lang="zh-CN" altLang="en-US" sz="2000" b="1" kern="100" dirty="0">
                <a:effectLst/>
                <a:latin typeface="微软雅黑" panose="020B0503020204020204" pitchFamily="34" charset="-122"/>
                <a:ea typeface="微软雅黑" panose="020B0503020204020204" pitchFamily="34" charset="-122"/>
                <a:cs typeface="微软雅黑" panose="020B0503020204020204" pitchFamily="34" charset="-122"/>
              </a:rPr>
              <a:t>用户需求差异。</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不同用户群体对质量属性的重要性认知不同。例如，普通用户更关注易用性和功能性，而系统管理员更关注可靠性和可维护性。</a:t>
            </a:r>
            <a:endPar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spcBef>
                <a:spcPct val="20000"/>
              </a:spcBef>
              <a:buSzPct val="100000"/>
              <a:buFont typeface="Wingdings" panose="05000000000000000000" charset="0"/>
              <a:buChar char="u"/>
            </a:pPr>
            <a:r>
              <a:rPr lang="zh-CN" altLang="en-US" sz="2000" b="1" kern="100" dirty="0">
                <a:effectLst/>
                <a:latin typeface="微软雅黑" panose="020B0503020204020204" pitchFamily="34" charset="-122"/>
                <a:ea typeface="微软雅黑" panose="020B0503020204020204" pitchFamily="34" charset="-122"/>
                <a:cs typeface="微软雅黑" panose="020B0503020204020204" pitchFamily="34" charset="-122"/>
              </a:rPr>
              <a:t>应用场景特点。</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不同应用场景对质量属性的要求也不同。实时控制系统强调性能和可靠性，办公软件注重易用性和兼容性，而金融系统则将安全性放在首位。</a:t>
            </a:r>
            <a:endPar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spcBef>
                <a:spcPct val="20000"/>
              </a:spcBef>
              <a:buSzPct val="100000"/>
              <a:buFont typeface="Wingdings" panose="05000000000000000000" charset="0"/>
              <a:buChar char="u"/>
            </a:pPr>
            <a:endPar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p:cNvSpPr txBox="1"/>
          <p:nvPr/>
        </p:nvSpPr>
        <p:spPr>
          <a:xfrm>
            <a:off x="602474" y="358140"/>
            <a:ext cx="2399030" cy="553085"/>
          </a:xfrm>
          <a:prstGeom prst="rect">
            <a:avLst/>
          </a:prstGeom>
          <a:noFill/>
        </p:spPr>
        <p:txBody>
          <a:bodyPr wrap="none" rtlCol="0">
            <a:spAutoFit/>
            <a:scene3d>
              <a:camera prst="orthographicFront"/>
              <a:lightRig rig="threePt" dir="t"/>
            </a:scene3d>
            <a:sp3d contourW="12700"/>
          </a:bodyPr>
          <a:lstStyle/>
          <a:p>
            <a:pPr algn="l"/>
            <a:r>
              <a:rPr lang="en-US" altLang="zh-CN" sz="3000" b="1" dirty="0">
                <a:solidFill>
                  <a:schemeClr val="accent2"/>
                </a:solidFill>
                <a:latin typeface="微软雅黑" panose="020B0503020204020204" pitchFamily="34" charset="-122"/>
                <a:ea typeface="微软雅黑" panose="020B0503020204020204" pitchFamily="34" charset="-122"/>
              </a:rPr>
              <a:t>4.1 </a:t>
            </a:r>
            <a:r>
              <a:rPr lang="zh-CN" altLang="en-US" sz="3000" b="1" dirty="0">
                <a:solidFill>
                  <a:schemeClr val="accent2"/>
                </a:solidFill>
                <a:latin typeface="微软雅黑" panose="020B0503020204020204" pitchFamily="34" charset="-122"/>
                <a:ea typeface="微软雅黑" panose="020B0503020204020204" pitchFamily="34" charset="-122"/>
              </a:rPr>
              <a:t>软件质量</a:t>
            </a:r>
            <a:endParaRPr lang="zh-CN" altLang="en-US" sz="3000" b="1" dirty="0">
              <a:solidFill>
                <a:schemeClr val="accent2"/>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667775" y="968635"/>
            <a:ext cx="10867390" cy="5438885"/>
            <a:chOff x="669290" y="1581150"/>
            <a:chExt cx="10867390" cy="5438885"/>
          </a:xfrm>
        </p:grpSpPr>
        <p:sp>
          <p:nvSpPr>
            <p:cNvPr id="4" name="矩形 3"/>
            <p:cNvSpPr/>
            <p:nvPr/>
          </p:nvSpPr>
          <p:spPr>
            <a:xfrm flipV="1">
              <a:off x="669290" y="1581150"/>
              <a:ext cx="5910580" cy="76200"/>
            </a:xfrm>
            <a:prstGeom prst="rect">
              <a:avLst/>
            </a:prstGeom>
            <a:ln>
              <a:solidFill>
                <a:srgbClr val="4B8E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p:cNvCxnSpPr/>
            <p:nvPr/>
          </p:nvCxnSpPr>
          <p:spPr>
            <a:xfrm>
              <a:off x="4500880" y="1584325"/>
              <a:ext cx="69786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669290" y="7020035"/>
              <a:ext cx="10867390" cy="0"/>
            </a:xfrm>
            <a:prstGeom prst="line">
              <a:avLst/>
            </a:prstGeom>
          </p:spPr>
          <p:style>
            <a:lnRef idx="1">
              <a:schemeClr val="accent1"/>
            </a:lnRef>
            <a:fillRef idx="0">
              <a:schemeClr val="accent1"/>
            </a:fillRef>
            <a:effectRef idx="0">
              <a:schemeClr val="accent1"/>
            </a:effectRef>
            <a:fontRef idx="minor">
              <a:schemeClr val="tx1"/>
            </a:fontRef>
          </p:style>
        </p:cxnSp>
      </p:grpSp>
      <p:pic>
        <p:nvPicPr>
          <p:cNvPr id="10" name="图片 9" descr="2021最新山大logo标准组合(1)(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9137239" y="218668"/>
            <a:ext cx="2691130" cy="690245"/>
          </a:xfrm>
          <a:prstGeom prst="rect">
            <a:avLst/>
          </a:prstGeom>
          <a:noFill/>
          <a:ln>
            <a:noFill/>
          </a:ln>
        </p:spPr>
      </p:pic>
      <p:sp>
        <p:nvSpPr>
          <p:cNvPr id="19" name="矩形 18"/>
          <p:cNvSpPr/>
          <p:nvPr>
            <p:custDataLst>
              <p:tags r:id="rId2"/>
            </p:custDataLst>
          </p:nvPr>
        </p:nvSpPr>
        <p:spPr>
          <a:xfrm>
            <a:off x="515620" y="1137920"/>
            <a:ext cx="11311890" cy="5152390"/>
          </a:xfrm>
          <a:prstGeom prst="rect">
            <a:avLst/>
          </a:prstGeom>
        </p:spPr>
        <p:txBody>
          <a:bodyPr wrap="square">
            <a:noAutofit/>
          </a:bodyPr>
          <a:lstStyle/>
          <a:p>
            <a:pPr marL="285750" indent="-285750">
              <a:lnSpc>
                <a:spcPct val="150000"/>
              </a:lnSpc>
              <a:spcBef>
                <a:spcPct val="20000"/>
              </a:spcBef>
              <a:buSzPct val="100000"/>
              <a:buFont typeface="Wingdings" panose="05000000000000000000" charset="0"/>
              <a:buChar char="u"/>
            </a:pP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理解质量特性间的关系需要采用系统化的分析方法。</a:t>
            </a:r>
            <a:endPar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spcBef>
                <a:spcPct val="20000"/>
              </a:spcBef>
              <a:buSzPct val="100000"/>
              <a:buFont typeface="Wingdings" panose="05000000000000000000" charset="0"/>
              <a:buChar char="u"/>
            </a:pP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可以通过质量效用树对质量属性进行分类、权衡和分析，主要关注系统的性能、可用性、可修改性和安全性四个方面。</a:t>
            </a:r>
            <a:endPar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spcBef>
                <a:spcPct val="20000"/>
              </a:spcBef>
              <a:buSzPct val="100000"/>
              <a:buFont typeface="Wingdings" panose="05000000000000000000" charset="0"/>
              <a:buChar char="u"/>
            </a:pP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在实际应用中，需要根据具体需求和场景来权衡不同质量特性之间的关系，找到最适合的平衡点。</a:t>
            </a:r>
            <a:endPar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p:cNvSpPr txBox="1"/>
          <p:nvPr/>
        </p:nvSpPr>
        <p:spPr>
          <a:xfrm>
            <a:off x="602474" y="358140"/>
            <a:ext cx="2399030" cy="553085"/>
          </a:xfrm>
          <a:prstGeom prst="rect">
            <a:avLst/>
          </a:prstGeom>
          <a:noFill/>
        </p:spPr>
        <p:txBody>
          <a:bodyPr wrap="none" rtlCol="0">
            <a:spAutoFit/>
            <a:scene3d>
              <a:camera prst="orthographicFront"/>
              <a:lightRig rig="threePt" dir="t"/>
            </a:scene3d>
            <a:sp3d contourW="12700"/>
          </a:bodyPr>
          <a:lstStyle/>
          <a:p>
            <a:pPr algn="l"/>
            <a:r>
              <a:rPr lang="en-US" altLang="zh-CN" sz="3000" b="1" dirty="0">
                <a:solidFill>
                  <a:schemeClr val="accent2"/>
                </a:solidFill>
                <a:latin typeface="微软雅黑" panose="020B0503020204020204" pitchFamily="34" charset="-122"/>
                <a:ea typeface="微软雅黑" panose="020B0503020204020204" pitchFamily="34" charset="-122"/>
              </a:rPr>
              <a:t>4.1 </a:t>
            </a:r>
            <a:r>
              <a:rPr lang="zh-CN" altLang="en-US" sz="3000" b="1" dirty="0">
                <a:solidFill>
                  <a:schemeClr val="accent2"/>
                </a:solidFill>
                <a:latin typeface="微软雅黑" panose="020B0503020204020204" pitchFamily="34" charset="-122"/>
                <a:ea typeface="微软雅黑" panose="020B0503020204020204" pitchFamily="34" charset="-122"/>
              </a:rPr>
              <a:t>软件质量</a:t>
            </a:r>
            <a:endParaRPr lang="zh-CN" altLang="en-US" sz="3000" b="1" dirty="0">
              <a:solidFill>
                <a:schemeClr val="accent2"/>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667775" y="968635"/>
            <a:ext cx="10867390" cy="5438885"/>
            <a:chOff x="669290" y="1581150"/>
            <a:chExt cx="10867390" cy="5438885"/>
          </a:xfrm>
        </p:grpSpPr>
        <p:sp>
          <p:nvSpPr>
            <p:cNvPr id="4" name="矩形 3"/>
            <p:cNvSpPr/>
            <p:nvPr/>
          </p:nvSpPr>
          <p:spPr>
            <a:xfrm flipV="1">
              <a:off x="669290" y="1581150"/>
              <a:ext cx="5910580" cy="76200"/>
            </a:xfrm>
            <a:prstGeom prst="rect">
              <a:avLst/>
            </a:prstGeom>
            <a:ln>
              <a:solidFill>
                <a:srgbClr val="4B8E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p:cNvCxnSpPr/>
            <p:nvPr/>
          </p:nvCxnSpPr>
          <p:spPr>
            <a:xfrm>
              <a:off x="4500880" y="1584325"/>
              <a:ext cx="69786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669290" y="7020035"/>
              <a:ext cx="10867390" cy="0"/>
            </a:xfrm>
            <a:prstGeom prst="line">
              <a:avLst/>
            </a:prstGeom>
          </p:spPr>
          <p:style>
            <a:lnRef idx="1">
              <a:schemeClr val="accent1"/>
            </a:lnRef>
            <a:fillRef idx="0">
              <a:schemeClr val="accent1"/>
            </a:fillRef>
            <a:effectRef idx="0">
              <a:schemeClr val="accent1"/>
            </a:effectRef>
            <a:fontRef idx="minor">
              <a:schemeClr val="tx1"/>
            </a:fontRef>
          </p:style>
        </p:cxnSp>
      </p:grpSp>
      <p:pic>
        <p:nvPicPr>
          <p:cNvPr id="10" name="图片 9" descr="2021最新山大logo标准组合(1)(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9137239" y="218668"/>
            <a:ext cx="2691130" cy="690245"/>
          </a:xfrm>
          <a:prstGeom prst="rect">
            <a:avLst/>
          </a:prstGeom>
          <a:noFill/>
          <a:ln>
            <a:noFill/>
          </a:ln>
        </p:spPr>
      </p:pic>
      <p:sp>
        <p:nvSpPr>
          <p:cNvPr id="19" name="矩形 18"/>
          <p:cNvSpPr/>
          <p:nvPr>
            <p:custDataLst>
              <p:tags r:id="rId2"/>
            </p:custDataLst>
          </p:nvPr>
        </p:nvSpPr>
        <p:spPr>
          <a:xfrm>
            <a:off x="515620" y="1137920"/>
            <a:ext cx="11311890" cy="5152390"/>
          </a:xfrm>
          <a:prstGeom prst="rect">
            <a:avLst/>
          </a:prstGeom>
        </p:spPr>
        <p:txBody>
          <a:bodyPr wrap="square">
            <a:noAutofit/>
          </a:bodyPr>
          <a:lstStyle/>
          <a:p>
            <a:pPr marL="342900" indent="-342900">
              <a:lnSpc>
                <a:spcPct val="150000"/>
              </a:lnSpc>
              <a:spcBef>
                <a:spcPct val="20000"/>
              </a:spcBef>
              <a:buSzPct val="100000"/>
              <a:buFont typeface="Wingdings" panose="05000000000000000000" charset="0"/>
              <a:buChar char="l"/>
            </a:pPr>
            <a:r>
              <a:rPr lang="zh-CN" altLang="en-US" sz="2400" b="1" kern="100" dirty="0">
                <a:effectLst/>
                <a:latin typeface="微软雅黑" panose="020B0503020204020204" pitchFamily="34" charset="-122"/>
                <a:ea typeface="微软雅黑" panose="020B0503020204020204" pitchFamily="34" charset="-122"/>
                <a:cs typeface="微软雅黑" panose="020B0503020204020204" pitchFamily="34" charset="-122"/>
              </a:rPr>
              <a:t>不同类型软件的质量特性重要性差异</a:t>
            </a:r>
            <a:endParaRPr lang="zh-CN" altLang="en-US" sz="2400" kern="100" dirty="0">
              <a:effectLst/>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nSpc>
                <a:spcPct val="150000"/>
              </a:lnSpc>
              <a:spcBef>
                <a:spcPct val="20000"/>
              </a:spcBef>
              <a:buSzPct val="100000"/>
              <a:buFont typeface="Wingdings" panose="05000000000000000000" charset="0"/>
              <a:buChar char="l"/>
            </a:pPr>
            <a:r>
              <a:rPr lang="en-US" altLang="zh-CN" sz="2000" b="1" kern="100" dirty="0">
                <a:effectLst/>
                <a:latin typeface="微软雅黑" panose="020B0503020204020204" pitchFamily="34" charset="-122"/>
                <a:ea typeface="微软雅黑" panose="020B0503020204020204" pitchFamily="34" charset="-122"/>
                <a:cs typeface="微软雅黑" panose="020B0503020204020204" pitchFamily="34" charset="-122"/>
                <a:sym typeface="+mn-ea"/>
              </a:rPr>
              <a:t>4.1 </a:t>
            </a:r>
            <a:r>
              <a:rPr lang="zh-CN" altLang="en-US" sz="2000" b="1" kern="100" dirty="0">
                <a:effectLst/>
                <a:latin typeface="微软雅黑" panose="020B0503020204020204" pitchFamily="34" charset="-122"/>
                <a:ea typeface="微软雅黑" panose="020B0503020204020204" pitchFamily="34" charset="-122"/>
                <a:cs typeface="微软雅黑" panose="020B0503020204020204" pitchFamily="34" charset="-122"/>
                <a:sym typeface="+mn-ea"/>
              </a:rPr>
              <a:t>嵌入式软件的质量特性要求</a:t>
            </a:r>
            <a:endPar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spcBef>
                <a:spcPct val="20000"/>
              </a:spcBef>
              <a:buSzPct val="100000"/>
              <a:buFont typeface="Wingdings" panose="05000000000000000000" charset="0"/>
              <a:buChar char="u"/>
            </a:pP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嵌入式软件在现代社会中扮演着越来越重要的角色，广泛应用于汽车电子、航空航天、工业控制等关键领域。这类软件的特殊性决定了其对质量特性有着独特而严格的要求。</a:t>
            </a:r>
            <a:endPar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spcBef>
                <a:spcPct val="20000"/>
              </a:spcBef>
              <a:buSzPct val="100000"/>
              <a:buFont typeface="Wingdings" panose="05000000000000000000" charset="0"/>
              <a:buChar char="u"/>
            </a:pP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行业安全标准的严格要求体现了嵌入式软件质量的重要性。</a:t>
            </a:r>
            <a:endPar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spcBef>
                <a:spcPct val="20000"/>
              </a:spcBef>
              <a:buSzPct val="100000"/>
              <a:buFont typeface="Wingdings" panose="05000000000000000000" charset="0"/>
              <a:buChar char="u"/>
            </a:pPr>
            <a:endPar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p:cNvSpPr txBox="1"/>
          <p:nvPr/>
        </p:nvSpPr>
        <p:spPr>
          <a:xfrm>
            <a:off x="602474" y="358140"/>
            <a:ext cx="2399030" cy="553085"/>
          </a:xfrm>
          <a:prstGeom prst="rect">
            <a:avLst/>
          </a:prstGeom>
          <a:noFill/>
        </p:spPr>
        <p:txBody>
          <a:bodyPr wrap="none" rtlCol="0">
            <a:spAutoFit/>
            <a:scene3d>
              <a:camera prst="orthographicFront"/>
              <a:lightRig rig="threePt" dir="t"/>
            </a:scene3d>
            <a:sp3d contourW="12700"/>
          </a:bodyPr>
          <a:lstStyle/>
          <a:p>
            <a:pPr algn="l"/>
            <a:r>
              <a:rPr lang="en-US" altLang="zh-CN" sz="3000" b="1" dirty="0">
                <a:solidFill>
                  <a:schemeClr val="accent2"/>
                </a:solidFill>
                <a:latin typeface="微软雅黑" panose="020B0503020204020204" pitchFamily="34" charset="-122"/>
                <a:ea typeface="微软雅黑" panose="020B0503020204020204" pitchFamily="34" charset="-122"/>
              </a:rPr>
              <a:t>4.1 </a:t>
            </a:r>
            <a:r>
              <a:rPr lang="zh-CN" altLang="en-US" sz="3000" b="1" dirty="0">
                <a:solidFill>
                  <a:schemeClr val="accent2"/>
                </a:solidFill>
                <a:latin typeface="微软雅黑" panose="020B0503020204020204" pitchFamily="34" charset="-122"/>
                <a:ea typeface="微软雅黑" panose="020B0503020204020204" pitchFamily="34" charset="-122"/>
              </a:rPr>
              <a:t>软件质量</a:t>
            </a:r>
            <a:endParaRPr lang="zh-CN" altLang="en-US" sz="3000" b="1" dirty="0">
              <a:solidFill>
                <a:schemeClr val="accent2"/>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667775" y="968635"/>
            <a:ext cx="10867390" cy="5438885"/>
            <a:chOff x="669290" y="1581150"/>
            <a:chExt cx="10867390" cy="5438885"/>
          </a:xfrm>
        </p:grpSpPr>
        <p:sp>
          <p:nvSpPr>
            <p:cNvPr id="4" name="矩形 3"/>
            <p:cNvSpPr/>
            <p:nvPr/>
          </p:nvSpPr>
          <p:spPr>
            <a:xfrm flipV="1">
              <a:off x="669290" y="1581150"/>
              <a:ext cx="5910580" cy="76200"/>
            </a:xfrm>
            <a:prstGeom prst="rect">
              <a:avLst/>
            </a:prstGeom>
            <a:ln>
              <a:solidFill>
                <a:srgbClr val="4B8E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p:cNvCxnSpPr/>
            <p:nvPr/>
          </p:nvCxnSpPr>
          <p:spPr>
            <a:xfrm>
              <a:off x="4500880" y="1584325"/>
              <a:ext cx="69786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669290" y="7020035"/>
              <a:ext cx="10867390" cy="0"/>
            </a:xfrm>
            <a:prstGeom prst="line">
              <a:avLst/>
            </a:prstGeom>
          </p:spPr>
          <p:style>
            <a:lnRef idx="1">
              <a:schemeClr val="accent1"/>
            </a:lnRef>
            <a:fillRef idx="0">
              <a:schemeClr val="accent1"/>
            </a:fillRef>
            <a:effectRef idx="0">
              <a:schemeClr val="accent1"/>
            </a:effectRef>
            <a:fontRef idx="minor">
              <a:schemeClr val="tx1"/>
            </a:fontRef>
          </p:style>
        </p:cxnSp>
      </p:grpSp>
      <p:pic>
        <p:nvPicPr>
          <p:cNvPr id="10" name="图片 9" descr="2021最新山大logo标准组合(1)(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9137239" y="218668"/>
            <a:ext cx="2691130" cy="690245"/>
          </a:xfrm>
          <a:prstGeom prst="rect">
            <a:avLst/>
          </a:prstGeom>
          <a:noFill/>
          <a:ln>
            <a:noFill/>
          </a:ln>
        </p:spPr>
      </p:pic>
      <p:sp>
        <p:nvSpPr>
          <p:cNvPr id="19" name="矩形 18"/>
          <p:cNvSpPr/>
          <p:nvPr>
            <p:custDataLst>
              <p:tags r:id="rId2"/>
            </p:custDataLst>
          </p:nvPr>
        </p:nvSpPr>
        <p:spPr>
          <a:xfrm>
            <a:off x="515620" y="1137920"/>
            <a:ext cx="11311890" cy="5152390"/>
          </a:xfrm>
          <a:prstGeom prst="rect">
            <a:avLst/>
          </a:prstGeom>
        </p:spPr>
        <p:txBody>
          <a:bodyPr wrap="square">
            <a:noAutofit/>
          </a:bodyPr>
          <a:lstStyle/>
          <a:p>
            <a:pPr marL="285750" indent="-285750">
              <a:lnSpc>
                <a:spcPct val="150000"/>
              </a:lnSpc>
              <a:spcBef>
                <a:spcPct val="20000"/>
              </a:spcBef>
              <a:buSzPct val="100000"/>
              <a:buFont typeface="Wingdings" panose="05000000000000000000" charset="0"/>
              <a:buChar char="u"/>
            </a:pP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汽车电子领域遵循</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 ISO 26262 </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标准，航空领域采用</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 DO-178C </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标准，这些标准都明确要求代码覆盖率指标必须达到</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 100%</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，包括</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 C1</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（分支覆盖）和</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 MC/DC</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（修正条件判定覆盖）。这种严格的要求反映了嵌入式软件在安全关键应用中的重要地位。</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ISO 26262 </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是专门为汽车电气电子和软件组件设计的功能安全标准，由众多国际汽车制造商和供应商基于</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 ISO/IEC 61508 </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标准共同开发。该标准根据安全风险程度将系统划分为从</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 ASIL A</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（最低关键性）到</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 ASIL D</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（最高关键性）的汽车安全完整性等级，</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D </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级需要最苛刻的安全需求。对于软件开发，</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ISO 26262 </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强调基于风险的安全生命周期管理，要求采用</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 V </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模型或其他等效模型来确保安全相关软件的质量。</a:t>
            </a:r>
            <a:endPar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spcBef>
                <a:spcPct val="20000"/>
              </a:spcBef>
              <a:buSzPct val="100000"/>
              <a:buFont typeface="Wingdings" panose="05000000000000000000" charset="0"/>
              <a:buChar char="u"/>
            </a:pP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DO-178C </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是航空业的关键标准，为机载软件提供指导方针。该标准按照软件组件在飞行安全中的关键性进行分级，从</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 DAL E</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（无关键性）到</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 DAL A</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（最高关键性），最高等级对所有开发过程（包括代码生成和工具验证）均有严格的审查和验证要求。</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DO-178C </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强调通过严格的验证和确认活动来保证软件的安全性，通常采用瀑布模型或</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 V </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模型进行开发。</a:t>
            </a:r>
            <a:endPar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p:cNvSpPr txBox="1"/>
          <p:nvPr/>
        </p:nvSpPr>
        <p:spPr>
          <a:xfrm>
            <a:off x="602474" y="358140"/>
            <a:ext cx="2399030" cy="553085"/>
          </a:xfrm>
          <a:prstGeom prst="rect">
            <a:avLst/>
          </a:prstGeom>
          <a:noFill/>
        </p:spPr>
        <p:txBody>
          <a:bodyPr wrap="none" rtlCol="0">
            <a:spAutoFit/>
            <a:scene3d>
              <a:camera prst="orthographicFront"/>
              <a:lightRig rig="threePt" dir="t"/>
            </a:scene3d>
            <a:sp3d contourW="12700"/>
          </a:bodyPr>
          <a:lstStyle/>
          <a:p>
            <a:pPr algn="l"/>
            <a:r>
              <a:rPr lang="en-US" altLang="zh-CN" sz="3000" b="1" dirty="0">
                <a:solidFill>
                  <a:schemeClr val="accent2"/>
                </a:solidFill>
                <a:latin typeface="微软雅黑" panose="020B0503020204020204" pitchFamily="34" charset="-122"/>
                <a:ea typeface="微软雅黑" panose="020B0503020204020204" pitchFamily="34" charset="-122"/>
              </a:rPr>
              <a:t>4.1 </a:t>
            </a:r>
            <a:r>
              <a:rPr lang="zh-CN" altLang="en-US" sz="3000" b="1" dirty="0">
                <a:solidFill>
                  <a:schemeClr val="accent2"/>
                </a:solidFill>
                <a:latin typeface="微软雅黑" panose="020B0503020204020204" pitchFamily="34" charset="-122"/>
                <a:ea typeface="微软雅黑" panose="020B0503020204020204" pitchFamily="34" charset="-122"/>
              </a:rPr>
              <a:t>软件质量</a:t>
            </a:r>
            <a:endParaRPr lang="zh-CN" altLang="en-US" sz="3000" b="1" dirty="0">
              <a:solidFill>
                <a:schemeClr val="accent2"/>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667775" y="968635"/>
            <a:ext cx="10867390" cy="5438885"/>
            <a:chOff x="669290" y="1581150"/>
            <a:chExt cx="10867390" cy="5438885"/>
          </a:xfrm>
        </p:grpSpPr>
        <p:sp>
          <p:nvSpPr>
            <p:cNvPr id="4" name="矩形 3"/>
            <p:cNvSpPr/>
            <p:nvPr/>
          </p:nvSpPr>
          <p:spPr>
            <a:xfrm flipV="1">
              <a:off x="669290" y="1581150"/>
              <a:ext cx="5910580" cy="76200"/>
            </a:xfrm>
            <a:prstGeom prst="rect">
              <a:avLst/>
            </a:prstGeom>
            <a:ln>
              <a:solidFill>
                <a:srgbClr val="4B8E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p:cNvCxnSpPr/>
            <p:nvPr/>
          </p:nvCxnSpPr>
          <p:spPr>
            <a:xfrm>
              <a:off x="4500880" y="1584325"/>
              <a:ext cx="69786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669290" y="7020035"/>
              <a:ext cx="10867390" cy="0"/>
            </a:xfrm>
            <a:prstGeom prst="line">
              <a:avLst/>
            </a:prstGeom>
          </p:spPr>
          <p:style>
            <a:lnRef idx="1">
              <a:schemeClr val="accent1"/>
            </a:lnRef>
            <a:fillRef idx="0">
              <a:schemeClr val="accent1"/>
            </a:fillRef>
            <a:effectRef idx="0">
              <a:schemeClr val="accent1"/>
            </a:effectRef>
            <a:fontRef idx="minor">
              <a:schemeClr val="tx1"/>
            </a:fontRef>
          </p:style>
        </p:cxnSp>
      </p:grpSp>
      <p:pic>
        <p:nvPicPr>
          <p:cNvPr id="10" name="图片 9" descr="2021最新山大logo标准组合(1)(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9137239" y="218668"/>
            <a:ext cx="2691130" cy="690245"/>
          </a:xfrm>
          <a:prstGeom prst="rect">
            <a:avLst/>
          </a:prstGeom>
          <a:noFill/>
          <a:ln>
            <a:noFill/>
          </a:ln>
        </p:spPr>
      </p:pic>
      <p:sp>
        <p:nvSpPr>
          <p:cNvPr id="19" name="矩形 18"/>
          <p:cNvSpPr/>
          <p:nvPr>
            <p:custDataLst>
              <p:tags r:id="rId2"/>
            </p:custDataLst>
          </p:nvPr>
        </p:nvSpPr>
        <p:spPr>
          <a:xfrm>
            <a:off x="515620" y="1137920"/>
            <a:ext cx="11311890" cy="5152390"/>
          </a:xfrm>
          <a:prstGeom prst="rect">
            <a:avLst/>
          </a:prstGeom>
        </p:spPr>
        <p:txBody>
          <a:bodyPr wrap="square">
            <a:noAutofit/>
          </a:bodyPr>
          <a:lstStyle/>
          <a:p>
            <a:pPr marL="285750" indent="-285750">
              <a:lnSpc>
                <a:spcPct val="150000"/>
              </a:lnSpc>
              <a:spcBef>
                <a:spcPct val="20000"/>
              </a:spcBef>
              <a:buSzPct val="100000"/>
              <a:buFont typeface="Wingdings" panose="05000000000000000000" charset="0"/>
              <a:buChar char="u"/>
            </a:pPr>
            <a:r>
              <a:rPr lang="zh-CN" altLang="en-US" sz="2000" b="1" kern="100" dirty="0">
                <a:effectLst/>
                <a:latin typeface="微软雅黑" panose="020B0503020204020204" pitchFamily="34" charset="-122"/>
                <a:ea typeface="微软雅黑" panose="020B0503020204020204" pitchFamily="34" charset="-122"/>
                <a:cs typeface="微软雅黑" panose="020B0503020204020204" pitchFamily="34" charset="-122"/>
              </a:rPr>
              <a:t>嵌入式软件质量特性的优先级排序呈现出明显的特点：</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可靠性</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 &gt; </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功能性</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 &gt; </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效率</a:t>
            </a:r>
            <a:endPar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spcBef>
                <a:spcPct val="20000"/>
              </a:spcBef>
              <a:buSzPct val="100000"/>
              <a:buFont typeface="Wingdings" panose="05000000000000000000" charset="0"/>
              <a:buChar char="u"/>
            </a:pPr>
            <a:r>
              <a:rPr lang="zh-CN" altLang="en-US" sz="2000" b="1" kern="100" dirty="0">
                <a:effectLst/>
                <a:latin typeface="微软雅黑" panose="020B0503020204020204" pitchFamily="34" charset="-122"/>
                <a:ea typeface="微软雅黑" panose="020B0503020204020204" pitchFamily="34" charset="-122"/>
                <a:cs typeface="微软雅黑" panose="020B0503020204020204" pitchFamily="34" charset="-122"/>
                <a:sym typeface="+mn-ea"/>
              </a:rPr>
              <a:t>关键原因：</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sym typeface="+mn-ea"/>
              </a:rPr>
              <a:t>嵌入式软件多运行在专用硬件上，常涉及安全关键场景（如车载导航、工业机床控制），可靠性直接关联人身或设备安全；功能性需精准匹配硬件需求，效率则受限于嵌入式设备的资源约束（如存储、算力）。</a:t>
            </a:r>
            <a:endPar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spcBef>
                <a:spcPct val="20000"/>
              </a:spcBef>
              <a:buSzPct val="100000"/>
              <a:buFont typeface="Wingdings" panose="05000000000000000000" charset="0"/>
              <a:buChar char="u"/>
            </a:pPr>
            <a:endPar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p:cNvSpPr txBox="1"/>
          <p:nvPr/>
        </p:nvSpPr>
        <p:spPr>
          <a:xfrm>
            <a:off x="602474" y="358140"/>
            <a:ext cx="2399030" cy="553085"/>
          </a:xfrm>
          <a:prstGeom prst="rect">
            <a:avLst/>
          </a:prstGeom>
          <a:noFill/>
        </p:spPr>
        <p:txBody>
          <a:bodyPr wrap="none" rtlCol="0">
            <a:spAutoFit/>
            <a:scene3d>
              <a:camera prst="orthographicFront"/>
              <a:lightRig rig="threePt" dir="t"/>
            </a:scene3d>
            <a:sp3d contourW="12700"/>
          </a:bodyPr>
          <a:lstStyle/>
          <a:p>
            <a:pPr algn="l"/>
            <a:r>
              <a:rPr lang="en-US" altLang="zh-CN" sz="3000" b="1" dirty="0">
                <a:solidFill>
                  <a:schemeClr val="accent2"/>
                </a:solidFill>
                <a:latin typeface="微软雅黑" panose="020B0503020204020204" pitchFamily="34" charset="-122"/>
                <a:ea typeface="微软雅黑" panose="020B0503020204020204" pitchFamily="34" charset="-122"/>
              </a:rPr>
              <a:t>4.1 </a:t>
            </a:r>
            <a:r>
              <a:rPr lang="zh-CN" altLang="en-US" sz="3000" b="1" dirty="0">
                <a:solidFill>
                  <a:schemeClr val="accent2"/>
                </a:solidFill>
                <a:latin typeface="微软雅黑" panose="020B0503020204020204" pitchFamily="34" charset="-122"/>
                <a:ea typeface="微软雅黑" panose="020B0503020204020204" pitchFamily="34" charset="-122"/>
              </a:rPr>
              <a:t>软件质量</a:t>
            </a:r>
            <a:endParaRPr lang="zh-CN" altLang="en-US" sz="3000" b="1" dirty="0">
              <a:solidFill>
                <a:schemeClr val="accent2"/>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667775" y="968635"/>
            <a:ext cx="10867390" cy="5438885"/>
            <a:chOff x="669290" y="1581150"/>
            <a:chExt cx="10867390" cy="5438885"/>
          </a:xfrm>
        </p:grpSpPr>
        <p:sp>
          <p:nvSpPr>
            <p:cNvPr id="4" name="矩形 3"/>
            <p:cNvSpPr/>
            <p:nvPr/>
          </p:nvSpPr>
          <p:spPr>
            <a:xfrm flipV="1">
              <a:off x="669290" y="1581150"/>
              <a:ext cx="5910580" cy="76200"/>
            </a:xfrm>
            <a:prstGeom prst="rect">
              <a:avLst/>
            </a:prstGeom>
            <a:ln>
              <a:solidFill>
                <a:srgbClr val="4B8E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p:cNvCxnSpPr/>
            <p:nvPr/>
          </p:nvCxnSpPr>
          <p:spPr>
            <a:xfrm>
              <a:off x="4500880" y="1584325"/>
              <a:ext cx="69786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669290" y="7020035"/>
              <a:ext cx="10867390" cy="0"/>
            </a:xfrm>
            <a:prstGeom prst="line">
              <a:avLst/>
            </a:prstGeom>
          </p:spPr>
          <p:style>
            <a:lnRef idx="1">
              <a:schemeClr val="accent1"/>
            </a:lnRef>
            <a:fillRef idx="0">
              <a:schemeClr val="accent1"/>
            </a:fillRef>
            <a:effectRef idx="0">
              <a:schemeClr val="accent1"/>
            </a:effectRef>
            <a:fontRef idx="minor">
              <a:schemeClr val="tx1"/>
            </a:fontRef>
          </p:style>
        </p:cxnSp>
      </p:grpSp>
      <p:pic>
        <p:nvPicPr>
          <p:cNvPr id="10" name="图片 9" descr="2021最新山大logo标准组合(1)(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9137239" y="218668"/>
            <a:ext cx="2691130" cy="690245"/>
          </a:xfrm>
          <a:prstGeom prst="rect">
            <a:avLst/>
          </a:prstGeom>
          <a:noFill/>
          <a:ln>
            <a:noFill/>
          </a:ln>
        </p:spPr>
      </p:pic>
      <p:sp>
        <p:nvSpPr>
          <p:cNvPr id="19" name="矩形 18"/>
          <p:cNvSpPr/>
          <p:nvPr>
            <p:custDataLst>
              <p:tags r:id="rId2"/>
            </p:custDataLst>
          </p:nvPr>
        </p:nvSpPr>
        <p:spPr>
          <a:xfrm>
            <a:off x="515620" y="1137920"/>
            <a:ext cx="11311890" cy="5152390"/>
          </a:xfrm>
          <a:prstGeom prst="rect">
            <a:avLst/>
          </a:prstGeom>
        </p:spPr>
        <p:txBody>
          <a:bodyPr wrap="square">
            <a:noAutofit/>
          </a:bodyPr>
          <a:lstStyle/>
          <a:p>
            <a:pPr marL="285750" indent="-285750">
              <a:lnSpc>
                <a:spcPct val="150000"/>
              </a:lnSpc>
              <a:spcBef>
                <a:spcPct val="20000"/>
              </a:spcBef>
              <a:buSzPct val="100000"/>
              <a:buFont typeface="Wingdings" panose="05000000000000000000" charset="0"/>
              <a:buChar char="u"/>
            </a:pPr>
            <a:r>
              <a:rPr lang="zh-CN" altLang="en-US" sz="2000" b="1" kern="100" dirty="0">
                <a:effectLst/>
                <a:latin typeface="微软雅黑" panose="020B0503020204020204" pitchFamily="34" charset="-122"/>
                <a:ea typeface="微软雅黑" panose="020B0503020204020204" pitchFamily="34" charset="-122"/>
                <a:cs typeface="微软雅黑" panose="020B0503020204020204" pitchFamily="34" charset="-122"/>
              </a:rPr>
              <a:t>可靠性</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在嵌入式软件中占据绝对优先地位。由于嵌入式软件通常运行在专用硬件上，常涉及安全关键场景（如车载导航、工业机床控制），可靠性直接关联人身或设备安全。一个微小的软件故障可能导致严重的安全事故，因此可靠性成为嵌入式软件质量的首要考虑因素。</a:t>
            </a:r>
            <a:endPar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spcBef>
                <a:spcPct val="20000"/>
              </a:spcBef>
              <a:buSzPct val="100000"/>
              <a:buFont typeface="Wingdings" panose="05000000000000000000" charset="0"/>
              <a:buChar char="u"/>
            </a:pPr>
            <a:r>
              <a:rPr lang="zh-CN" altLang="en-US" sz="2000" b="1" kern="100" dirty="0">
                <a:effectLst/>
                <a:latin typeface="微软雅黑" panose="020B0503020204020204" pitchFamily="34" charset="-122"/>
                <a:ea typeface="微软雅黑" panose="020B0503020204020204" pitchFamily="34" charset="-122"/>
                <a:cs typeface="微软雅黑" panose="020B0503020204020204" pitchFamily="34" charset="-122"/>
              </a:rPr>
              <a:t>功能性</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是嵌入式软件的核心价值所在。嵌入式软件需要精准匹配硬件需求，完成特定的控制或监测功能。例如，汽车发动机控制软件必须精确控制燃油喷射、点火</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时间</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等参数；医疗设备中的软件必须准确监测患者生命体征并作出相应反应。功能性的准确性和完整性直接决定了设备的性能和安全性。</a:t>
            </a:r>
            <a:endPar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spcBef>
                <a:spcPct val="20000"/>
              </a:spcBef>
              <a:buSzPct val="100000"/>
              <a:buFont typeface="Wingdings" panose="05000000000000000000" charset="0"/>
              <a:buChar char="u"/>
            </a:pPr>
            <a:r>
              <a:rPr lang="zh-CN" altLang="en-US" sz="2000" b="1" kern="100" dirty="0">
                <a:effectLst/>
                <a:latin typeface="微软雅黑" panose="020B0503020204020204" pitchFamily="34" charset="-122"/>
                <a:ea typeface="微软雅黑" panose="020B0503020204020204" pitchFamily="34" charset="-122"/>
                <a:cs typeface="微软雅黑" panose="020B0503020204020204" pitchFamily="34" charset="-122"/>
              </a:rPr>
              <a:t>效率</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在嵌入式软件中受到资源约束的限制。嵌入式设备通常具有有限的计算资源（如</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 CPU</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、内存）和能源供应，因此软件必须在有限的资源约束下高效运行。这种效率要求不仅体现在执行速度上，还包括内存使用效率、功耗控制等多个方面。</a:t>
            </a:r>
            <a:endPar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p:cNvSpPr txBox="1"/>
          <p:nvPr/>
        </p:nvSpPr>
        <p:spPr>
          <a:xfrm>
            <a:off x="602474" y="358140"/>
            <a:ext cx="2399030" cy="553085"/>
          </a:xfrm>
          <a:prstGeom prst="rect">
            <a:avLst/>
          </a:prstGeom>
          <a:noFill/>
        </p:spPr>
        <p:txBody>
          <a:bodyPr wrap="none" rtlCol="0">
            <a:spAutoFit/>
            <a:scene3d>
              <a:camera prst="orthographicFront"/>
              <a:lightRig rig="threePt" dir="t"/>
            </a:scene3d>
            <a:sp3d contourW="12700"/>
          </a:bodyPr>
          <a:lstStyle/>
          <a:p>
            <a:pPr algn="l"/>
            <a:r>
              <a:rPr lang="en-US" altLang="zh-CN" sz="3000" b="1" dirty="0">
                <a:solidFill>
                  <a:schemeClr val="accent2"/>
                </a:solidFill>
                <a:latin typeface="微软雅黑" panose="020B0503020204020204" pitchFamily="34" charset="-122"/>
                <a:ea typeface="微软雅黑" panose="020B0503020204020204" pitchFamily="34" charset="-122"/>
              </a:rPr>
              <a:t>4.1 </a:t>
            </a:r>
            <a:r>
              <a:rPr lang="zh-CN" altLang="en-US" sz="3000" b="1" dirty="0">
                <a:solidFill>
                  <a:schemeClr val="accent2"/>
                </a:solidFill>
                <a:latin typeface="微软雅黑" panose="020B0503020204020204" pitchFamily="34" charset="-122"/>
                <a:ea typeface="微软雅黑" panose="020B0503020204020204" pitchFamily="34" charset="-122"/>
              </a:rPr>
              <a:t>软件质量</a:t>
            </a:r>
            <a:endParaRPr lang="zh-CN" altLang="en-US" sz="3000" b="1" dirty="0">
              <a:solidFill>
                <a:schemeClr val="accent2"/>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667775" y="968635"/>
            <a:ext cx="10867390" cy="5438885"/>
            <a:chOff x="669290" y="1581150"/>
            <a:chExt cx="10867390" cy="5438885"/>
          </a:xfrm>
        </p:grpSpPr>
        <p:sp>
          <p:nvSpPr>
            <p:cNvPr id="4" name="矩形 3"/>
            <p:cNvSpPr/>
            <p:nvPr/>
          </p:nvSpPr>
          <p:spPr>
            <a:xfrm flipV="1">
              <a:off x="669290" y="1581150"/>
              <a:ext cx="5910580" cy="76200"/>
            </a:xfrm>
            <a:prstGeom prst="rect">
              <a:avLst/>
            </a:prstGeom>
            <a:ln>
              <a:solidFill>
                <a:srgbClr val="4B8E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p:cNvCxnSpPr/>
            <p:nvPr/>
          </p:nvCxnSpPr>
          <p:spPr>
            <a:xfrm>
              <a:off x="4500880" y="1584325"/>
              <a:ext cx="69786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669290" y="7020035"/>
              <a:ext cx="10867390" cy="0"/>
            </a:xfrm>
            <a:prstGeom prst="line">
              <a:avLst/>
            </a:prstGeom>
          </p:spPr>
          <p:style>
            <a:lnRef idx="1">
              <a:schemeClr val="accent1"/>
            </a:lnRef>
            <a:fillRef idx="0">
              <a:schemeClr val="accent1"/>
            </a:fillRef>
            <a:effectRef idx="0">
              <a:schemeClr val="accent1"/>
            </a:effectRef>
            <a:fontRef idx="minor">
              <a:schemeClr val="tx1"/>
            </a:fontRef>
          </p:style>
        </p:cxnSp>
      </p:grpSp>
      <p:pic>
        <p:nvPicPr>
          <p:cNvPr id="10" name="图片 9" descr="2021最新山大logo标准组合(1)(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9137239" y="218668"/>
            <a:ext cx="2691130" cy="690245"/>
          </a:xfrm>
          <a:prstGeom prst="rect">
            <a:avLst/>
          </a:prstGeom>
          <a:noFill/>
          <a:ln>
            <a:noFill/>
          </a:ln>
        </p:spPr>
      </p:pic>
      <p:sp>
        <p:nvSpPr>
          <p:cNvPr id="19" name="矩形 18"/>
          <p:cNvSpPr/>
          <p:nvPr>
            <p:custDataLst>
              <p:tags r:id="rId2"/>
            </p:custDataLst>
          </p:nvPr>
        </p:nvSpPr>
        <p:spPr>
          <a:xfrm>
            <a:off x="515620" y="1137920"/>
            <a:ext cx="11311890" cy="5152390"/>
          </a:xfrm>
          <a:prstGeom prst="rect">
            <a:avLst/>
          </a:prstGeom>
        </p:spPr>
        <p:txBody>
          <a:bodyPr wrap="square">
            <a:noAutofit/>
          </a:bodyPr>
          <a:lstStyle/>
          <a:p>
            <a:pPr marL="342900" indent="-342900">
              <a:lnSpc>
                <a:spcPct val="150000"/>
              </a:lnSpc>
              <a:spcBef>
                <a:spcPct val="20000"/>
              </a:spcBef>
              <a:buSzPct val="100000"/>
              <a:buFont typeface="Wingdings" panose="05000000000000000000" charset="0"/>
              <a:buChar char="l"/>
            </a:pPr>
            <a:r>
              <a:rPr lang="en-US" altLang="zh-CN" sz="2000" b="1" kern="100" dirty="0">
                <a:effectLst/>
                <a:latin typeface="微软雅黑" panose="020B0503020204020204" pitchFamily="34" charset="-122"/>
                <a:ea typeface="微软雅黑" panose="020B0503020204020204" pitchFamily="34" charset="-122"/>
                <a:cs typeface="微软雅黑" panose="020B0503020204020204" pitchFamily="34" charset="-122"/>
                <a:sym typeface="+mn-ea"/>
              </a:rPr>
              <a:t>4.2 </a:t>
            </a:r>
            <a:r>
              <a:rPr lang="zh-CN" altLang="en-US" sz="2000" b="1" kern="100" dirty="0">
                <a:effectLst/>
                <a:latin typeface="微软雅黑" panose="020B0503020204020204" pitchFamily="34" charset="-122"/>
                <a:ea typeface="微软雅黑" panose="020B0503020204020204" pitchFamily="34" charset="-122"/>
                <a:cs typeface="微软雅黑" panose="020B0503020204020204" pitchFamily="34" charset="-122"/>
                <a:sym typeface="+mn-ea"/>
              </a:rPr>
              <a:t>桌面应用软件的质量特性要求</a:t>
            </a:r>
            <a:endPar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spcBef>
                <a:spcPct val="20000"/>
              </a:spcBef>
              <a:buSzPct val="100000"/>
              <a:buFont typeface="Wingdings" panose="05000000000000000000" charset="0"/>
              <a:buChar char="u"/>
            </a:pP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桌面应用软件是用户日常工作和生活中接触最频繁的软件类型，包括办公软件、设计工具、娱乐软件等。这类软件的特点决定了其质量特性要求与嵌入式软件存在显著差异。</a:t>
            </a:r>
            <a:endPar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spcBef>
                <a:spcPct val="20000"/>
              </a:spcBef>
              <a:buSzPct val="100000"/>
              <a:buFont typeface="Wingdings" panose="05000000000000000000" charset="0"/>
              <a:buChar char="u"/>
            </a:pP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办公软件的核心质量要素体现了桌面应用软件的典型需求。一款合格的办公软件通常需要具备五个核心要素：功能全面、操作简便、安全可靠、兼容性强、良好支持与服务。这些要素反映了桌面应用软件在实际使用中的关键需求。</a:t>
            </a:r>
            <a:endPar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spcBef>
                <a:spcPct val="20000"/>
              </a:spcBef>
              <a:buSzPct val="100000"/>
              <a:buFont typeface="Wingdings" panose="05000000000000000000" charset="0"/>
              <a:buChar char="u"/>
            </a:pP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功能全面性要求办公软件提供完整的功能集，包括文档编辑、表格处理、演示设计等核心功能。操作简便性强调软件界面友好、操作流程简洁，用户能够快速上手并高效完成工作。安全可靠性关注软件在使用过程中保护用户数据和隐私的能力，防止数据丢失和泄露。兼容性要求软件能够在不同操作系统、设备和平台上无缝运行。</a:t>
            </a:r>
            <a:endPar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p:cNvSpPr txBox="1"/>
          <p:nvPr/>
        </p:nvSpPr>
        <p:spPr>
          <a:xfrm>
            <a:off x="602474" y="358140"/>
            <a:ext cx="2399030" cy="553085"/>
          </a:xfrm>
          <a:prstGeom prst="rect">
            <a:avLst/>
          </a:prstGeom>
          <a:noFill/>
        </p:spPr>
        <p:txBody>
          <a:bodyPr wrap="none" rtlCol="0">
            <a:spAutoFit/>
            <a:scene3d>
              <a:camera prst="orthographicFront"/>
              <a:lightRig rig="threePt" dir="t"/>
            </a:scene3d>
            <a:sp3d contourW="12700"/>
          </a:bodyPr>
          <a:lstStyle/>
          <a:p>
            <a:pPr algn="l"/>
            <a:r>
              <a:rPr lang="en-US" altLang="zh-CN" sz="3000" b="1" dirty="0">
                <a:solidFill>
                  <a:schemeClr val="accent2"/>
                </a:solidFill>
                <a:latin typeface="微软雅黑" panose="020B0503020204020204" pitchFamily="34" charset="-122"/>
                <a:ea typeface="微软雅黑" panose="020B0503020204020204" pitchFamily="34" charset="-122"/>
              </a:rPr>
              <a:t>4.1 </a:t>
            </a:r>
            <a:r>
              <a:rPr lang="zh-CN" altLang="en-US" sz="3000" b="1" dirty="0">
                <a:solidFill>
                  <a:schemeClr val="accent2"/>
                </a:solidFill>
                <a:latin typeface="微软雅黑" panose="020B0503020204020204" pitchFamily="34" charset="-122"/>
                <a:ea typeface="微软雅黑" panose="020B0503020204020204" pitchFamily="34" charset="-122"/>
              </a:rPr>
              <a:t>软件质量</a:t>
            </a:r>
            <a:endParaRPr lang="zh-CN" altLang="en-US" sz="3000" b="1" dirty="0">
              <a:solidFill>
                <a:schemeClr val="accent2"/>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667775" y="968635"/>
            <a:ext cx="10867390" cy="5438885"/>
            <a:chOff x="669290" y="1581150"/>
            <a:chExt cx="10867390" cy="5438885"/>
          </a:xfrm>
        </p:grpSpPr>
        <p:sp>
          <p:nvSpPr>
            <p:cNvPr id="4" name="矩形 3"/>
            <p:cNvSpPr/>
            <p:nvPr/>
          </p:nvSpPr>
          <p:spPr>
            <a:xfrm flipV="1">
              <a:off x="669290" y="1581150"/>
              <a:ext cx="5910580" cy="76200"/>
            </a:xfrm>
            <a:prstGeom prst="rect">
              <a:avLst/>
            </a:prstGeom>
            <a:ln>
              <a:solidFill>
                <a:srgbClr val="4B8E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p:cNvCxnSpPr/>
            <p:nvPr/>
          </p:nvCxnSpPr>
          <p:spPr>
            <a:xfrm>
              <a:off x="4500880" y="1584325"/>
              <a:ext cx="69786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669290" y="7020035"/>
              <a:ext cx="10867390" cy="0"/>
            </a:xfrm>
            <a:prstGeom prst="line">
              <a:avLst/>
            </a:prstGeom>
          </p:spPr>
          <p:style>
            <a:lnRef idx="1">
              <a:schemeClr val="accent1"/>
            </a:lnRef>
            <a:fillRef idx="0">
              <a:schemeClr val="accent1"/>
            </a:fillRef>
            <a:effectRef idx="0">
              <a:schemeClr val="accent1"/>
            </a:effectRef>
            <a:fontRef idx="minor">
              <a:schemeClr val="tx1"/>
            </a:fontRef>
          </p:style>
        </p:cxnSp>
      </p:grpSp>
      <p:pic>
        <p:nvPicPr>
          <p:cNvPr id="10" name="图片 9" descr="2021最新山大logo标准组合(1)(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9137239" y="218668"/>
            <a:ext cx="2691130" cy="690245"/>
          </a:xfrm>
          <a:prstGeom prst="rect">
            <a:avLst/>
          </a:prstGeom>
          <a:noFill/>
          <a:ln>
            <a:noFill/>
          </a:ln>
        </p:spPr>
      </p:pic>
      <p:sp>
        <p:nvSpPr>
          <p:cNvPr id="19" name="矩形 18"/>
          <p:cNvSpPr/>
          <p:nvPr>
            <p:custDataLst>
              <p:tags r:id="rId2"/>
            </p:custDataLst>
          </p:nvPr>
        </p:nvSpPr>
        <p:spPr>
          <a:xfrm>
            <a:off x="515620" y="1137920"/>
            <a:ext cx="11311890" cy="5152390"/>
          </a:xfrm>
          <a:prstGeom prst="rect">
            <a:avLst/>
          </a:prstGeom>
        </p:spPr>
        <p:txBody>
          <a:bodyPr wrap="square">
            <a:noAutofit/>
          </a:bodyPr>
          <a:lstStyle/>
          <a:p>
            <a:pPr marL="285750" indent="-285750">
              <a:lnSpc>
                <a:spcPct val="150000"/>
              </a:lnSpc>
              <a:spcBef>
                <a:spcPct val="20000"/>
              </a:spcBef>
              <a:buSzPct val="100000"/>
              <a:buFont typeface="Wingdings" panose="05000000000000000000" charset="0"/>
              <a:buChar char="u"/>
            </a:pPr>
            <a:r>
              <a:rPr lang="zh-CN" altLang="en-US" sz="2000" b="1" kern="100" dirty="0">
                <a:effectLst/>
                <a:latin typeface="微软雅黑" panose="020B0503020204020204" pitchFamily="34" charset="-122"/>
                <a:ea typeface="微软雅黑" panose="020B0503020204020204" pitchFamily="34" charset="-122"/>
                <a:cs typeface="微软雅黑" panose="020B0503020204020204" pitchFamily="34" charset="-122"/>
              </a:rPr>
              <a:t>桌面应用软件质量特性的优先级排序为：</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易用性</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 &gt; </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功能性</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 &gt; </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可维护性</a:t>
            </a:r>
            <a:endPar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spcBef>
                <a:spcPct val="20000"/>
              </a:spcBef>
              <a:buSzPct val="100000"/>
              <a:buFont typeface="Wingdings" panose="05000000000000000000" charset="0"/>
              <a:buChar char="u"/>
            </a:pPr>
            <a:r>
              <a:rPr lang="zh-CN" altLang="en-US" sz="2000" b="1" kern="100" dirty="0">
                <a:effectLst/>
                <a:latin typeface="微软雅黑" panose="020B0503020204020204" pitchFamily="34" charset="-122"/>
                <a:ea typeface="微软雅黑" panose="020B0503020204020204" pitchFamily="34" charset="-122"/>
                <a:cs typeface="微软雅黑" panose="020B0503020204020204" pitchFamily="34" charset="-122"/>
              </a:rPr>
              <a:t>关键原因：</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桌面软件面向普通用户或专业从业者，易用性直接影响用户体验（如办公软件的操作流畅度）；功能性需覆盖多样化使用场景（如设计工具的多格式支持）；可维护性则关系到后续版本迭代与</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 bug </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修复效率。</a:t>
            </a:r>
            <a:endPar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spcBef>
                <a:spcPct val="20000"/>
              </a:spcBef>
              <a:buSzPct val="100000"/>
              <a:buFont typeface="Wingdings" panose="05000000000000000000" charset="0"/>
              <a:buChar char="u"/>
            </a:pPr>
            <a:endPar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p:cNvSpPr txBox="1"/>
          <p:nvPr/>
        </p:nvSpPr>
        <p:spPr>
          <a:xfrm>
            <a:off x="602474" y="358140"/>
            <a:ext cx="2399030" cy="553085"/>
          </a:xfrm>
          <a:prstGeom prst="rect">
            <a:avLst/>
          </a:prstGeom>
          <a:noFill/>
        </p:spPr>
        <p:txBody>
          <a:bodyPr wrap="none" rtlCol="0">
            <a:spAutoFit/>
            <a:scene3d>
              <a:camera prst="orthographicFront"/>
              <a:lightRig rig="threePt" dir="t"/>
            </a:scene3d>
            <a:sp3d contourW="12700"/>
          </a:bodyPr>
          <a:lstStyle/>
          <a:p>
            <a:pPr algn="l"/>
            <a:r>
              <a:rPr lang="en-US" altLang="zh-CN" sz="3000" b="1" dirty="0">
                <a:solidFill>
                  <a:schemeClr val="accent2"/>
                </a:solidFill>
                <a:latin typeface="微软雅黑" panose="020B0503020204020204" pitchFamily="34" charset="-122"/>
                <a:ea typeface="微软雅黑" panose="020B0503020204020204" pitchFamily="34" charset="-122"/>
              </a:rPr>
              <a:t>4.1 </a:t>
            </a:r>
            <a:r>
              <a:rPr lang="zh-CN" altLang="en-US" sz="3000" b="1" dirty="0">
                <a:solidFill>
                  <a:schemeClr val="accent2"/>
                </a:solidFill>
                <a:latin typeface="微软雅黑" panose="020B0503020204020204" pitchFamily="34" charset="-122"/>
                <a:ea typeface="微软雅黑" panose="020B0503020204020204" pitchFamily="34" charset="-122"/>
              </a:rPr>
              <a:t>软件质量</a:t>
            </a:r>
            <a:endParaRPr lang="zh-CN" altLang="en-US" sz="3000" b="1" dirty="0">
              <a:solidFill>
                <a:schemeClr val="accent2"/>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667775" y="968635"/>
            <a:ext cx="10867390" cy="5438885"/>
            <a:chOff x="669290" y="1581150"/>
            <a:chExt cx="10867390" cy="5438885"/>
          </a:xfrm>
        </p:grpSpPr>
        <p:sp>
          <p:nvSpPr>
            <p:cNvPr id="4" name="矩形 3"/>
            <p:cNvSpPr/>
            <p:nvPr/>
          </p:nvSpPr>
          <p:spPr>
            <a:xfrm flipV="1">
              <a:off x="669290" y="1581150"/>
              <a:ext cx="5910580" cy="76200"/>
            </a:xfrm>
            <a:prstGeom prst="rect">
              <a:avLst/>
            </a:prstGeom>
            <a:ln>
              <a:solidFill>
                <a:srgbClr val="4B8E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p:cNvCxnSpPr/>
            <p:nvPr/>
          </p:nvCxnSpPr>
          <p:spPr>
            <a:xfrm>
              <a:off x="4500880" y="1584325"/>
              <a:ext cx="69786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669290" y="7020035"/>
              <a:ext cx="10867390" cy="0"/>
            </a:xfrm>
            <a:prstGeom prst="line">
              <a:avLst/>
            </a:prstGeom>
          </p:spPr>
          <p:style>
            <a:lnRef idx="1">
              <a:schemeClr val="accent1"/>
            </a:lnRef>
            <a:fillRef idx="0">
              <a:schemeClr val="accent1"/>
            </a:fillRef>
            <a:effectRef idx="0">
              <a:schemeClr val="accent1"/>
            </a:effectRef>
            <a:fontRef idx="minor">
              <a:schemeClr val="tx1"/>
            </a:fontRef>
          </p:style>
        </p:cxnSp>
      </p:grpSp>
      <p:pic>
        <p:nvPicPr>
          <p:cNvPr id="10" name="图片 9" descr="2021最新山大logo标准组合(1)(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9137239" y="218668"/>
            <a:ext cx="2691130" cy="690245"/>
          </a:xfrm>
          <a:prstGeom prst="rect">
            <a:avLst/>
          </a:prstGeom>
          <a:noFill/>
          <a:ln>
            <a:noFill/>
          </a:ln>
        </p:spPr>
      </p:pic>
      <p:sp>
        <p:nvSpPr>
          <p:cNvPr id="19" name="矩形 18"/>
          <p:cNvSpPr/>
          <p:nvPr>
            <p:custDataLst>
              <p:tags r:id="rId2"/>
            </p:custDataLst>
          </p:nvPr>
        </p:nvSpPr>
        <p:spPr>
          <a:xfrm>
            <a:off x="515620" y="1137920"/>
            <a:ext cx="11311890" cy="5152390"/>
          </a:xfrm>
          <a:prstGeom prst="rect">
            <a:avLst/>
          </a:prstGeom>
        </p:spPr>
        <p:txBody>
          <a:bodyPr wrap="square">
            <a:noAutofit/>
          </a:bodyPr>
          <a:lstStyle/>
          <a:p>
            <a:pPr marL="285750" indent="-285750">
              <a:lnSpc>
                <a:spcPct val="150000"/>
              </a:lnSpc>
              <a:spcBef>
                <a:spcPct val="20000"/>
              </a:spcBef>
              <a:buSzPct val="100000"/>
              <a:buFont typeface="Wingdings" panose="05000000000000000000" charset="0"/>
              <a:buChar char="u"/>
            </a:pPr>
            <a:r>
              <a:rPr lang="zh-CN" altLang="en-US" sz="2000" b="1" kern="100" dirty="0">
                <a:effectLst/>
                <a:latin typeface="微软雅黑" panose="020B0503020204020204" pitchFamily="34" charset="-122"/>
                <a:ea typeface="微软雅黑" panose="020B0503020204020204" pitchFamily="34" charset="-122"/>
                <a:cs typeface="微软雅黑" panose="020B0503020204020204" pitchFamily="34" charset="-122"/>
              </a:rPr>
              <a:t>易用性</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在桌面应用软件中占据主导地位。桌面软件面向普通用户或专业从业者，易用性直接影响用户体验和工作效率。例如，办公软件的操作流畅度、界面布局的合理性、功能的可发现性等都直接决定了用户对软件的满意度。用户通常愿意为更好的用户体验支付更高的价格，这使得易用性成为桌面软件的核心竞争力。</a:t>
            </a:r>
            <a:endPar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spcBef>
                <a:spcPct val="20000"/>
              </a:spcBef>
              <a:buSzPct val="100000"/>
              <a:buFont typeface="Wingdings" panose="05000000000000000000" charset="0"/>
              <a:buChar char="u"/>
            </a:pPr>
            <a:r>
              <a:rPr lang="zh-CN" altLang="en-US" sz="2000" b="1" kern="100" dirty="0">
                <a:effectLst/>
                <a:latin typeface="微软雅黑" panose="020B0503020204020204" pitchFamily="34" charset="-122"/>
                <a:ea typeface="微软雅黑" panose="020B0503020204020204" pitchFamily="34" charset="-122"/>
                <a:cs typeface="微软雅黑" panose="020B0503020204020204" pitchFamily="34" charset="-122"/>
              </a:rPr>
              <a:t>功能性</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是桌面应用软件的价值基础。桌面软件需要覆盖多样化的使用场景，满足不同用户群体的功能需求。例如，设计工具需要支持多种格式的文件导入导出、提供丰富的设计工具和特效；办公软件需要支持复杂的文档格式、提供强大的数据处理能力。功能性的完整性和先进性直接决定了软件的市场竞争力。</a:t>
            </a:r>
            <a:endPar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spcBef>
                <a:spcPct val="20000"/>
              </a:spcBef>
              <a:buSzPct val="100000"/>
              <a:buFont typeface="Wingdings" panose="05000000000000000000" charset="0"/>
              <a:buChar char="u"/>
            </a:pPr>
            <a:r>
              <a:rPr lang="zh-CN" altLang="en-US" sz="2000" b="1" kern="100" dirty="0">
                <a:effectLst/>
                <a:latin typeface="微软雅黑" panose="020B0503020204020204" pitchFamily="34" charset="-122"/>
                <a:ea typeface="微软雅黑" panose="020B0503020204020204" pitchFamily="34" charset="-122"/>
                <a:cs typeface="微软雅黑" panose="020B0503020204020204" pitchFamily="34" charset="-122"/>
              </a:rPr>
              <a:t>可维护性</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在桌面应用软件中具有长期价值。桌面软件通常需要经历多次版本迭代，以修复</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 bug</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、增加新功能、适应新的操作系统。良好的可维护性能够降低软件的维护成本，加快版本更新速度，提高软件的市场响应能力。</a:t>
            </a:r>
            <a:endPar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p:cNvSpPr txBox="1"/>
          <p:nvPr/>
        </p:nvSpPr>
        <p:spPr>
          <a:xfrm>
            <a:off x="602474" y="358140"/>
            <a:ext cx="2399030" cy="553085"/>
          </a:xfrm>
          <a:prstGeom prst="rect">
            <a:avLst/>
          </a:prstGeom>
          <a:noFill/>
        </p:spPr>
        <p:txBody>
          <a:bodyPr wrap="none" rtlCol="0">
            <a:spAutoFit/>
            <a:scene3d>
              <a:camera prst="orthographicFront"/>
              <a:lightRig rig="threePt" dir="t"/>
            </a:scene3d>
            <a:sp3d contourW="12700"/>
          </a:bodyPr>
          <a:lstStyle/>
          <a:p>
            <a:pPr algn="l"/>
            <a:r>
              <a:rPr lang="en-US" altLang="zh-CN" sz="3000" b="1" dirty="0">
                <a:solidFill>
                  <a:schemeClr val="accent2"/>
                </a:solidFill>
                <a:latin typeface="微软雅黑" panose="020B0503020204020204" pitchFamily="34" charset="-122"/>
                <a:ea typeface="微软雅黑" panose="020B0503020204020204" pitchFamily="34" charset="-122"/>
              </a:rPr>
              <a:t>4.1 </a:t>
            </a:r>
            <a:r>
              <a:rPr lang="zh-CN" altLang="en-US" sz="3000" b="1" dirty="0">
                <a:solidFill>
                  <a:schemeClr val="accent2"/>
                </a:solidFill>
                <a:latin typeface="微软雅黑" panose="020B0503020204020204" pitchFamily="34" charset="-122"/>
                <a:ea typeface="微软雅黑" panose="020B0503020204020204" pitchFamily="34" charset="-122"/>
              </a:rPr>
              <a:t>软件质量</a:t>
            </a:r>
            <a:endParaRPr lang="zh-CN" altLang="en-US" sz="3000" b="1" dirty="0">
              <a:solidFill>
                <a:schemeClr val="accent2"/>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667775" y="968635"/>
            <a:ext cx="10867390" cy="5438885"/>
            <a:chOff x="669290" y="1581150"/>
            <a:chExt cx="10867390" cy="5438885"/>
          </a:xfrm>
        </p:grpSpPr>
        <p:sp>
          <p:nvSpPr>
            <p:cNvPr id="4" name="矩形 3"/>
            <p:cNvSpPr/>
            <p:nvPr/>
          </p:nvSpPr>
          <p:spPr>
            <a:xfrm flipV="1">
              <a:off x="669290" y="1581150"/>
              <a:ext cx="5910580" cy="76200"/>
            </a:xfrm>
            <a:prstGeom prst="rect">
              <a:avLst/>
            </a:prstGeom>
            <a:ln>
              <a:solidFill>
                <a:srgbClr val="4B8E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p:cNvCxnSpPr/>
            <p:nvPr/>
          </p:nvCxnSpPr>
          <p:spPr>
            <a:xfrm>
              <a:off x="4500880" y="1584325"/>
              <a:ext cx="69786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669290" y="7020035"/>
              <a:ext cx="10867390" cy="0"/>
            </a:xfrm>
            <a:prstGeom prst="line">
              <a:avLst/>
            </a:prstGeom>
          </p:spPr>
          <p:style>
            <a:lnRef idx="1">
              <a:schemeClr val="accent1"/>
            </a:lnRef>
            <a:fillRef idx="0">
              <a:schemeClr val="accent1"/>
            </a:fillRef>
            <a:effectRef idx="0">
              <a:schemeClr val="accent1"/>
            </a:effectRef>
            <a:fontRef idx="minor">
              <a:schemeClr val="tx1"/>
            </a:fontRef>
          </p:style>
        </p:cxnSp>
      </p:grpSp>
      <p:pic>
        <p:nvPicPr>
          <p:cNvPr id="10" name="图片 9" descr="2021最新山大logo标准组合(1)(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9137239" y="218668"/>
            <a:ext cx="2691130" cy="690245"/>
          </a:xfrm>
          <a:prstGeom prst="rect">
            <a:avLst/>
          </a:prstGeom>
          <a:noFill/>
          <a:ln>
            <a:noFill/>
          </a:ln>
        </p:spPr>
      </p:pic>
      <p:sp>
        <p:nvSpPr>
          <p:cNvPr id="19" name="矩形 18"/>
          <p:cNvSpPr/>
          <p:nvPr>
            <p:custDataLst>
              <p:tags r:id="rId2"/>
            </p:custDataLst>
          </p:nvPr>
        </p:nvSpPr>
        <p:spPr>
          <a:xfrm>
            <a:off x="515620" y="1137920"/>
            <a:ext cx="11311890" cy="5152390"/>
          </a:xfrm>
          <a:prstGeom prst="rect">
            <a:avLst/>
          </a:prstGeom>
        </p:spPr>
        <p:txBody>
          <a:bodyPr wrap="square">
            <a:noAutofit/>
          </a:bodyPr>
          <a:lstStyle/>
          <a:p>
            <a:pPr marL="342900" indent="-342900">
              <a:lnSpc>
                <a:spcPct val="150000"/>
              </a:lnSpc>
              <a:spcBef>
                <a:spcPct val="20000"/>
              </a:spcBef>
              <a:buSzPct val="100000"/>
              <a:buFont typeface="Wingdings" panose="05000000000000000000" charset="0"/>
              <a:buChar char="l"/>
            </a:pPr>
            <a:r>
              <a:rPr lang="en-US" altLang="zh-CN" sz="2000" b="1" kern="100" dirty="0">
                <a:effectLst/>
                <a:latin typeface="微软雅黑" panose="020B0503020204020204" pitchFamily="34" charset="-122"/>
                <a:ea typeface="微软雅黑" panose="020B0503020204020204" pitchFamily="34" charset="-122"/>
                <a:cs typeface="微软雅黑" panose="020B0503020204020204" pitchFamily="34" charset="-122"/>
              </a:rPr>
              <a:t>Web </a:t>
            </a:r>
            <a:r>
              <a:rPr lang="zh-CN" altLang="en-US" sz="2000" b="1" kern="100" dirty="0">
                <a:effectLst/>
                <a:latin typeface="微软雅黑" panose="020B0503020204020204" pitchFamily="34" charset="-122"/>
                <a:ea typeface="微软雅黑" panose="020B0503020204020204" pitchFamily="34" charset="-122"/>
                <a:cs typeface="微软雅黑" panose="020B0503020204020204" pitchFamily="34" charset="-122"/>
              </a:rPr>
              <a:t>应用软件的质量特性要求</a:t>
            </a:r>
            <a:endPar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spcBef>
                <a:spcPct val="20000"/>
              </a:spcBef>
              <a:buSzPct val="100000"/>
              <a:buFont typeface="Wingdings" panose="05000000000000000000" charset="0"/>
              <a:buChar char="u"/>
            </a:pP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Web </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应用软件是当前软件开发的主流方向，包括电商平台、社交网络、企业信息系统等。这类软件的特点决定了其质量特性要求具有独特的优先级排序。</a:t>
            </a:r>
            <a:endPar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spcBef>
                <a:spcPct val="20000"/>
              </a:spcBef>
              <a:buSzPct val="100000"/>
              <a:buFont typeface="Wingdings" panose="05000000000000000000" charset="0"/>
              <a:buChar char="u"/>
            </a:pP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电商系统的关键质量特性体现了</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 Web </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应用软件的典型需求。评价一个好的电商商城系统，通常从五个关键特性进行评估：用户体验、功能全面性、安全性、可扩展性、售后服务。这些特性反映了</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 Web </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应用软件在复杂网络环境中的特殊需求。</a:t>
            </a:r>
            <a:endPar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spcBef>
                <a:spcPct val="20000"/>
              </a:spcBef>
              <a:buSzPct val="100000"/>
              <a:buFont typeface="Wingdings" panose="05000000000000000000" charset="0"/>
              <a:buChar char="u"/>
            </a:pP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用户体验在电商系统中至关重要，直接影响用户的购买决策和复购率。功能全面性要求电商系统支持商品展示、购物车管理、订单处理、支付结算等完整的业务流程。安全性涉及用户数据保护、支付安全、防止恶意攻击等多个方面。可扩展性确保系统能够应对业务增长和功能扩展的需求。</a:t>
            </a:r>
            <a:endPar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p:cNvSpPr txBox="1"/>
          <p:nvPr/>
        </p:nvSpPr>
        <p:spPr>
          <a:xfrm>
            <a:off x="602474" y="358140"/>
            <a:ext cx="2399030" cy="553085"/>
          </a:xfrm>
          <a:prstGeom prst="rect">
            <a:avLst/>
          </a:prstGeom>
          <a:noFill/>
        </p:spPr>
        <p:txBody>
          <a:bodyPr wrap="none" rtlCol="0">
            <a:spAutoFit/>
            <a:scene3d>
              <a:camera prst="orthographicFront"/>
              <a:lightRig rig="threePt" dir="t"/>
            </a:scene3d>
            <a:sp3d contourW="12700"/>
          </a:bodyPr>
          <a:lstStyle/>
          <a:p>
            <a:pPr algn="l"/>
            <a:r>
              <a:rPr lang="en-US" altLang="zh-CN" sz="3000" b="1" dirty="0">
                <a:solidFill>
                  <a:schemeClr val="accent2"/>
                </a:solidFill>
                <a:latin typeface="微软雅黑" panose="020B0503020204020204" pitchFamily="34" charset="-122"/>
                <a:ea typeface="微软雅黑" panose="020B0503020204020204" pitchFamily="34" charset="-122"/>
              </a:rPr>
              <a:t>4.1 </a:t>
            </a:r>
            <a:r>
              <a:rPr lang="zh-CN" altLang="en-US" sz="3000" b="1" dirty="0">
                <a:solidFill>
                  <a:schemeClr val="accent2"/>
                </a:solidFill>
                <a:latin typeface="微软雅黑" panose="020B0503020204020204" pitchFamily="34" charset="-122"/>
                <a:ea typeface="微软雅黑" panose="020B0503020204020204" pitchFamily="34" charset="-122"/>
              </a:rPr>
              <a:t>软件质量</a:t>
            </a:r>
            <a:endParaRPr lang="zh-CN" altLang="en-US" sz="3000" b="1" dirty="0">
              <a:solidFill>
                <a:schemeClr val="accent2"/>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667775" y="968635"/>
            <a:ext cx="10867390" cy="5438885"/>
            <a:chOff x="669290" y="1581150"/>
            <a:chExt cx="10867390" cy="5438885"/>
          </a:xfrm>
        </p:grpSpPr>
        <p:sp>
          <p:nvSpPr>
            <p:cNvPr id="4" name="矩形 3"/>
            <p:cNvSpPr/>
            <p:nvPr/>
          </p:nvSpPr>
          <p:spPr>
            <a:xfrm flipV="1">
              <a:off x="669290" y="1581150"/>
              <a:ext cx="5910580" cy="76200"/>
            </a:xfrm>
            <a:prstGeom prst="rect">
              <a:avLst/>
            </a:prstGeom>
            <a:ln>
              <a:solidFill>
                <a:srgbClr val="4B8E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p:cNvCxnSpPr/>
            <p:nvPr/>
          </p:nvCxnSpPr>
          <p:spPr>
            <a:xfrm>
              <a:off x="4500880" y="1584325"/>
              <a:ext cx="69786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669290" y="7020035"/>
              <a:ext cx="10867390" cy="0"/>
            </a:xfrm>
            <a:prstGeom prst="line">
              <a:avLst/>
            </a:prstGeom>
          </p:spPr>
          <p:style>
            <a:lnRef idx="1">
              <a:schemeClr val="accent1"/>
            </a:lnRef>
            <a:fillRef idx="0">
              <a:schemeClr val="accent1"/>
            </a:fillRef>
            <a:effectRef idx="0">
              <a:schemeClr val="accent1"/>
            </a:effectRef>
            <a:fontRef idx="minor">
              <a:schemeClr val="tx1"/>
            </a:fontRef>
          </p:style>
        </p:cxnSp>
      </p:grpSp>
      <p:pic>
        <p:nvPicPr>
          <p:cNvPr id="10" name="图片 9" descr="2021最新山大logo标准组合(1)(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9137239" y="218668"/>
            <a:ext cx="2691130" cy="690245"/>
          </a:xfrm>
          <a:prstGeom prst="rect">
            <a:avLst/>
          </a:prstGeom>
          <a:noFill/>
          <a:ln>
            <a:noFill/>
          </a:ln>
        </p:spPr>
      </p:pic>
      <p:sp>
        <p:nvSpPr>
          <p:cNvPr id="19" name="矩形 18"/>
          <p:cNvSpPr/>
          <p:nvPr>
            <p:custDataLst>
              <p:tags r:id="rId2"/>
            </p:custDataLst>
          </p:nvPr>
        </p:nvSpPr>
        <p:spPr>
          <a:xfrm>
            <a:off x="515620" y="1137920"/>
            <a:ext cx="11311890" cy="5152390"/>
          </a:xfrm>
          <a:prstGeom prst="rect">
            <a:avLst/>
          </a:prstGeom>
        </p:spPr>
        <p:txBody>
          <a:bodyPr wrap="square">
            <a:noAutofit/>
          </a:bodyPr>
          <a:lstStyle/>
          <a:p>
            <a:pPr marL="342900" indent="-342900">
              <a:lnSpc>
                <a:spcPct val="150000"/>
              </a:lnSpc>
              <a:spcBef>
                <a:spcPct val="20000"/>
              </a:spcBef>
              <a:buSzPct val="100000"/>
              <a:buFont typeface="Wingdings" panose="05000000000000000000" charset="0"/>
              <a:buChar char="l"/>
            </a:pPr>
            <a:r>
              <a:rPr lang="en-US" altLang="zh-CN" sz="2000" b="1" kern="100" dirty="0">
                <a:effectLst/>
                <a:latin typeface="微软雅黑" panose="020B0503020204020204" pitchFamily="34" charset="-122"/>
                <a:ea typeface="微软雅黑" panose="020B0503020204020204" pitchFamily="34" charset="-122"/>
                <a:cs typeface="微软雅黑" panose="020B0503020204020204" pitchFamily="34" charset="-122"/>
              </a:rPr>
              <a:t>Web </a:t>
            </a:r>
            <a:r>
              <a:rPr lang="zh-CN" altLang="en-US" sz="2000" b="1" kern="100" dirty="0">
                <a:effectLst/>
                <a:latin typeface="微软雅黑" panose="020B0503020204020204" pitchFamily="34" charset="-122"/>
                <a:ea typeface="微软雅黑" panose="020B0503020204020204" pitchFamily="34" charset="-122"/>
                <a:cs typeface="微软雅黑" panose="020B0503020204020204" pitchFamily="34" charset="-122"/>
              </a:rPr>
              <a:t>应用软件质量特性的优先级排序为：</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功能性</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 &gt; </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可靠性</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 &gt; </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效率</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 &gt; </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可移植性</a:t>
            </a:r>
            <a:endPar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spcBef>
                <a:spcPct val="20000"/>
              </a:spcBef>
              <a:buSzPct val="100000"/>
              <a:buFont typeface="Wingdings" panose="05000000000000000000" charset="0"/>
              <a:buChar char="u"/>
            </a:pPr>
            <a:r>
              <a:rPr lang="zh-CN" altLang="en-US" sz="2000" b="1" kern="100" dirty="0">
                <a:effectLst/>
                <a:latin typeface="微软雅黑" panose="020B0503020204020204" pitchFamily="34" charset="-122"/>
                <a:ea typeface="微软雅黑" panose="020B0503020204020204" pitchFamily="34" charset="-122"/>
                <a:cs typeface="微软雅黑" panose="020B0503020204020204" pitchFamily="34" charset="-122"/>
              </a:rPr>
              <a:t>关键原因：</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Web </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软件需满足海量用户的并发访问，功能性需适配多终端（</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PC</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、手机）；可靠性决定系统稳定性（如电商促销时不宕机）；效率影响用户等待体验（如页面加载速度）；可移植性则支持跨服务器、跨云平台部署。</a:t>
            </a:r>
            <a:endPar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p:cNvSpPr txBox="1"/>
          <p:nvPr/>
        </p:nvSpPr>
        <p:spPr>
          <a:xfrm>
            <a:off x="602474" y="358140"/>
            <a:ext cx="2399030" cy="553085"/>
          </a:xfrm>
          <a:prstGeom prst="rect">
            <a:avLst/>
          </a:prstGeom>
          <a:noFill/>
        </p:spPr>
        <p:txBody>
          <a:bodyPr wrap="none" rtlCol="0">
            <a:spAutoFit/>
            <a:scene3d>
              <a:camera prst="orthographicFront"/>
              <a:lightRig rig="threePt" dir="t"/>
            </a:scene3d>
            <a:sp3d contourW="12700"/>
          </a:bodyPr>
          <a:lstStyle/>
          <a:p>
            <a:pPr algn="l"/>
            <a:r>
              <a:rPr lang="en-US" altLang="zh-CN" sz="3000" b="1" dirty="0">
                <a:solidFill>
                  <a:schemeClr val="accent2"/>
                </a:solidFill>
                <a:latin typeface="微软雅黑" panose="020B0503020204020204" pitchFamily="34" charset="-122"/>
                <a:ea typeface="微软雅黑" panose="020B0503020204020204" pitchFamily="34" charset="-122"/>
              </a:rPr>
              <a:t>4.1 </a:t>
            </a:r>
            <a:r>
              <a:rPr lang="zh-CN" altLang="en-US" sz="3000" b="1" dirty="0">
                <a:solidFill>
                  <a:schemeClr val="accent2"/>
                </a:solidFill>
                <a:latin typeface="微软雅黑" panose="020B0503020204020204" pitchFamily="34" charset="-122"/>
                <a:ea typeface="微软雅黑" panose="020B0503020204020204" pitchFamily="34" charset="-122"/>
              </a:rPr>
              <a:t>软件质量</a:t>
            </a:r>
            <a:endParaRPr lang="zh-CN" altLang="en-US" sz="3000" b="1" dirty="0">
              <a:solidFill>
                <a:schemeClr val="accent2"/>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667775" y="968635"/>
            <a:ext cx="10867390" cy="5438885"/>
            <a:chOff x="669290" y="1581150"/>
            <a:chExt cx="10867390" cy="5438885"/>
          </a:xfrm>
        </p:grpSpPr>
        <p:sp>
          <p:nvSpPr>
            <p:cNvPr id="4" name="矩形 3"/>
            <p:cNvSpPr/>
            <p:nvPr/>
          </p:nvSpPr>
          <p:spPr>
            <a:xfrm flipV="1">
              <a:off x="669290" y="1581150"/>
              <a:ext cx="5910580" cy="76200"/>
            </a:xfrm>
            <a:prstGeom prst="rect">
              <a:avLst/>
            </a:prstGeom>
            <a:ln>
              <a:solidFill>
                <a:srgbClr val="4B8E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p:cNvCxnSpPr/>
            <p:nvPr/>
          </p:nvCxnSpPr>
          <p:spPr>
            <a:xfrm>
              <a:off x="4500880" y="1584325"/>
              <a:ext cx="69786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669290" y="7020035"/>
              <a:ext cx="10867390" cy="0"/>
            </a:xfrm>
            <a:prstGeom prst="line">
              <a:avLst/>
            </a:prstGeom>
          </p:spPr>
          <p:style>
            <a:lnRef idx="1">
              <a:schemeClr val="accent1"/>
            </a:lnRef>
            <a:fillRef idx="0">
              <a:schemeClr val="accent1"/>
            </a:fillRef>
            <a:effectRef idx="0">
              <a:schemeClr val="accent1"/>
            </a:effectRef>
            <a:fontRef idx="minor">
              <a:schemeClr val="tx1"/>
            </a:fontRef>
          </p:style>
        </p:cxnSp>
      </p:grpSp>
      <p:pic>
        <p:nvPicPr>
          <p:cNvPr id="10" name="图片 9" descr="2021最新山大logo标准组合(1)(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9137239" y="218668"/>
            <a:ext cx="2691130" cy="690245"/>
          </a:xfrm>
          <a:prstGeom prst="rect">
            <a:avLst/>
          </a:prstGeom>
          <a:noFill/>
          <a:ln>
            <a:noFill/>
          </a:ln>
        </p:spPr>
      </p:pic>
      <p:sp>
        <p:nvSpPr>
          <p:cNvPr id="19" name="矩形 18"/>
          <p:cNvSpPr/>
          <p:nvPr>
            <p:custDataLst>
              <p:tags r:id="rId2"/>
            </p:custDataLst>
          </p:nvPr>
        </p:nvSpPr>
        <p:spPr>
          <a:xfrm>
            <a:off x="515620" y="1137920"/>
            <a:ext cx="11311890" cy="5152390"/>
          </a:xfrm>
          <a:prstGeom prst="rect">
            <a:avLst/>
          </a:prstGeom>
        </p:spPr>
        <p:txBody>
          <a:bodyPr wrap="square">
            <a:noAutofit/>
          </a:bodyPr>
          <a:lstStyle/>
          <a:p>
            <a:pPr marL="285750" indent="-285750">
              <a:lnSpc>
                <a:spcPct val="150000"/>
              </a:lnSpc>
              <a:spcBef>
                <a:spcPct val="20000"/>
              </a:spcBef>
              <a:buSzPct val="100000"/>
              <a:buFont typeface="Wingdings" panose="05000000000000000000" charset="0"/>
              <a:buChar char="u"/>
            </a:pPr>
            <a:r>
              <a:rPr lang="zh-CN" altLang="en-US" sz="2000" b="1" kern="100" dirty="0">
                <a:effectLst/>
                <a:latin typeface="微软雅黑" panose="020B0503020204020204" pitchFamily="34" charset="-122"/>
                <a:ea typeface="微软雅黑" panose="020B0503020204020204" pitchFamily="34" charset="-122"/>
                <a:cs typeface="微软雅黑" panose="020B0503020204020204" pitchFamily="34" charset="-122"/>
              </a:rPr>
              <a:t>功能性</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在</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 Web </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应用软件中占据首要地位。</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Web </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软件需要满足海量用户的并发访问需求，功能性必须能够适配多终端（</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PC</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、手机、平板）。例如，电商平台需要提供商品搜索、浏览、下单、支付等完整的购物流程；社交平台需要支持用户注册、登录、发布内容、互动交流等核心功能。功能性的完整性和用户友好性直接决定了</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 Web </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应用的用户粘性。</a:t>
            </a:r>
            <a:endPar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spcBef>
                <a:spcPct val="20000"/>
              </a:spcBef>
              <a:buSzPct val="100000"/>
              <a:buFont typeface="Wingdings" panose="05000000000000000000" charset="0"/>
              <a:buChar char="u"/>
            </a:pPr>
            <a:r>
              <a:rPr lang="zh-CN" altLang="en-US" sz="2000" b="1" kern="100" dirty="0">
                <a:effectLst/>
                <a:latin typeface="微软雅黑" panose="020B0503020204020204" pitchFamily="34" charset="-122"/>
                <a:ea typeface="微软雅黑" panose="020B0503020204020204" pitchFamily="34" charset="-122"/>
                <a:cs typeface="微软雅黑" panose="020B0503020204020204" pitchFamily="34" charset="-122"/>
              </a:rPr>
              <a:t>可靠性</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是</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 Web </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应用软件的基础保障。</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Web </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应用必须能够</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 24/7 </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不间断运行，任何服务中断都可能导致巨大的经济损失。特别是在电商促销期间，系统的可靠性直接关系到企业的销售业绩。可靠性要求包括系统的稳定性、容错能力、故障恢复能力等多个方面。</a:t>
            </a:r>
            <a:endPar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spcBef>
                <a:spcPct val="20000"/>
              </a:spcBef>
              <a:buSzPct val="100000"/>
              <a:buFont typeface="Wingdings" panose="05000000000000000000" charset="0"/>
              <a:buChar char="u"/>
            </a:pPr>
            <a:endPar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p:cNvSpPr txBox="1"/>
          <p:nvPr/>
        </p:nvSpPr>
        <p:spPr>
          <a:xfrm>
            <a:off x="602474" y="358140"/>
            <a:ext cx="2399030" cy="553085"/>
          </a:xfrm>
          <a:prstGeom prst="rect">
            <a:avLst/>
          </a:prstGeom>
          <a:noFill/>
        </p:spPr>
        <p:txBody>
          <a:bodyPr wrap="none" rtlCol="0">
            <a:spAutoFit/>
            <a:scene3d>
              <a:camera prst="orthographicFront"/>
              <a:lightRig rig="threePt" dir="t"/>
            </a:scene3d>
            <a:sp3d contourW="12700"/>
          </a:bodyPr>
          <a:lstStyle/>
          <a:p>
            <a:pPr algn="l"/>
            <a:r>
              <a:rPr lang="en-US" altLang="zh-CN" sz="3000" b="1" dirty="0">
                <a:solidFill>
                  <a:schemeClr val="accent2"/>
                </a:solidFill>
                <a:latin typeface="微软雅黑" panose="020B0503020204020204" pitchFamily="34" charset="-122"/>
                <a:ea typeface="微软雅黑" panose="020B0503020204020204" pitchFamily="34" charset="-122"/>
              </a:rPr>
              <a:t>4.1 </a:t>
            </a:r>
            <a:r>
              <a:rPr lang="zh-CN" altLang="en-US" sz="3000" b="1" dirty="0">
                <a:solidFill>
                  <a:schemeClr val="accent2"/>
                </a:solidFill>
                <a:latin typeface="微软雅黑" panose="020B0503020204020204" pitchFamily="34" charset="-122"/>
                <a:ea typeface="微软雅黑" panose="020B0503020204020204" pitchFamily="34" charset="-122"/>
              </a:rPr>
              <a:t>软件质量</a:t>
            </a:r>
            <a:endParaRPr lang="zh-CN" altLang="en-US" sz="3000" b="1" dirty="0">
              <a:solidFill>
                <a:schemeClr val="accent2"/>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667775" y="968635"/>
            <a:ext cx="10867390" cy="5438885"/>
            <a:chOff x="669290" y="1581150"/>
            <a:chExt cx="10867390" cy="5438885"/>
          </a:xfrm>
        </p:grpSpPr>
        <p:sp>
          <p:nvSpPr>
            <p:cNvPr id="4" name="矩形 3"/>
            <p:cNvSpPr/>
            <p:nvPr/>
          </p:nvSpPr>
          <p:spPr>
            <a:xfrm flipV="1">
              <a:off x="669290" y="1581150"/>
              <a:ext cx="5910580" cy="76200"/>
            </a:xfrm>
            <a:prstGeom prst="rect">
              <a:avLst/>
            </a:prstGeom>
            <a:ln>
              <a:solidFill>
                <a:srgbClr val="4B8E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p:cNvCxnSpPr/>
            <p:nvPr/>
          </p:nvCxnSpPr>
          <p:spPr>
            <a:xfrm>
              <a:off x="4500880" y="1584325"/>
              <a:ext cx="69786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669290" y="7020035"/>
              <a:ext cx="10867390" cy="0"/>
            </a:xfrm>
            <a:prstGeom prst="line">
              <a:avLst/>
            </a:prstGeom>
          </p:spPr>
          <p:style>
            <a:lnRef idx="1">
              <a:schemeClr val="accent1"/>
            </a:lnRef>
            <a:fillRef idx="0">
              <a:schemeClr val="accent1"/>
            </a:fillRef>
            <a:effectRef idx="0">
              <a:schemeClr val="accent1"/>
            </a:effectRef>
            <a:fontRef idx="minor">
              <a:schemeClr val="tx1"/>
            </a:fontRef>
          </p:style>
        </p:cxnSp>
      </p:grpSp>
      <p:pic>
        <p:nvPicPr>
          <p:cNvPr id="10" name="图片 9" descr="2021最新山大logo标准组合(1)(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9137239" y="218668"/>
            <a:ext cx="2691130" cy="690245"/>
          </a:xfrm>
          <a:prstGeom prst="rect">
            <a:avLst/>
          </a:prstGeom>
          <a:noFill/>
          <a:ln>
            <a:noFill/>
          </a:ln>
        </p:spPr>
      </p:pic>
      <p:sp>
        <p:nvSpPr>
          <p:cNvPr id="19" name="矩形 18"/>
          <p:cNvSpPr/>
          <p:nvPr>
            <p:custDataLst>
              <p:tags r:id="rId2"/>
            </p:custDataLst>
          </p:nvPr>
        </p:nvSpPr>
        <p:spPr>
          <a:xfrm>
            <a:off x="515620" y="1137920"/>
            <a:ext cx="11311890" cy="5152390"/>
          </a:xfrm>
          <a:prstGeom prst="rect">
            <a:avLst/>
          </a:prstGeom>
        </p:spPr>
        <p:txBody>
          <a:bodyPr wrap="square">
            <a:noAutofit/>
          </a:bodyPr>
          <a:lstStyle/>
          <a:p>
            <a:pPr marL="285750" indent="-285750">
              <a:lnSpc>
                <a:spcPct val="150000"/>
              </a:lnSpc>
              <a:spcBef>
                <a:spcPct val="20000"/>
              </a:spcBef>
              <a:buSzPct val="100000"/>
              <a:buFont typeface="Wingdings" panose="05000000000000000000" charset="0"/>
              <a:buChar char="u"/>
            </a:pPr>
            <a:r>
              <a:rPr lang="zh-CN" altLang="en-US" sz="2000" b="1" kern="100" dirty="0">
                <a:effectLst/>
                <a:latin typeface="微软雅黑" panose="020B0503020204020204" pitchFamily="34" charset="-122"/>
                <a:ea typeface="微软雅黑" panose="020B0503020204020204" pitchFamily="34" charset="-122"/>
                <a:cs typeface="微软雅黑" panose="020B0503020204020204" pitchFamily="34" charset="-122"/>
              </a:rPr>
              <a:t>效率</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在</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 Web </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应用软件中具有关键影响。</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Web </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应用的效率主要体现在页面加载速度、系统响应时间、并发处理能力等方面。用户对</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 Web </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应用的等待时间极为敏感，研究表明，页面加载时间每增加</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 1 </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秒，转化率可能下降</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 7%</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。因此，提高</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 Web </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应用的效率是提升用户体验和商业价值的重要手段。</a:t>
            </a:r>
            <a:endPar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spcBef>
                <a:spcPct val="20000"/>
              </a:spcBef>
              <a:buSzPct val="100000"/>
              <a:buFont typeface="Wingdings" panose="05000000000000000000" charset="0"/>
              <a:buChar char="u"/>
            </a:pPr>
            <a:r>
              <a:rPr lang="zh-CN" altLang="en-US" sz="2000" b="1" kern="100" dirty="0">
                <a:effectLst/>
                <a:latin typeface="微软雅黑" panose="020B0503020204020204" pitchFamily="34" charset="-122"/>
                <a:ea typeface="微软雅黑" panose="020B0503020204020204" pitchFamily="34" charset="-122"/>
                <a:cs typeface="微软雅黑" panose="020B0503020204020204" pitchFamily="34" charset="-122"/>
              </a:rPr>
              <a:t>可移植</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性在</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 Web </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应用软件中具有特殊意义。</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Web </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应用需要能够在不同的浏览器、操作系统、设备上正常运行，以覆盖尽可能多的用户群体。随着移动互联网的发展，</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Web </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应用还需要能够适配不同尺寸的屏幕和不同的网络环境。</a:t>
            </a:r>
            <a:endPar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p:cNvSpPr txBox="1"/>
          <p:nvPr/>
        </p:nvSpPr>
        <p:spPr>
          <a:xfrm>
            <a:off x="602474" y="358140"/>
            <a:ext cx="2399030" cy="553085"/>
          </a:xfrm>
          <a:prstGeom prst="rect">
            <a:avLst/>
          </a:prstGeom>
          <a:noFill/>
        </p:spPr>
        <p:txBody>
          <a:bodyPr wrap="none" rtlCol="0">
            <a:spAutoFit/>
            <a:scene3d>
              <a:camera prst="orthographicFront"/>
              <a:lightRig rig="threePt" dir="t"/>
            </a:scene3d>
            <a:sp3d contourW="12700"/>
          </a:bodyPr>
          <a:lstStyle/>
          <a:p>
            <a:pPr algn="l"/>
            <a:r>
              <a:rPr lang="en-US" altLang="zh-CN" sz="3000" b="1" dirty="0">
                <a:solidFill>
                  <a:schemeClr val="accent2"/>
                </a:solidFill>
                <a:latin typeface="微软雅黑" panose="020B0503020204020204" pitchFamily="34" charset="-122"/>
                <a:ea typeface="微软雅黑" panose="020B0503020204020204" pitchFamily="34" charset="-122"/>
              </a:rPr>
              <a:t>4.1 </a:t>
            </a:r>
            <a:r>
              <a:rPr lang="zh-CN" altLang="en-US" sz="3000" b="1" dirty="0">
                <a:solidFill>
                  <a:schemeClr val="accent2"/>
                </a:solidFill>
                <a:latin typeface="微软雅黑" panose="020B0503020204020204" pitchFamily="34" charset="-122"/>
                <a:ea typeface="微软雅黑" panose="020B0503020204020204" pitchFamily="34" charset="-122"/>
              </a:rPr>
              <a:t>软件质量</a:t>
            </a:r>
            <a:endParaRPr lang="zh-CN" altLang="en-US" sz="3000" b="1" dirty="0">
              <a:solidFill>
                <a:schemeClr val="accent2"/>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667775" y="968635"/>
            <a:ext cx="10867390" cy="5438885"/>
            <a:chOff x="669290" y="1581150"/>
            <a:chExt cx="10867390" cy="5438885"/>
          </a:xfrm>
        </p:grpSpPr>
        <p:sp>
          <p:nvSpPr>
            <p:cNvPr id="4" name="矩形 3"/>
            <p:cNvSpPr/>
            <p:nvPr/>
          </p:nvSpPr>
          <p:spPr>
            <a:xfrm flipV="1">
              <a:off x="669290" y="1581150"/>
              <a:ext cx="5910580" cy="76200"/>
            </a:xfrm>
            <a:prstGeom prst="rect">
              <a:avLst/>
            </a:prstGeom>
            <a:ln>
              <a:solidFill>
                <a:srgbClr val="4B8E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p:cNvCxnSpPr/>
            <p:nvPr/>
          </p:nvCxnSpPr>
          <p:spPr>
            <a:xfrm>
              <a:off x="4500880" y="1584325"/>
              <a:ext cx="69786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669290" y="7020035"/>
              <a:ext cx="10867390" cy="0"/>
            </a:xfrm>
            <a:prstGeom prst="line">
              <a:avLst/>
            </a:prstGeom>
          </p:spPr>
          <p:style>
            <a:lnRef idx="1">
              <a:schemeClr val="accent1"/>
            </a:lnRef>
            <a:fillRef idx="0">
              <a:schemeClr val="accent1"/>
            </a:fillRef>
            <a:effectRef idx="0">
              <a:schemeClr val="accent1"/>
            </a:effectRef>
            <a:fontRef idx="minor">
              <a:schemeClr val="tx1"/>
            </a:fontRef>
          </p:style>
        </p:cxnSp>
      </p:grpSp>
      <p:pic>
        <p:nvPicPr>
          <p:cNvPr id="10" name="图片 9" descr="2021最新山大logo标准组合(1)(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9137239" y="218668"/>
            <a:ext cx="2691130" cy="690245"/>
          </a:xfrm>
          <a:prstGeom prst="rect">
            <a:avLst/>
          </a:prstGeom>
          <a:noFill/>
          <a:ln>
            <a:noFill/>
          </a:ln>
        </p:spPr>
      </p:pic>
      <p:sp>
        <p:nvSpPr>
          <p:cNvPr id="19" name="矩形 18"/>
          <p:cNvSpPr/>
          <p:nvPr>
            <p:custDataLst>
              <p:tags r:id="rId2"/>
            </p:custDataLst>
          </p:nvPr>
        </p:nvSpPr>
        <p:spPr>
          <a:xfrm>
            <a:off x="515620" y="1137920"/>
            <a:ext cx="11311890" cy="5152390"/>
          </a:xfrm>
          <a:prstGeom prst="rect">
            <a:avLst/>
          </a:prstGeom>
        </p:spPr>
        <p:txBody>
          <a:bodyPr wrap="square">
            <a:noAutofit/>
          </a:bodyPr>
          <a:lstStyle/>
          <a:p>
            <a:pPr indent="0">
              <a:lnSpc>
                <a:spcPct val="150000"/>
              </a:lnSpc>
              <a:spcBef>
                <a:spcPct val="20000"/>
              </a:spcBef>
              <a:buSzPct val="100000"/>
              <a:buFont typeface="Wingdings" panose="05000000000000000000" charset="0"/>
              <a:buNone/>
            </a:pPr>
            <a:r>
              <a:rPr lang="zh-CN" altLang="en-US" sz="2400" b="1" kern="100" dirty="0">
                <a:effectLst/>
                <a:latin typeface="微软雅黑" panose="020B0503020204020204" pitchFamily="34" charset="-122"/>
                <a:ea typeface="微软雅黑" panose="020B0503020204020204" pitchFamily="34" charset="-122"/>
                <a:cs typeface="微软雅黑" panose="020B0503020204020204" pitchFamily="34" charset="-122"/>
              </a:rPr>
              <a:t>五、软件质量评估方法与实践</a:t>
            </a:r>
            <a:r>
              <a:rPr lang="en-US" altLang="zh-CN" sz="2400" b="1" kern="100" dirty="0">
                <a:effectLst/>
                <a:latin typeface="微软雅黑" panose="020B0503020204020204" pitchFamily="34" charset="-122"/>
                <a:ea typeface="微软雅黑" panose="020B0503020204020204" pitchFamily="34" charset="-122"/>
                <a:cs typeface="微软雅黑" panose="020B0503020204020204" pitchFamily="34" charset="-122"/>
              </a:rPr>
              <a:t> </a:t>
            </a:r>
            <a:endParaRPr lang="zh-CN" altLang="en-US" sz="2400" kern="100" dirty="0">
              <a:effectLst/>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nSpc>
                <a:spcPct val="150000"/>
              </a:lnSpc>
              <a:spcBef>
                <a:spcPct val="20000"/>
              </a:spcBef>
              <a:buSzPct val="100000"/>
              <a:buFont typeface="Wingdings" panose="05000000000000000000" charset="0"/>
              <a:buChar char="l"/>
            </a:pP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1. </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传统质量评估方法：传统的软件质量评估方法建立在系统化检查和评审的基础上，通过结构化的流程发现问题、验证合规性、提升质量，并降低后期修复成本。这些方法虽然相对传统，但在现代软件开发中仍然发挥着重要作用。</a:t>
            </a:r>
            <a:endPar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p:cNvSpPr txBox="1"/>
          <p:nvPr/>
        </p:nvSpPr>
        <p:spPr>
          <a:xfrm>
            <a:off x="602474" y="358140"/>
            <a:ext cx="2399030" cy="553085"/>
          </a:xfrm>
          <a:prstGeom prst="rect">
            <a:avLst/>
          </a:prstGeom>
          <a:noFill/>
        </p:spPr>
        <p:txBody>
          <a:bodyPr wrap="none" rtlCol="0">
            <a:spAutoFit/>
            <a:scene3d>
              <a:camera prst="orthographicFront"/>
              <a:lightRig rig="threePt" dir="t"/>
            </a:scene3d>
            <a:sp3d contourW="12700"/>
          </a:bodyPr>
          <a:lstStyle/>
          <a:p>
            <a:pPr algn="l"/>
            <a:r>
              <a:rPr lang="en-US" altLang="zh-CN" sz="3000" b="1" dirty="0">
                <a:solidFill>
                  <a:schemeClr val="accent2"/>
                </a:solidFill>
                <a:latin typeface="微软雅黑" panose="020B0503020204020204" pitchFamily="34" charset="-122"/>
                <a:ea typeface="微软雅黑" panose="020B0503020204020204" pitchFamily="34" charset="-122"/>
              </a:rPr>
              <a:t>4.1 </a:t>
            </a:r>
            <a:r>
              <a:rPr lang="zh-CN" altLang="en-US" sz="3000" b="1" dirty="0">
                <a:solidFill>
                  <a:schemeClr val="accent2"/>
                </a:solidFill>
                <a:latin typeface="微软雅黑" panose="020B0503020204020204" pitchFamily="34" charset="-122"/>
                <a:ea typeface="微软雅黑" panose="020B0503020204020204" pitchFamily="34" charset="-122"/>
              </a:rPr>
              <a:t>软件质量</a:t>
            </a:r>
            <a:endParaRPr lang="zh-CN" altLang="en-US" sz="3000" b="1" dirty="0">
              <a:solidFill>
                <a:schemeClr val="accent2"/>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667775" y="968635"/>
            <a:ext cx="10867390" cy="5438885"/>
            <a:chOff x="669290" y="1581150"/>
            <a:chExt cx="10867390" cy="5438885"/>
          </a:xfrm>
        </p:grpSpPr>
        <p:sp>
          <p:nvSpPr>
            <p:cNvPr id="4" name="矩形 3"/>
            <p:cNvSpPr/>
            <p:nvPr/>
          </p:nvSpPr>
          <p:spPr>
            <a:xfrm flipV="1">
              <a:off x="669290" y="1581150"/>
              <a:ext cx="5910580" cy="76200"/>
            </a:xfrm>
            <a:prstGeom prst="rect">
              <a:avLst/>
            </a:prstGeom>
            <a:ln>
              <a:solidFill>
                <a:srgbClr val="4B8E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p:cNvCxnSpPr/>
            <p:nvPr/>
          </p:nvCxnSpPr>
          <p:spPr>
            <a:xfrm>
              <a:off x="4500880" y="1584325"/>
              <a:ext cx="69786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669290" y="7020035"/>
              <a:ext cx="10867390" cy="0"/>
            </a:xfrm>
            <a:prstGeom prst="line">
              <a:avLst/>
            </a:prstGeom>
          </p:spPr>
          <p:style>
            <a:lnRef idx="1">
              <a:schemeClr val="accent1"/>
            </a:lnRef>
            <a:fillRef idx="0">
              <a:schemeClr val="accent1"/>
            </a:fillRef>
            <a:effectRef idx="0">
              <a:schemeClr val="accent1"/>
            </a:effectRef>
            <a:fontRef idx="minor">
              <a:schemeClr val="tx1"/>
            </a:fontRef>
          </p:style>
        </p:cxnSp>
      </p:grpSp>
      <p:pic>
        <p:nvPicPr>
          <p:cNvPr id="10" name="图片 9" descr="2021最新山大logo标准组合(1)(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9137239" y="218668"/>
            <a:ext cx="2691130" cy="690245"/>
          </a:xfrm>
          <a:prstGeom prst="rect">
            <a:avLst/>
          </a:prstGeom>
          <a:noFill/>
          <a:ln>
            <a:noFill/>
          </a:ln>
        </p:spPr>
      </p:pic>
      <p:sp>
        <p:nvSpPr>
          <p:cNvPr id="19" name="矩形 18"/>
          <p:cNvSpPr/>
          <p:nvPr>
            <p:custDataLst>
              <p:tags r:id="rId2"/>
            </p:custDataLst>
          </p:nvPr>
        </p:nvSpPr>
        <p:spPr>
          <a:xfrm>
            <a:off x="515620" y="1137920"/>
            <a:ext cx="11311890" cy="5152390"/>
          </a:xfrm>
          <a:prstGeom prst="rect">
            <a:avLst/>
          </a:prstGeom>
        </p:spPr>
        <p:txBody>
          <a:bodyPr wrap="square">
            <a:noAutofit/>
          </a:bodyPr>
          <a:lstStyle/>
          <a:p>
            <a:pPr marL="285750" indent="-285750">
              <a:lnSpc>
                <a:spcPct val="150000"/>
              </a:lnSpc>
              <a:spcBef>
                <a:spcPct val="20000"/>
              </a:spcBef>
              <a:buSzPct val="100000"/>
              <a:buFont typeface="Wingdings" panose="05000000000000000000" charset="0"/>
              <a:buChar char="u"/>
            </a:pP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b="1" kern="100" dirty="0">
                <a:effectLst/>
                <a:latin typeface="微软雅黑" panose="020B0503020204020204" pitchFamily="34" charset="-122"/>
                <a:ea typeface="微软雅黑" panose="020B0503020204020204" pitchFamily="34" charset="-122"/>
                <a:cs typeface="微软雅黑" panose="020B0503020204020204" pitchFamily="34" charset="-122"/>
              </a:rPr>
              <a:t>代码评审（</a:t>
            </a:r>
            <a:r>
              <a:rPr lang="en-US" altLang="zh-CN" sz="2000" b="1" kern="100" dirty="0">
                <a:effectLst/>
                <a:latin typeface="微软雅黑" panose="020B0503020204020204" pitchFamily="34" charset="-122"/>
                <a:ea typeface="微软雅黑" panose="020B0503020204020204" pitchFamily="34" charset="-122"/>
                <a:cs typeface="微软雅黑" panose="020B0503020204020204" pitchFamily="34" charset="-122"/>
              </a:rPr>
              <a:t>Code Review</a:t>
            </a:r>
            <a:r>
              <a:rPr lang="zh-CN" altLang="en-US" sz="2000" b="1" kern="100" dirty="0">
                <a:effectLst/>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b="1" kern="100" dirty="0">
                <a:effectLst/>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是最基础也是最重要的质量评估方法之一。代码评审的对象包括</a:t>
            </a:r>
            <a:r>
              <a:rPr lang="zh-CN" altLang="en-US" sz="2000" b="1" kern="100" dirty="0">
                <a:effectLst/>
                <a:latin typeface="微软雅黑" panose="020B0503020204020204" pitchFamily="34" charset="-122"/>
                <a:ea typeface="微软雅黑" panose="020B0503020204020204" pitchFamily="34" charset="-122"/>
                <a:cs typeface="微软雅黑" panose="020B0503020204020204" pitchFamily="34" charset="-122"/>
              </a:rPr>
              <a:t>源代码（如</a:t>
            </a:r>
            <a:r>
              <a:rPr lang="en-US" altLang="zh-CN" sz="2000" b="1" kern="100" dirty="0">
                <a:effectLst/>
                <a:latin typeface="微软雅黑" panose="020B0503020204020204" pitchFamily="34" charset="-122"/>
                <a:ea typeface="微软雅黑" panose="020B0503020204020204" pitchFamily="34" charset="-122"/>
                <a:cs typeface="微软雅黑" panose="020B0503020204020204" pitchFamily="34" charset="-122"/>
              </a:rPr>
              <a:t> Java</a:t>
            </a:r>
            <a:r>
              <a:rPr lang="zh-CN" altLang="en-US" sz="2000" b="1" kern="100" dirty="0">
                <a:effectLst/>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b="1" kern="100" dirty="0">
                <a:effectLst/>
                <a:latin typeface="微软雅黑" panose="020B0503020204020204" pitchFamily="34" charset="-122"/>
                <a:ea typeface="微软雅黑" panose="020B0503020204020204" pitchFamily="34" charset="-122"/>
                <a:cs typeface="微软雅黑" panose="020B0503020204020204" pitchFamily="34" charset="-122"/>
              </a:rPr>
              <a:t>Python </a:t>
            </a:r>
            <a:r>
              <a:rPr lang="zh-CN" altLang="en-US" sz="2000" b="1" kern="100" dirty="0">
                <a:effectLst/>
                <a:latin typeface="微软雅黑" panose="020B0503020204020204" pitchFamily="34" charset="-122"/>
                <a:ea typeface="微软雅黑" panose="020B0503020204020204" pitchFamily="34" charset="-122"/>
                <a:cs typeface="微软雅黑" panose="020B0503020204020204" pitchFamily="34" charset="-122"/>
              </a:rPr>
              <a:t>代码）、配置文件、脚本</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等，重点检查代码的</a:t>
            </a:r>
            <a:r>
              <a:rPr lang="zh-CN" altLang="en-US" sz="2000" b="1" kern="100" dirty="0">
                <a:effectLst/>
                <a:latin typeface="微软雅黑" panose="020B0503020204020204" pitchFamily="34" charset="-122"/>
                <a:ea typeface="微软雅黑" panose="020B0503020204020204" pitchFamily="34" charset="-122"/>
                <a:cs typeface="微软雅黑" panose="020B0503020204020204" pitchFamily="34" charset="-122"/>
              </a:rPr>
              <a:t>可读性、规范性、安全性、性能和逻辑正确性</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。现代代码评审采用</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自审</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 + </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交叉评审</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模式，关注代码结构（如模块职责是否单一）、编码规范（如是否遵循团队命名公约）、潜在风险（如</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 SQL </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注入漏洞、空指针未处理）。</a:t>
            </a:r>
            <a:endPar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p:cNvSpPr txBox="1"/>
          <p:nvPr/>
        </p:nvSpPr>
        <p:spPr>
          <a:xfrm>
            <a:off x="602474" y="358140"/>
            <a:ext cx="2399030" cy="553085"/>
          </a:xfrm>
          <a:prstGeom prst="rect">
            <a:avLst/>
          </a:prstGeom>
          <a:noFill/>
        </p:spPr>
        <p:txBody>
          <a:bodyPr wrap="none" rtlCol="0">
            <a:spAutoFit/>
            <a:scene3d>
              <a:camera prst="orthographicFront"/>
              <a:lightRig rig="threePt" dir="t"/>
            </a:scene3d>
            <a:sp3d contourW="12700"/>
          </a:bodyPr>
          <a:lstStyle/>
          <a:p>
            <a:pPr algn="l"/>
            <a:r>
              <a:rPr lang="en-US" altLang="zh-CN" sz="3000" b="1" dirty="0">
                <a:solidFill>
                  <a:schemeClr val="accent2"/>
                </a:solidFill>
                <a:latin typeface="微软雅黑" panose="020B0503020204020204" pitchFamily="34" charset="-122"/>
                <a:ea typeface="微软雅黑" panose="020B0503020204020204" pitchFamily="34" charset="-122"/>
              </a:rPr>
              <a:t>4.1 </a:t>
            </a:r>
            <a:r>
              <a:rPr lang="zh-CN" altLang="en-US" sz="3000" b="1" dirty="0">
                <a:solidFill>
                  <a:schemeClr val="accent2"/>
                </a:solidFill>
                <a:latin typeface="微软雅黑" panose="020B0503020204020204" pitchFamily="34" charset="-122"/>
                <a:ea typeface="微软雅黑" panose="020B0503020204020204" pitchFamily="34" charset="-122"/>
              </a:rPr>
              <a:t>软件质量</a:t>
            </a:r>
            <a:endParaRPr lang="zh-CN" altLang="en-US" sz="3000" b="1" dirty="0">
              <a:solidFill>
                <a:schemeClr val="accent2"/>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667775" y="968635"/>
            <a:ext cx="10867390" cy="5438885"/>
            <a:chOff x="669290" y="1581150"/>
            <a:chExt cx="10867390" cy="5438885"/>
          </a:xfrm>
        </p:grpSpPr>
        <p:sp>
          <p:nvSpPr>
            <p:cNvPr id="4" name="矩形 3"/>
            <p:cNvSpPr/>
            <p:nvPr/>
          </p:nvSpPr>
          <p:spPr>
            <a:xfrm flipV="1">
              <a:off x="669290" y="1581150"/>
              <a:ext cx="5910580" cy="76200"/>
            </a:xfrm>
            <a:prstGeom prst="rect">
              <a:avLst/>
            </a:prstGeom>
            <a:ln>
              <a:solidFill>
                <a:srgbClr val="4B8E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p:cNvCxnSpPr/>
            <p:nvPr/>
          </p:nvCxnSpPr>
          <p:spPr>
            <a:xfrm>
              <a:off x="4500880" y="1584325"/>
              <a:ext cx="69786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669290" y="7020035"/>
              <a:ext cx="10867390" cy="0"/>
            </a:xfrm>
            <a:prstGeom prst="line">
              <a:avLst/>
            </a:prstGeom>
          </p:spPr>
          <p:style>
            <a:lnRef idx="1">
              <a:schemeClr val="accent1"/>
            </a:lnRef>
            <a:fillRef idx="0">
              <a:schemeClr val="accent1"/>
            </a:fillRef>
            <a:effectRef idx="0">
              <a:schemeClr val="accent1"/>
            </a:effectRef>
            <a:fontRef idx="minor">
              <a:schemeClr val="tx1"/>
            </a:fontRef>
          </p:style>
        </p:cxnSp>
      </p:grpSp>
      <p:pic>
        <p:nvPicPr>
          <p:cNvPr id="10" name="图片 9" descr="2021最新山大logo标准组合(1)(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9137239" y="218668"/>
            <a:ext cx="2691130" cy="690245"/>
          </a:xfrm>
          <a:prstGeom prst="rect">
            <a:avLst/>
          </a:prstGeom>
          <a:noFill/>
          <a:ln>
            <a:noFill/>
          </a:ln>
        </p:spPr>
      </p:pic>
      <p:sp>
        <p:nvSpPr>
          <p:cNvPr id="19" name="矩形 18"/>
          <p:cNvSpPr/>
          <p:nvPr>
            <p:custDataLst>
              <p:tags r:id="rId2"/>
            </p:custDataLst>
          </p:nvPr>
        </p:nvSpPr>
        <p:spPr>
          <a:xfrm>
            <a:off x="515620" y="1137920"/>
            <a:ext cx="11311890" cy="5152390"/>
          </a:xfrm>
          <a:prstGeom prst="rect">
            <a:avLst/>
          </a:prstGeom>
        </p:spPr>
        <p:txBody>
          <a:bodyPr wrap="square">
            <a:noAutofit/>
          </a:bodyPr>
          <a:lstStyle/>
          <a:p>
            <a:pPr marL="342900" indent="-342900">
              <a:lnSpc>
                <a:spcPct val="150000"/>
              </a:lnSpc>
              <a:spcBef>
                <a:spcPct val="20000"/>
              </a:spcBef>
              <a:buSzPct val="100000"/>
              <a:buFont typeface="Wingdings" panose="05000000000000000000" charset="0"/>
              <a:buChar char="l"/>
            </a:pPr>
            <a:r>
              <a:rPr lang="zh-CN" altLang="en-US" sz="2000" b="1" kern="100" dirty="0">
                <a:effectLst/>
                <a:latin typeface="微软雅黑" panose="020B0503020204020204" pitchFamily="34" charset="-122"/>
                <a:ea typeface="微软雅黑" panose="020B0503020204020204" pitchFamily="34" charset="-122"/>
                <a:cs typeface="微软雅黑" panose="020B0503020204020204" pitchFamily="34" charset="-122"/>
              </a:rPr>
              <a:t>代码评审的流程</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通常包括四个阶段：</a:t>
            </a:r>
            <a:endPar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spcBef>
                <a:spcPct val="20000"/>
              </a:spcBef>
              <a:buSzPct val="100000"/>
              <a:buFont typeface="Wingdings" panose="05000000000000000000" charset="0"/>
              <a:buChar char="u"/>
            </a:pPr>
            <a:r>
              <a:rPr lang="zh-CN" altLang="en-US" sz="2000" b="1" kern="100" dirty="0">
                <a:effectLst/>
                <a:latin typeface="微软雅黑" panose="020B0503020204020204" pitchFamily="34" charset="-122"/>
                <a:ea typeface="微软雅黑" panose="020B0503020204020204" pitchFamily="34" charset="-122"/>
                <a:cs typeface="微软雅黑" panose="020B0503020204020204" pitchFamily="34" charset="-122"/>
              </a:rPr>
              <a:t>编写与自检</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阶段。开发人员完成代码编写后，首先进行自我检查，使用项目规定的代码风格工具（如</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 Prettier</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Black</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gofmt</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）进行代码格式化，确保代码符合规范。</a:t>
            </a:r>
            <a:endPar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spcBef>
                <a:spcPct val="20000"/>
              </a:spcBef>
              <a:buSzPct val="100000"/>
              <a:buFont typeface="Wingdings" panose="05000000000000000000" charset="0"/>
              <a:buChar char="u"/>
            </a:pPr>
            <a:r>
              <a:rPr lang="zh-CN" altLang="en-US" sz="2000" b="1" kern="100" dirty="0">
                <a:effectLst/>
                <a:latin typeface="微软雅黑" panose="020B0503020204020204" pitchFamily="34" charset="-122"/>
                <a:ea typeface="微软雅黑" panose="020B0503020204020204" pitchFamily="34" charset="-122"/>
                <a:cs typeface="微软雅黑" panose="020B0503020204020204" pitchFamily="34" charset="-122"/>
              </a:rPr>
              <a:t>准备与提交</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阶段。开发人员准备代码评审材料，明确需要审查的代码范围，避免一次性审查过多代码。选择具有相关经验的开发人员作为审查者，并提交代码评审请求。</a:t>
            </a:r>
            <a:endPar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spcBef>
                <a:spcPct val="20000"/>
              </a:spcBef>
              <a:buSzPct val="100000"/>
              <a:buFont typeface="Wingdings" panose="05000000000000000000" charset="0"/>
              <a:buChar char="u"/>
            </a:pPr>
            <a:r>
              <a:rPr lang="zh-CN" altLang="en-US" sz="2000" b="1" kern="100" dirty="0">
                <a:effectLst/>
                <a:latin typeface="微软雅黑" panose="020B0503020204020204" pitchFamily="34" charset="-122"/>
                <a:ea typeface="微软雅黑" panose="020B0503020204020204" pitchFamily="34" charset="-122"/>
                <a:cs typeface="微软雅黑" panose="020B0503020204020204" pitchFamily="34" charset="-122"/>
              </a:rPr>
              <a:t>审查与反馈</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阶段。审查者依据</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宏观感知</a:t>
            </a:r>
            <a:r>
              <a:rPr lang="en-US"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精准定位</a:t>
            </a:r>
            <a:r>
              <a:rPr lang="en-US"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证据支撑</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三步法开展评审，重点关注功能正确性、架构合理性、安全风险点。审查过程中区分必须修改（</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Blocking</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）与建议修改（</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Non-blocking</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）意见。</a:t>
            </a:r>
            <a:endPar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spcBef>
                <a:spcPct val="20000"/>
              </a:spcBef>
              <a:buSzPct val="100000"/>
              <a:buFont typeface="Wingdings" panose="05000000000000000000" charset="0"/>
              <a:buChar char="u"/>
            </a:pPr>
            <a:r>
              <a:rPr lang="zh-CN" altLang="en-US" sz="2000" b="1" kern="100" dirty="0">
                <a:effectLst/>
                <a:latin typeface="微软雅黑" panose="020B0503020204020204" pitchFamily="34" charset="-122"/>
                <a:ea typeface="微软雅黑" panose="020B0503020204020204" pitchFamily="34" charset="-122"/>
                <a:cs typeface="微软雅黑" panose="020B0503020204020204" pitchFamily="34" charset="-122"/>
              </a:rPr>
              <a:t>修改与验证</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阶段。开发人员根据审查意见进行代码修改，然后重新提交进行验证，确保问题得到彻底解决</a:t>
            </a:r>
            <a:endPar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spcBef>
                <a:spcPct val="20000"/>
              </a:spcBef>
              <a:buSzPct val="100000"/>
              <a:buFont typeface="Wingdings" panose="05000000000000000000" charset="0"/>
              <a:buChar char="u"/>
            </a:pPr>
            <a:endPar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p:cNvSpPr txBox="1"/>
          <p:nvPr/>
        </p:nvSpPr>
        <p:spPr>
          <a:xfrm>
            <a:off x="602474" y="358140"/>
            <a:ext cx="2399030" cy="553085"/>
          </a:xfrm>
          <a:prstGeom prst="rect">
            <a:avLst/>
          </a:prstGeom>
          <a:noFill/>
        </p:spPr>
        <p:txBody>
          <a:bodyPr wrap="none" rtlCol="0">
            <a:spAutoFit/>
            <a:scene3d>
              <a:camera prst="orthographicFront"/>
              <a:lightRig rig="threePt" dir="t"/>
            </a:scene3d>
            <a:sp3d contourW="12700"/>
          </a:bodyPr>
          <a:lstStyle/>
          <a:p>
            <a:pPr algn="l"/>
            <a:r>
              <a:rPr lang="en-US" altLang="zh-CN" sz="3000" b="1" dirty="0">
                <a:solidFill>
                  <a:schemeClr val="accent2"/>
                </a:solidFill>
                <a:latin typeface="微软雅黑" panose="020B0503020204020204" pitchFamily="34" charset="-122"/>
                <a:ea typeface="微软雅黑" panose="020B0503020204020204" pitchFamily="34" charset="-122"/>
              </a:rPr>
              <a:t>4.1 </a:t>
            </a:r>
            <a:r>
              <a:rPr lang="zh-CN" altLang="en-US" sz="3000" b="1" dirty="0">
                <a:solidFill>
                  <a:schemeClr val="accent2"/>
                </a:solidFill>
                <a:latin typeface="微软雅黑" panose="020B0503020204020204" pitchFamily="34" charset="-122"/>
                <a:ea typeface="微软雅黑" panose="020B0503020204020204" pitchFamily="34" charset="-122"/>
              </a:rPr>
              <a:t>软件质量</a:t>
            </a:r>
            <a:endParaRPr lang="zh-CN" altLang="en-US" sz="3000" b="1" dirty="0">
              <a:solidFill>
                <a:schemeClr val="accent2"/>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667775" y="968635"/>
            <a:ext cx="10867390" cy="5438885"/>
            <a:chOff x="669290" y="1581150"/>
            <a:chExt cx="10867390" cy="5438885"/>
          </a:xfrm>
        </p:grpSpPr>
        <p:sp>
          <p:nvSpPr>
            <p:cNvPr id="4" name="矩形 3"/>
            <p:cNvSpPr/>
            <p:nvPr/>
          </p:nvSpPr>
          <p:spPr>
            <a:xfrm flipV="1">
              <a:off x="669290" y="1581150"/>
              <a:ext cx="5910580" cy="76200"/>
            </a:xfrm>
            <a:prstGeom prst="rect">
              <a:avLst/>
            </a:prstGeom>
            <a:ln>
              <a:solidFill>
                <a:srgbClr val="4B8E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p:cNvCxnSpPr/>
            <p:nvPr/>
          </p:nvCxnSpPr>
          <p:spPr>
            <a:xfrm>
              <a:off x="4500880" y="1584325"/>
              <a:ext cx="69786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669290" y="7020035"/>
              <a:ext cx="10867390" cy="0"/>
            </a:xfrm>
            <a:prstGeom prst="line">
              <a:avLst/>
            </a:prstGeom>
          </p:spPr>
          <p:style>
            <a:lnRef idx="1">
              <a:schemeClr val="accent1"/>
            </a:lnRef>
            <a:fillRef idx="0">
              <a:schemeClr val="accent1"/>
            </a:fillRef>
            <a:effectRef idx="0">
              <a:schemeClr val="accent1"/>
            </a:effectRef>
            <a:fontRef idx="minor">
              <a:schemeClr val="tx1"/>
            </a:fontRef>
          </p:style>
        </p:cxnSp>
      </p:grpSp>
      <p:pic>
        <p:nvPicPr>
          <p:cNvPr id="10" name="图片 9" descr="2021最新山大logo标准组合(1)(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9137239" y="218668"/>
            <a:ext cx="2691130" cy="690245"/>
          </a:xfrm>
          <a:prstGeom prst="rect">
            <a:avLst/>
          </a:prstGeom>
          <a:noFill/>
          <a:ln>
            <a:noFill/>
          </a:ln>
        </p:spPr>
      </p:pic>
      <p:sp>
        <p:nvSpPr>
          <p:cNvPr id="19" name="矩形 18"/>
          <p:cNvSpPr/>
          <p:nvPr>
            <p:custDataLst>
              <p:tags r:id="rId2"/>
            </p:custDataLst>
          </p:nvPr>
        </p:nvSpPr>
        <p:spPr>
          <a:xfrm>
            <a:off x="515620" y="1137920"/>
            <a:ext cx="11311890" cy="5152390"/>
          </a:xfrm>
          <a:prstGeom prst="rect">
            <a:avLst/>
          </a:prstGeom>
        </p:spPr>
        <p:txBody>
          <a:bodyPr wrap="square">
            <a:noAutofit/>
          </a:bodyPr>
          <a:lstStyle/>
          <a:p>
            <a:pPr marL="285750" indent="-285750">
              <a:lnSpc>
                <a:spcPct val="150000"/>
              </a:lnSpc>
              <a:spcBef>
                <a:spcPct val="20000"/>
              </a:spcBef>
              <a:buSzPct val="100000"/>
              <a:buFont typeface="Wingdings" panose="05000000000000000000" charset="0"/>
              <a:buChar char="u"/>
            </a:pP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b="1" kern="100" dirty="0">
                <a:effectLst/>
                <a:latin typeface="微软雅黑" panose="020B0503020204020204" pitchFamily="34" charset="-122"/>
                <a:ea typeface="微软雅黑" panose="020B0503020204020204" pitchFamily="34" charset="-122"/>
                <a:cs typeface="微软雅黑" panose="020B0503020204020204" pitchFamily="34" charset="-122"/>
              </a:rPr>
              <a:t>测试评审（</a:t>
            </a:r>
            <a:r>
              <a:rPr lang="en-US" altLang="zh-CN" sz="2000" b="1" kern="100" dirty="0">
                <a:effectLst/>
                <a:latin typeface="微软雅黑" panose="020B0503020204020204" pitchFamily="34" charset="-122"/>
                <a:ea typeface="微软雅黑" panose="020B0503020204020204" pitchFamily="34" charset="-122"/>
                <a:cs typeface="微软雅黑" panose="020B0503020204020204" pitchFamily="34" charset="-122"/>
              </a:rPr>
              <a:t>Test Review</a:t>
            </a:r>
            <a:r>
              <a:rPr lang="zh-CN" altLang="en-US" sz="2000" b="1" kern="100" dirty="0">
                <a:effectLst/>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b="1" kern="100" dirty="0">
                <a:effectLst/>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是确保测试质量的重要方法。测试评审的对象包括测试计划、测试用例、测试报告、自动化脚本等。评审重点关注测试用例的</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覆盖度</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（如是否覆盖所有需求场景、边界条件）与</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有效性</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（如用例是否可复现问题），同时验证测试环境的真实性（如是否模拟生产级并发压力）。</a:t>
            </a:r>
            <a:endPar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spcBef>
                <a:spcPct val="20000"/>
              </a:spcBef>
              <a:buSzPct val="100000"/>
              <a:buFont typeface="Wingdings" panose="05000000000000000000" charset="0"/>
              <a:buChar char="u"/>
            </a:pPr>
            <a:r>
              <a:rPr lang="en-US" altLang="zh-CN" sz="2000" b="1" kern="100" dirty="0">
                <a:effectLst/>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sz="2000" b="1" kern="100" dirty="0">
                <a:effectLst/>
                <a:latin typeface="微软雅黑" panose="020B0503020204020204" pitchFamily="34" charset="-122"/>
                <a:ea typeface="微软雅黑" panose="020B0503020204020204" pitchFamily="34" charset="-122"/>
                <a:cs typeface="微软雅黑" panose="020B0503020204020204" pitchFamily="34" charset="-122"/>
              </a:rPr>
              <a:t>Fagan </a:t>
            </a:r>
            <a:r>
              <a:rPr lang="zh-CN" altLang="en-US" sz="2000" b="1" kern="100" dirty="0">
                <a:effectLst/>
                <a:latin typeface="微软雅黑" panose="020B0503020204020204" pitchFamily="34" charset="-122"/>
                <a:ea typeface="微软雅黑" panose="020B0503020204020204" pitchFamily="34" charset="-122"/>
                <a:cs typeface="微软雅黑" panose="020B0503020204020204" pitchFamily="34" charset="-122"/>
              </a:rPr>
              <a:t>检查法</a:t>
            </a:r>
            <a:r>
              <a:rPr lang="en-US" altLang="zh-CN" sz="2000" b="1" kern="100" dirty="0">
                <a:effectLst/>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代表了传统评审方法的最高水平。该方法采用审查（</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Inspection</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）模式，由独立团队依据检查表（</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Checklist</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）进行深度分析，典型缺陷检出率可达</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 60%-70%</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Fagan </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检查法的特点是严格的流程控制、详细的文档记录和持续的过程改进。</a:t>
            </a:r>
            <a:endPar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spcBef>
                <a:spcPct val="20000"/>
              </a:spcBef>
              <a:buSzPct val="100000"/>
              <a:buFont typeface="Wingdings" panose="05000000000000000000" charset="0"/>
              <a:buChar char="u"/>
            </a:pP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传统质量评估方法还包括</a:t>
            </a:r>
            <a:r>
              <a:rPr lang="zh-CN" altLang="en-US" sz="2000" b="1" kern="100" dirty="0">
                <a:effectLst/>
                <a:latin typeface="微软雅黑" panose="020B0503020204020204" pitchFamily="34" charset="-122"/>
                <a:ea typeface="微软雅黑" panose="020B0503020204020204" pitchFamily="34" charset="-122"/>
                <a:cs typeface="微软雅黑" panose="020B0503020204020204" pitchFamily="34" charset="-122"/>
              </a:rPr>
              <a:t>设计评审、需求评审、架构评审</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等多种类型。这些评审活动通常在软件开发的不同阶段进行，通过同行评议的方式发现潜在问题，确保软件质量。</a:t>
            </a:r>
            <a:endPar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spcBef>
                <a:spcPct val="20000"/>
              </a:spcBef>
              <a:buSzPct val="100000"/>
              <a:buFont typeface="Wingdings" panose="05000000000000000000" charset="0"/>
              <a:buChar char="u"/>
            </a:pPr>
            <a:endPar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p:cNvSpPr txBox="1"/>
          <p:nvPr/>
        </p:nvSpPr>
        <p:spPr>
          <a:xfrm>
            <a:off x="602474" y="358140"/>
            <a:ext cx="2399030" cy="553085"/>
          </a:xfrm>
          <a:prstGeom prst="rect">
            <a:avLst/>
          </a:prstGeom>
          <a:noFill/>
        </p:spPr>
        <p:txBody>
          <a:bodyPr wrap="none" rtlCol="0">
            <a:spAutoFit/>
            <a:scene3d>
              <a:camera prst="orthographicFront"/>
              <a:lightRig rig="threePt" dir="t"/>
            </a:scene3d>
            <a:sp3d contourW="12700"/>
          </a:bodyPr>
          <a:lstStyle/>
          <a:p>
            <a:pPr algn="l"/>
            <a:r>
              <a:rPr lang="en-US" altLang="zh-CN" sz="3000" b="1" dirty="0">
                <a:solidFill>
                  <a:schemeClr val="accent2"/>
                </a:solidFill>
                <a:latin typeface="微软雅黑" panose="020B0503020204020204" pitchFamily="34" charset="-122"/>
                <a:ea typeface="微软雅黑" panose="020B0503020204020204" pitchFamily="34" charset="-122"/>
              </a:rPr>
              <a:t>4.1 </a:t>
            </a:r>
            <a:r>
              <a:rPr lang="zh-CN" altLang="en-US" sz="3000" b="1" dirty="0">
                <a:solidFill>
                  <a:schemeClr val="accent2"/>
                </a:solidFill>
                <a:latin typeface="微软雅黑" panose="020B0503020204020204" pitchFamily="34" charset="-122"/>
                <a:ea typeface="微软雅黑" panose="020B0503020204020204" pitchFamily="34" charset="-122"/>
              </a:rPr>
              <a:t>软件质量</a:t>
            </a:r>
            <a:endParaRPr lang="zh-CN" altLang="en-US" sz="3000" b="1" dirty="0">
              <a:solidFill>
                <a:schemeClr val="accent2"/>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667775" y="968635"/>
            <a:ext cx="10867390" cy="5438885"/>
            <a:chOff x="669290" y="1581150"/>
            <a:chExt cx="10867390" cy="5438885"/>
          </a:xfrm>
        </p:grpSpPr>
        <p:sp>
          <p:nvSpPr>
            <p:cNvPr id="4" name="矩形 3"/>
            <p:cNvSpPr/>
            <p:nvPr/>
          </p:nvSpPr>
          <p:spPr>
            <a:xfrm flipV="1">
              <a:off x="669290" y="1581150"/>
              <a:ext cx="5910580" cy="76200"/>
            </a:xfrm>
            <a:prstGeom prst="rect">
              <a:avLst/>
            </a:prstGeom>
            <a:ln>
              <a:solidFill>
                <a:srgbClr val="4B8E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p:cNvCxnSpPr/>
            <p:nvPr/>
          </p:nvCxnSpPr>
          <p:spPr>
            <a:xfrm>
              <a:off x="4500880" y="1584325"/>
              <a:ext cx="69786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669290" y="7020035"/>
              <a:ext cx="10867390" cy="0"/>
            </a:xfrm>
            <a:prstGeom prst="line">
              <a:avLst/>
            </a:prstGeom>
          </p:spPr>
          <p:style>
            <a:lnRef idx="1">
              <a:schemeClr val="accent1"/>
            </a:lnRef>
            <a:fillRef idx="0">
              <a:schemeClr val="accent1"/>
            </a:fillRef>
            <a:effectRef idx="0">
              <a:schemeClr val="accent1"/>
            </a:effectRef>
            <a:fontRef idx="minor">
              <a:schemeClr val="tx1"/>
            </a:fontRef>
          </p:style>
        </p:cxnSp>
      </p:grpSp>
      <p:pic>
        <p:nvPicPr>
          <p:cNvPr id="10" name="图片 9" descr="2021最新山大logo标准组合(1)(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9137239" y="218668"/>
            <a:ext cx="2691130" cy="690245"/>
          </a:xfrm>
          <a:prstGeom prst="rect">
            <a:avLst/>
          </a:prstGeom>
          <a:noFill/>
          <a:ln>
            <a:noFill/>
          </a:ln>
        </p:spPr>
      </p:pic>
      <p:sp>
        <p:nvSpPr>
          <p:cNvPr id="19" name="矩形 18"/>
          <p:cNvSpPr/>
          <p:nvPr>
            <p:custDataLst>
              <p:tags r:id="rId2"/>
            </p:custDataLst>
          </p:nvPr>
        </p:nvSpPr>
        <p:spPr>
          <a:xfrm>
            <a:off x="515620" y="1137920"/>
            <a:ext cx="11311890" cy="5152390"/>
          </a:xfrm>
          <a:prstGeom prst="rect">
            <a:avLst/>
          </a:prstGeom>
        </p:spPr>
        <p:txBody>
          <a:bodyPr wrap="square">
            <a:noAutofit/>
          </a:bodyPr>
          <a:lstStyle/>
          <a:p>
            <a:pPr marL="342900" indent="-342900">
              <a:lnSpc>
                <a:spcPct val="150000"/>
              </a:lnSpc>
              <a:spcBef>
                <a:spcPct val="20000"/>
              </a:spcBef>
              <a:buSzPct val="100000"/>
              <a:buFont typeface="Wingdings" panose="05000000000000000000" charset="0"/>
              <a:buChar char="l"/>
            </a:pP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2 </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现代质量评估工具与自动化实践</a:t>
            </a:r>
            <a:endPar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spcBef>
                <a:spcPct val="20000"/>
              </a:spcBef>
              <a:buSzPct val="100000"/>
              <a:buFont typeface="Wingdings" panose="05000000000000000000" charset="0"/>
              <a:buChar char="u"/>
            </a:pP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随着软件开发技术的快速发展，现代质量评估工具和自动化实践已经成为软件质量保障的重要组成部分。这些工具和实践显著提高了质量评估的效率和准确性。</a:t>
            </a:r>
            <a:endPar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p:cNvSpPr txBox="1"/>
          <p:nvPr/>
        </p:nvSpPr>
        <p:spPr>
          <a:xfrm>
            <a:off x="602474" y="358140"/>
            <a:ext cx="2399030" cy="553085"/>
          </a:xfrm>
          <a:prstGeom prst="rect">
            <a:avLst/>
          </a:prstGeom>
          <a:noFill/>
        </p:spPr>
        <p:txBody>
          <a:bodyPr wrap="none" rtlCol="0">
            <a:spAutoFit/>
            <a:scene3d>
              <a:camera prst="orthographicFront"/>
              <a:lightRig rig="threePt" dir="t"/>
            </a:scene3d>
            <a:sp3d contourW="12700"/>
          </a:bodyPr>
          <a:lstStyle/>
          <a:p>
            <a:pPr algn="l"/>
            <a:r>
              <a:rPr lang="en-US" altLang="zh-CN" sz="3000" b="1" dirty="0">
                <a:solidFill>
                  <a:schemeClr val="accent2"/>
                </a:solidFill>
                <a:latin typeface="微软雅黑" panose="020B0503020204020204" pitchFamily="34" charset="-122"/>
                <a:ea typeface="微软雅黑" panose="020B0503020204020204" pitchFamily="34" charset="-122"/>
              </a:rPr>
              <a:t>4.1 </a:t>
            </a:r>
            <a:r>
              <a:rPr lang="zh-CN" altLang="en-US" sz="3000" b="1" dirty="0">
                <a:solidFill>
                  <a:schemeClr val="accent2"/>
                </a:solidFill>
                <a:latin typeface="微软雅黑" panose="020B0503020204020204" pitchFamily="34" charset="-122"/>
                <a:ea typeface="微软雅黑" panose="020B0503020204020204" pitchFamily="34" charset="-122"/>
              </a:rPr>
              <a:t>软件质量</a:t>
            </a:r>
            <a:endParaRPr lang="zh-CN" altLang="en-US" sz="3000" b="1" dirty="0">
              <a:solidFill>
                <a:schemeClr val="accent2"/>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667775" y="968635"/>
            <a:ext cx="10867390" cy="5438885"/>
            <a:chOff x="669290" y="1581150"/>
            <a:chExt cx="10867390" cy="5438885"/>
          </a:xfrm>
        </p:grpSpPr>
        <p:sp>
          <p:nvSpPr>
            <p:cNvPr id="4" name="矩形 3"/>
            <p:cNvSpPr/>
            <p:nvPr/>
          </p:nvSpPr>
          <p:spPr>
            <a:xfrm flipV="1">
              <a:off x="669290" y="1581150"/>
              <a:ext cx="5910580" cy="76200"/>
            </a:xfrm>
            <a:prstGeom prst="rect">
              <a:avLst/>
            </a:prstGeom>
            <a:ln>
              <a:solidFill>
                <a:srgbClr val="4B8E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p:cNvCxnSpPr/>
            <p:nvPr/>
          </p:nvCxnSpPr>
          <p:spPr>
            <a:xfrm>
              <a:off x="4500880" y="1584325"/>
              <a:ext cx="69786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669290" y="7020035"/>
              <a:ext cx="10867390" cy="0"/>
            </a:xfrm>
            <a:prstGeom prst="line">
              <a:avLst/>
            </a:prstGeom>
          </p:spPr>
          <p:style>
            <a:lnRef idx="1">
              <a:schemeClr val="accent1"/>
            </a:lnRef>
            <a:fillRef idx="0">
              <a:schemeClr val="accent1"/>
            </a:fillRef>
            <a:effectRef idx="0">
              <a:schemeClr val="accent1"/>
            </a:effectRef>
            <a:fontRef idx="minor">
              <a:schemeClr val="tx1"/>
            </a:fontRef>
          </p:style>
        </p:cxnSp>
      </p:grpSp>
      <p:pic>
        <p:nvPicPr>
          <p:cNvPr id="10" name="图片 9" descr="2021最新山大logo标准组合(1)(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9137239" y="218668"/>
            <a:ext cx="2691130" cy="690245"/>
          </a:xfrm>
          <a:prstGeom prst="rect">
            <a:avLst/>
          </a:prstGeom>
          <a:noFill/>
          <a:ln>
            <a:noFill/>
          </a:ln>
        </p:spPr>
      </p:pic>
      <p:sp>
        <p:nvSpPr>
          <p:cNvPr id="19" name="矩形 18"/>
          <p:cNvSpPr/>
          <p:nvPr>
            <p:custDataLst>
              <p:tags r:id="rId2"/>
            </p:custDataLst>
          </p:nvPr>
        </p:nvSpPr>
        <p:spPr>
          <a:xfrm>
            <a:off x="515620" y="1137920"/>
            <a:ext cx="11311890" cy="5152390"/>
          </a:xfrm>
          <a:prstGeom prst="rect">
            <a:avLst/>
          </a:prstGeom>
        </p:spPr>
        <p:txBody>
          <a:bodyPr wrap="square">
            <a:noAutofit/>
          </a:bodyPr>
          <a:lstStyle/>
          <a:p>
            <a:pPr marL="285750" indent="-285750">
              <a:lnSpc>
                <a:spcPct val="150000"/>
              </a:lnSpc>
              <a:spcBef>
                <a:spcPct val="20000"/>
              </a:spcBef>
              <a:buSzPct val="100000"/>
              <a:buFont typeface="Wingdings" panose="05000000000000000000" charset="0"/>
              <a:buChar char="u"/>
            </a:pP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持续集成（</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CI</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）工具是现代质量评估的基础设施。</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Jenkins </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是最具代表性的开源</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 CI </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工具，它提供持续集成服务，用于构建和测试软件项目。</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Jenkins </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的核心功能包括持续集成、构建和测试自动化。开发人员推送代码至</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 Git </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仓库后，通过</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 Webhook </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自动触发</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 CI </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流程，工具拉取代码并执行编译、打包等操作。</a:t>
            </a:r>
            <a:endPar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spcBef>
                <a:spcPct val="20000"/>
              </a:spcBef>
              <a:buSzPct val="100000"/>
              <a:buFont typeface="Wingdings" panose="05000000000000000000" charset="0"/>
              <a:buChar char="u"/>
            </a:pP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持续集成的核心价值在于早期发现问题。通过频繁的代码集成和自动化测试，可以在开发过程的早期发现集成问题、编译错误、测试失败等问题，避免问题积累到后期难以修复。</a:t>
            </a:r>
            <a:endPar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spcBef>
                <a:spcPct val="20000"/>
              </a:spcBef>
              <a:buSzPct val="100000"/>
              <a:buFont typeface="Wingdings" panose="05000000000000000000" charset="0"/>
              <a:buChar char="u"/>
            </a:pPr>
            <a:endPar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p:cNvSpPr txBox="1"/>
          <p:nvPr/>
        </p:nvSpPr>
        <p:spPr>
          <a:xfrm>
            <a:off x="602474" y="358140"/>
            <a:ext cx="2399030" cy="553085"/>
          </a:xfrm>
          <a:prstGeom prst="rect">
            <a:avLst/>
          </a:prstGeom>
          <a:noFill/>
        </p:spPr>
        <p:txBody>
          <a:bodyPr wrap="none" rtlCol="0">
            <a:spAutoFit/>
            <a:scene3d>
              <a:camera prst="orthographicFront"/>
              <a:lightRig rig="threePt" dir="t"/>
            </a:scene3d>
            <a:sp3d contourW="12700"/>
          </a:bodyPr>
          <a:lstStyle/>
          <a:p>
            <a:pPr algn="l"/>
            <a:r>
              <a:rPr lang="en-US" altLang="zh-CN" sz="3000" b="1" dirty="0">
                <a:solidFill>
                  <a:schemeClr val="accent2"/>
                </a:solidFill>
                <a:latin typeface="微软雅黑" panose="020B0503020204020204" pitchFamily="34" charset="-122"/>
                <a:ea typeface="微软雅黑" panose="020B0503020204020204" pitchFamily="34" charset="-122"/>
              </a:rPr>
              <a:t>4.1 </a:t>
            </a:r>
            <a:r>
              <a:rPr lang="zh-CN" altLang="en-US" sz="3000" b="1" dirty="0">
                <a:solidFill>
                  <a:schemeClr val="accent2"/>
                </a:solidFill>
                <a:latin typeface="微软雅黑" panose="020B0503020204020204" pitchFamily="34" charset="-122"/>
                <a:ea typeface="微软雅黑" panose="020B0503020204020204" pitchFamily="34" charset="-122"/>
              </a:rPr>
              <a:t>软件质量</a:t>
            </a:r>
            <a:endParaRPr lang="zh-CN" altLang="en-US" sz="3000" b="1" dirty="0">
              <a:solidFill>
                <a:schemeClr val="accent2"/>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667775" y="968635"/>
            <a:ext cx="10867390" cy="5438885"/>
            <a:chOff x="669290" y="1581150"/>
            <a:chExt cx="10867390" cy="5438885"/>
          </a:xfrm>
        </p:grpSpPr>
        <p:sp>
          <p:nvSpPr>
            <p:cNvPr id="4" name="矩形 3"/>
            <p:cNvSpPr/>
            <p:nvPr/>
          </p:nvSpPr>
          <p:spPr>
            <a:xfrm flipV="1">
              <a:off x="669290" y="1581150"/>
              <a:ext cx="5910580" cy="76200"/>
            </a:xfrm>
            <a:prstGeom prst="rect">
              <a:avLst/>
            </a:prstGeom>
            <a:ln>
              <a:solidFill>
                <a:srgbClr val="4B8E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p:cNvCxnSpPr/>
            <p:nvPr/>
          </p:nvCxnSpPr>
          <p:spPr>
            <a:xfrm>
              <a:off x="4500880" y="1584325"/>
              <a:ext cx="69786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669290" y="7020035"/>
              <a:ext cx="10867390" cy="0"/>
            </a:xfrm>
            <a:prstGeom prst="line">
              <a:avLst/>
            </a:prstGeom>
          </p:spPr>
          <p:style>
            <a:lnRef idx="1">
              <a:schemeClr val="accent1"/>
            </a:lnRef>
            <a:fillRef idx="0">
              <a:schemeClr val="accent1"/>
            </a:fillRef>
            <a:effectRef idx="0">
              <a:schemeClr val="accent1"/>
            </a:effectRef>
            <a:fontRef idx="minor">
              <a:schemeClr val="tx1"/>
            </a:fontRef>
          </p:style>
        </p:cxnSp>
      </p:grpSp>
      <p:pic>
        <p:nvPicPr>
          <p:cNvPr id="10" name="图片 9" descr="2021最新山大logo标准组合(1)(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9137239" y="218668"/>
            <a:ext cx="2691130" cy="690245"/>
          </a:xfrm>
          <a:prstGeom prst="rect">
            <a:avLst/>
          </a:prstGeom>
          <a:noFill/>
          <a:ln>
            <a:noFill/>
          </a:ln>
        </p:spPr>
      </p:pic>
      <p:sp>
        <p:nvSpPr>
          <p:cNvPr id="19" name="矩形 18"/>
          <p:cNvSpPr/>
          <p:nvPr>
            <p:custDataLst>
              <p:tags r:id="rId2"/>
            </p:custDataLst>
          </p:nvPr>
        </p:nvSpPr>
        <p:spPr>
          <a:xfrm>
            <a:off x="515620" y="1137920"/>
            <a:ext cx="11311890" cy="5152390"/>
          </a:xfrm>
          <a:prstGeom prst="rect">
            <a:avLst/>
          </a:prstGeom>
        </p:spPr>
        <p:txBody>
          <a:bodyPr wrap="square">
            <a:noAutofit/>
          </a:bodyPr>
          <a:lstStyle/>
          <a:p>
            <a:pPr marL="342900" indent="-342900">
              <a:lnSpc>
                <a:spcPct val="150000"/>
              </a:lnSpc>
              <a:spcBef>
                <a:spcPct val="20000"/>
              </a:spcBef>
              <a:buSzPct val="100000"/>
              <a:buFont typeface="Wingdings" panose="05000000000000000000" charset="0"/>
              <a:buChar char="l"/>
            </a:pPr>
            <a:r>
              <a:rPr lang="en-US" altLang="zh-CN" sz="2000" b="1" kern="100" dirty="0">
                <a:effectLst/>
                <a:latin typeface="微软雅黑" panose="020B0503020204020204" pitchFamily="34" charset="-122"/>
                <a:ea typeface="微软雅黑" panose="020B0503020204020204" pitchFamily="34" charset="-122"/>
                <a:cs typeface="微软雅黑" panose="020B0503020204020204" pitchFamily="34" charset="-122"/>
              </a:rPr>
              <a:t>3 </a:t>
            </a:r>
            <a:r>
              <a:rPr lang="zh-CN" altLang="en-US" sz="2000" b="1" kern="100" dirty="0">
                <a:effectLst/>
                <a:latin typeface="微软雅黑" panose="020B0503020204020204" pitchFamily="34" charset="-122"/>
                <a:ea typeface="微软雅黑" panose="020B0503020204020204" pitchFamily="34" charset="-122"/>
                <a:cs typeface="微软雅黑" panose="020B0503020204020204" pitchFamily="34" charset="-122"/>
              </a:rPr>
              <a:t>质量度量指标体系：</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软件质量度量指标体系是评估软件质量的量化基础，通过科学的指标设计和数据分析，为软件质量改进提供依据。</a:t>
            </a:r>
            <a:endPar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nSpc>
                <a:spcPct val="150000"/>
              </a:lnSpc>
              <a:spcBef>
                <a:spcPct val="20000"/>
              </a:spcBef>
              <a:buSzPct val="100000"/>
              <a:buFont typeface="Wingdings" panose="05000000000000000000" charset="0"/>
              <a:buChar char="u"/>
            </a:pP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核心度量指标包括多个维度：</a:t>
            </a:r>
            <a:endPar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nSpc>
                <a:spcPct val="150000"/>
              </a:lnSpc>
              <a:spcBef>
                <a:spcPct val="20000"/>
              </a:spcBef>
              <a:buSzPct val="100000"/>
              <a:buFont typeface="Wingdings" panose="05000000000000000000" charset="0"/>
              <a:buChar char="n"/>
            </a:pPr>
            <a:r>
              <a:rPr lang="en-US" altLang="zh-CN" sz="2000" b="1" kern="100" dirty="0">
                <a:effectLst/>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b="1" kern="100" dirty="0">
                <a:effectLst/>
                <a:latin typeface="微软雅黑" panose="020B0503020204020204" pitchFamily="34" charset="-122"/>
                <a:ea typeface="微软雅黑" panose="020B0503020204020204" pitchFamily="34" charset="-122"/>
                <a:cs typeface="微软雅黑" panose="020B0503020204020204" pitchFamily="34" charset="-122"/>
              </a:rPr>
              <a:t>缺陷密度</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Defect Density</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是最基础的质量指标，测量特定代码量（通常是每千行代码）中发现的缺陷数量。缺陷密度在软件开发生命周期的不同阶段识别软件产品质量方面至关重要，能够帮助团队了解软件的整体质量水平，并与行业标准进行对比。</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sym typeface="+mn-ea"/>
              </a:rPr>
              <a:t>典型统计表明，在开发阶段，平均每千行源代码有</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sym typeface="+mn-ea"/>
              </a:rPr>
              <a:t> 50-60 </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sym typeface="+mn-ea"/>
              </a:rPr>
              <a:t>个缺陷，交付后平均每千行源代码有</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sym typeface="+mn-ea"/>
              </a:rPr>
              <a:t> 15-18 </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sym typeface="+mn-ea"/>
              </a:rPr>
              <a:t>个缺陷。</a:t>
            </a:r>
            <a:endPar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nSpc>
                <a:spcPct val="150000"/>
              </a:lnSpc>
              <a:spcBef>
                <a:spcPct val="20000"/>
              </a:spcBef>
              <a:buSzPct val="100000"/>
              <a:buFont typeface="Wingdings" panose="05000000000000000000" charset="0"/>
              <a:buChar char="n"/>
            </a:pP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b="1" kern="100" dirty="0">
                <a:effectLst/>
                <a:latin typeface="微软雅黑" panose="020B0503020204020204" pitchFamily="34" charset="-122"/>
                <a:ea typeface="微软雅黑" panose="020B0503020204020204" pitchFamily="34" charset="-122"/>
                <a:cs typeface="微软雅黑" panose="020B0503020204020204" pitchFamily="34" charset="-122"/>
              </a:rPr>
              <a:t>代码覆盖率</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Code Coverage</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是衡量自动化测试充分性的关键指标，测量自动化测试期间执行的源代码百分比。代码覆盖率通常包括</a:t>
            </a:r>
            <a:r>
              <a:rPr lang="zh-CN" altLang="en-US" sz="2000" b="1" kern="100" dirty="0">
                <a:effectLst/>
                <a:latin typeface="微软雅黑" panose="020B0503020204020204" pitchFamily="34" charset="-122"/>
                <a:ea typeface="微软雅黑" panose="020B0503020204020204" pitchFamily="34" charset="-122"/>
                <a:cs typeface="微软雅黑" panose="020B0503020204020204" pitchFamily="34" charset="-122"/>
              </a:rPr>
              <a:t>语句覆盖、分支覆盖、条件覆盖</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等多种类型，能够反映测试用例的覆盖程度。</a:t>
            </a:r>
            <a:endPar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spcBef>
                <a:spcPct val="20000"/>
              </a:spcBef>
              <a:buSzPct val="100000"/>
              <a:buFont typeface="Wingdings" panose="05000000000000000000" charset="0"/>
              <a:buChar char="u"/>
            </a:pPr>
            <a:endPar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p:cNvSpPr txBox="1"/>
          <p:nvPr/>
        </p:nvSpPr>
        <p:spPr>
          <a:xfrm>
            <a:off x="602474" y="358140"/>
            <a:ext cx="2399030" cy="553085"/>
          </a:xfrm>
          <a:prstGeom prst="rect">
            <a:avLst/>
          </a:prstGeom>
          <a:noFill/>
        </p:spPr>
        <p:txBody>
          <a:bodyPr wrap="none" rtlCol="0">
            <a:spAutoFit/>
            <a:scene3d>
              <a:camera prst="orthographicFront"/>
              <a:lightRig rig="threePt" dir="t"/>
            </a:scene3d>
            <a:sp3d contourW="12700"/>
          </a:bodyPr>
          <a:lstStyle/>
          <a:p>
            <a:pPr algn="l"/>
            <a:r>
              <a:rPr lang="en-US" altLang="zh-CN" sz="3000" b="1" dirty="0">
                <a:solidFill>
                  <a:schemeClr val="accent2"/>
                </a:solidFill>
                <a:latin typeface="微软雅黑" panose="020B0503020204020204" pitchFamily="34" charset="-122"/>
                <a:ea typeface="微软雅黑" panose="020B0503020204020204" pitchFamily="34" charset="-122"/>
              </a:rPr>
              <a:t>4.1 </a:t>
            </a:r>
            <a:r>
              <a:rPr lang="zh-CN" altLang="en-US" sz="3000" b="1" dirty="0">
                <a:solidFill>
                  <a:schemeClr val="accent2"/>
                </a:solidFill>
                <a:latin typeface="微软雅黑" panose="020B0503020204020204" pitchFamily="34" charset="-122"/>
                <a:ea typeface="微软雅黑" panose="020B0503020204020204" pitchFamily="34" charset="-122"/>
              </a:rPr>
              <a:t>软件质量</a:t>
            </a:r>
            <a:endParaRPr lang="zh-CN" altLang="en-US" sz="3000" b="1" dirty="0">
              <a:solidFill>
                <a:schemeClr val="accent2"/>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667775" y="968635"/>
            <a:ext cx="10867390" cy="5438885"/>
            <a:chOff x="669290" y="1581150"/>
            <a:chExt cx="10867390" cy="5438885"/>
          </a:xfrm>
        </p:grpSpPr>
        <p:sp>
          <p:nvSpPr>
            <p:cNvPr id="4" name="矩形 3"/>
            <p:cNvSpPr/>
            <p:nvPr/>
          </p:nvSpPr>
          <p:spPr>
            <a:xfrm flipV="1">
              <a:off x="669290" y="1581150"/>
              <a:ext cx="5910580" cy="76200"/>
            </a:xfrm>
            <a:prstGeom prst="rect">
              <a:avLst/>
            </a:prstGeom>
            <a:ln>
              <a:solidFill>
                <a:srgbClr val="4B8E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p:cNvCxnSpPr/>
            <p:nvPr/>
          </p:nvCxnSpPr>
          <p:spPr>
            <a:xfrm>
              <a:off x="4500880" y="1584325"/>
              <a:ext cx="69786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669290" y="7020035"/>
              <a:ext cx="10867390" cy="0"/>
            </a:xfrm>
            <a:prstGeom prst="line">
              <a:avLst/>
            </a:prstGeom>
          </p:spPr>
          <p:style>
            <a:lnRef idx="1">
              <a:schemeClr val="accent1"/>
            </a:lnRef>
            <a:fillRef idx="0">
              <a:schemeClr val="accent1"/>
            </a:fillRef>
            <a:effectRef idx="0">
              <a:schemeClr val="accent1"/>
            </a:effectRef>
            <a:fontRef idx="minor">
              <a:schemeClr val="tx1"/>
            </a:fontRef>
          </p:style>
        </p:cxnSp>
      </p:grpSp>
      <p:pic>
        <p:nvPicPr>
          <p:cNvPr id="10" name="图片 9" descr="2021最新山大logo标准组合(1)(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9137239" y="218668"/>
            <a:ext cx="2691130" cy="690245"/>
          </a:xfrm>
          <a:prstGeom prst="rect">
            <a:avLst/>
          </a:prstGeom>
          <a:noFill/>
          <a:ln>
            <a:noFill/>
          </a:ln>
        </p:spPr>
      </p:pic>
      <p:sp>
        <p:nvSpPr>
          <p:cNvPr id="19" name="矩形 18"/>
          <p:cNvSpPr/>
          <p:nvPr>
            <p:custDataLst>
              <p:tags r:id="rId2"/>
            </p:custDataLst>
          </p:nvPr>
        </p:nvSpPr>
        <p:spPr>
          <a:xfrm>
            <a:off x="515620" y="1137920"/>
            <a:ext cx="11311890" cy="5152390"/>
          </a:xfrm>
          <a:prstGeom prst="rect">
            <a:avLst/>
          </a:prstGeom>
        </p:spPr>
        <p:txBody>
          <a:bodyPr wrap="square">
            <a:noAutofit/>
          </a:bodyPr>
          <a:lstStyle/>
          <a:p>
            <a:pPr marL="342900" indent="-342900">
              <a:lnSpc>
                <a:spcPct val="150000"/>
              </a:lnSpc>
              <a:spcBef>
                <a:spcPct val="20000"/>
              </a:spcBef>
              <a:buSzPct val="100000"/>
              <a:buFont typeface="Wingdings" panose="05000000000000000000" charset="0"/>
              <a:buChar char="u"/>
            </a:pPr>
            <a:r>
              <a:rPr lang="zh-CN" altLang="en-US" sz="2000" b="1" kern="100" dirty="0">
                <a:effectLst/>
                <a:latin typeface="微软雅黑" panose="020B0503020204020204" pitchFamily="34" charset="-122"/>
                <a:ea typeface="微软雅黑" panose="020B0503020204020204" pitchFamily="34" charset="-122"/>
                <a:cs typeface="微软雅黑" panose="020B0503020204020204" pitchFamily="34" charset="-122"/>
              </a:rPr>
              <a:t>功能测试</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指标关注软件的功能性质量，包括功</a:t>
            </a:r>
            <a:r>
              <a:rPr lang="zh-CN" altLang="en-US" sz="2000" b="1" kern="100" dirty="0">
                <a:effectLst/>
                <a:latin typeface="微软雅黑" panose="020B0503020204020204" pitchFamily="34" charset="-122"/>
                <a:ea typeface="微软雅黑" panose="020B0503020204020204" pitchFamily="34" charset="-122"/>
                <a:cs typeface="微软雅黑" panose="020B0503020204020204" pitchFamily="34" charset="-122"/>
              </a:rPr>
              <a:t>能覆盖率（</a:t>
            </a:r>
            <a:r>
              <a:rPr lang="en-US" altLang="zh-CN" sz="2000" b="1" kern="100" dirty="0">
                <a:effectLst/>
                <a:latin typeface="微软雅黑" panose="020B0503020204020204" pitchFamily="34" charset="-122"/>
                <a:ea typeface="微软雅黑" panose="020B0503020204020204" pitchFamily="34" charset="-122"/>
                <a:cs typeface="微软雅黑" panose="020B0503020204020204" pitchFamily="34" charset="-122"/>
              </a:rPr>
              <a:t>Functional Coverage</a:t>
            </a:r>
            <a:r>
              <a:rPr lang="zh-CN" altLang="en-US" sz="2000" b="1" kern="100" dirty="0">
                <a:effectLst/>
                <a:latin typeface="微软雅黑" panose="020B0503020204020204" pitchFamily="34" charset="-122"/>
                <a:ea typeface="微软雅黑" panose="020B0503020204020204" pitchFamily="34" charset="-122"/>
                <a:cs typeface="微软雅黑" panose="020B0503020204020204" pitchFamily="34" charset="-122"/>
              </a:rPr>
              <a:t>）、需求满足度（</a:t>
            </a:r>
            <a:r>
              <a:rPr lang="en-US" altLang="zh-CN" sz="2000" b="1" kern="100" dirty="0">
                <a:effectLst/>
                <a:latin typeface="微软雅黑" panose="020B0503020204020204" pitchFamily="34" charset="-122"/>
                <a:ea typeface="微软雅黑" panose="020B0503020204020204" pitchFamily="34" charset="-122"/>
                <a:cs typeface="微软雅黑" panose="020B0503020204020204" pitchFamily="34" charset="-122"/>
              </a:rPr>
              <a:t>Requirement Satisfaction Degree</a:t>
            </a:r>
            <a:r>
              <a:rPr lang="zh-CN" altLang="en-US" sz="2000" b="1" kern="100" dirty="0">
                <a:effectLst/>
                <a:latin typeface="微软雅黑" panose="020B0503020204020204" pitchFamily="34" charset="-122"/>
                <a:ea typeface="微软雅黑" panose="020B0503020204020204" pitchFamily="34" charset="-122"/>
                <a:cs typeface="微软雅黑" panose="020B0503020204020204" pitchFamily="34" charset="-122"/>
              </a:rPr>
              <a:t>）、缺陷密度（</a:t>
            </a:r>
            <a:r>
              <a:rPr lang="en-US" altLang="zh-CN" sz="2000" b="1" kern="100" dirty="0">
                <a:effectLst/>
                <a:latin typeface="微软雅黑" panose="020B0503020204020204" pitchFamily="34" charset="-122"/>
                <a:ea typeface="微软雅黑" panose="020B0503020204020204" pitchFamily="34" charset="-122"/>
                <a:cs typeface="微软雅黑" panose="020B0503020204020204" pitchFamily="34" charset="-122"/>
              </a:rPr>
              <a:t>Defect Density</a:t>
            </a:r>
            <a:r>
              <a:rPr lang="zh-CN" altLang="en-US" sz="2000" b="1" kern="100" dirty="0">
                <a:effectLst/>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。这些指标从不同角度评估软件功能的完整性和正确性。</a:t>
            </a:r>
            <a:endPar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nSpc>
                <a:spcPct val="150000"/>
              </a:lnSpc>
              <a:spcBef>
                <a:spcPct val="20000"/>
              </a:spcBef>
              <a:buSzPct val="100000"/>
              <a:buFont typeface="Wingdings" panose="05000000000000000000" charset="0"/>
              <a:buChar char="u"/>
            </a:pPr>
            <a:r>
              <a:rPr lang="zh-CN" altLang="en-US" sz="2000" b="1" kern="100" dirty="0">
                <a:effectLst/>
                <a:latin typeface="微软雅黑" panose="020B0503020204020204" pitchFamily="34" charset="-122"/>
                <a:ea typeface="微软雅黑" panose="020B0503020204020204" pitchFamily="34" charset="-122"/>
                <a:cs typeface="微软雅黑" panose="020B0503020204020204" pitchFamily="34" charset="-122"/>
              </a:rPr>
              <a:t>性能测试</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指标评估软件的效率特性，包括</a:t>
            </a:r>
            <a:r>
              <a:rPr lang="zh-CN" altLang="en-US" sz="2000" b="1" kern="100" dirty="0">
                <a:effectLst/>
                <a:latin typeface="微软雅黑" panose="020B0503020204020204" pitchFamily="34" charset="-122"/>
                <a:ea typeface="微软雅黑" panose="020B0503020204020204" pitchFamily="34" charset="-122"/>
                <a:cs typeface="微软雅黑" panose="020B0503020204020204" pitchFamily="34" charset="-122"/>
              </a:rPr>
              <a:t>响应时间（</a:t>
            </a:r>
            <a:r>
              <a:rPr lang="en-US" altLang="zh-CN" sz="2000" b="1" kern="100" dirty="0">
                <a:effectLst/>
                <a:latin typeface="微软雅黑" panose="020B0503020204020204" pitchFamily="34" charset="-122"/>
                <a:ea typeface="微软雅黑" panose="020B0503020204020204" pitchFamily="34" charset="-122"/>
                <a:cs typeface="微软雅黑" panose="020B0503020204020204" pitchFamily="34" charset="-122"/>
              </a:rPr>
              <a:t>Response Time</a:t>
            </a:r>
            <a:r>
              <a:rPr lang="zh-CN" altLang="en-US" sz="2000" b="1" kern="100" dirty="0">
                <a:effectLst/>
                <a:latin typeface="微软雅黑" panose="020B0503020204020204" pitchFamily="34" charset="-122"/>
                <a:ea typeface="微软雅黑" panose="020B0503020204020204" pitchFamily="34" charset="-122"/>
                <a:cs typeface="微软雅黑" panose="020B0503020204020204" pitchFamily="34" charset="-122"/>
              </a:rPr>
              <a:t>）、系统吞吐量（</a:t>
            </a:r>
            <a:r>
              <a:rPr lang="en-US" altLang="zh-CN" sz="2000" b="1" kern="100" dirty="0">
                <a:effectLst/>
                <a:latin typeface="微软雅黑" panose="020B0503020204020204" pitchFamily="34" charset="-122"/>
                <a:ea typeface="微软雅黑" panose="020B0503020204020204" pitchFamily="34" charset="-122"/>
                <a:cs typeface="微软雅黑" panose="020B0503020204020204" pitchFamily="34" charset="-122"/>
              </a:rPr>
              <a:t>Throughput</a:t>
            </a:r>
            <a:r>
              <a:rPr lang="zh-CN" altLang="en-US" sz="2000" b="1" kern="100" dirty="0">
                <a:effectLst/>
                <a:latin typeface="微软雅黑" panose="020B0503020204020204" pitchFamily="34" charset="-122"/>
                <a:ea typeface="微软雅黑" panose="020B0503020204020204" pitchFamily="34" charset="-122"/>
                <a:cs typeface="微软雅黑" panose="020B0503020204020204" pitchFamily="34" charset="-122"/>
              </a:rPr>
              <a:t>）、资源消耗（</a:t>
            </a:r>
            <a:r>
              <a:rPr lang="en-US" altLang="zh-CN" sz="2000" b="1" kern="100" dirty="0">
                <a:effectLst/>
                <a:latin typeface="微软雅黑" panose="020B0503020204020204" pitchFamily="34" charset="-122"/>
                <a:ea typeface="微软雅黑" panose="020B0503020204020204" pitchFamily="34" charset="-122"/>
                <a:cs typeface="微软雅黑" panose="020B0503020204020204" pitchFamily="34" charset="-122"/>
              </a:rPr>
              <a:t>Resource Consumption</a:t>
            </a:r>
            <a:r>
              <a:rPr lang="zh-CN" altLang="en-US" sz="2000" b="1" kern="100" dirty="0">
                <a:effectLst/>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。这些指标直接影响用户体验和系统的商业价值。</a:t>
            </a:r>
            <a:endPar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nSpc>
                <a:spcPct val="150000"/>
              </a:lnSpc>
              <a:spcBef>
                <a:spcPct val="20000"/>
              </a:spcBef>
              <a:buSzPct val="100000"/>
              <a:buFont typeface="Wingdings" panose="05000000000000000000" charset="0"/>
              <a:buChar char="u"/>
            </a:pPr>
            <a:r>
              <a:rPr lang="zh-CN" altLang="en-US" sz="2000" b="1" kern="100" dirty="0">
                <a:effectLst/>
                <a:latin typeface="微软雅黑" panose="020B0503020204020204" pitchFamily="34" charset="-122"/>
                <a:ea typeface="微软雅黑" panose="020B0503020204020204" pitchFamily="34" charset="-122"/>
                <a:cs typeface="微软雅黑" panose="020B0503020204020204" pitchFamily="34" charset="-122"/>
              </a:rPr>
              <a:t>可靠性</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指标体系提供了全面的可靠性评估框架：</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可用度（</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Availability</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是软件运行后在任一随机时刻需要执行规定任务或完成规定功能时，软件处于可使用状态的概率。可用度是对应用软件可靠性的综合度量，考虑了各种运行环境以及完成各种任务和功能的情况。</a:t>
            </a:r>
            <a:endPar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p:cNvSpPr txBox="1"/>
          <p:nvPr/>
        </p:nvSpPr>
        <p:spPr>
          <a:xfrm>
            <a:off x="602474" y="358140"/>
            <a:ext cx="2399030" cy="553085"/>
          </a:xfrm>
          <a:prstGeom prst="rect">
            <a:avLst/>
          </a:prstGeom>
          <a:noFill/>
        </p:spPr>
        <p:txBody>
          <a:bodyPr wrap="none" rtlCol="0">
            <a:spAutoFit/>
            <a:scene3d>
              <a:camera prst="orthographicFront"/>
              <a:lightRig rig="threePt" dir="t"/>
            </a:scene3d>
            <a:sp3d contourW="12700"/>
          </a:bodyPr>
          <a:lstStyle/>
          <a:p>
            <a:pPr algn="l"/>
            <a:r>
              <a:rPr lang="en-US" altLang="zh-CN" sz="3000" b="1" dirty="0">
                <a:solidFill>
                  <a:schemeClr val="accent2"/>
                </a:solidFill>
                <a:latin typeface="微软雅黑" panose="020B0503020204020204" pitchFamily="34" charset="-122"/>
                <a:ea typeface="微软雅黑" panose="020B0503020204020204" pitchFamily="34" charset="-122"/>
              </a:rPr>
              <a:t>4.1 </a:t>
            </a:r>
            <a:r>
              <a:rPr lang="zh-CN" altLang="en-US" sz="3000" b="1" dirty="0">
                <a:solidFill>
                  <a:schemeClr val="accent2"/>
                </a:solidFill>
                <a:latin typeface="微软雅黑" panose="020B0503020204020204" pitchFamily="34" charset="-122"/>
                <a:ea typeface="微软雅黑" panose="020B0503020204020204" pitchFamily="34" charset="-122"/>
              </a:rPr>
              <a:t>软件质量</a:t>
            </a:r>
            <a:endParaRPr lang="zh-CN" altLang="en-US" sz="3000" b="1" dirty="0">
              <a:solidFill>
                <a:schemeClr val="accent2"/>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667775" y="968635"/>
            <a:ext cx="10867390" cy="5438885"/>
            <a:chOff x="669290" y="1581150"/>
            <a:chExt cx="10867390" cy="5438885"/>
          </a:xfrm>
        </p:grpSpPr>
        <p:sp>
          <p:nvSpPr>
            <p:cNvPr id="4" name="矩形 3"/>
            <p:cNvSpPr/>
            <p:nvPr/>
          </p:nvSpPr>
          <p:spPr>
            <a:xfrm flipV="1">
              <a:off x="669290" y="1581150"/>
              <a:ext cx="5910580" cy="76200"/>
            </a:xfrm>
            <a:prstGeom prst="rect">
              <a:avLst/>
            </a:prstGeom>
            <a:ln>
              <a:solidFill>
                <a:srgbClr val="4B8E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p:cNvCxnSpPr/>
            <p:nvPr/>
          </p:nvCxnSpPr>
          <p:spPr>
            <a:xfrm>
              <a:off x="4500880" y="1584325"/>
              <a:ext cx="69786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669290" y="7020035"/>
              <a:ext cx="10867390" cy="0"/>
            </a:xfrm>
            <a:prstGeom prst="line">
              <a:avLst/>
            </a:prstGeom>
          </p:spPr>
          <p:style>
            <a:lnRef idx="1">
              <a:schemeClr val="accent1"/>
            </a:lnRef>
            <a:fillRef idx="0">
              <a:schemeClr val="accent1"/>
            </a:fillRef>
            <a:effectRef idx="0">
              <a:schemeClr val="accent1"/>
            </a:effectRef>
            <a:fontRef idx="minor">
              <a:schemeClr val="tx1"/>
            </a:fontRef>
          </p:style>
        </p:cxnSp>
      </p:grpSp>
      <p:pic>
        <p:nvPicPr>
          <p:cNvPr id="10" name="图片 9" descr="2021最新山大logo标准组合(1)(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9137239" y="218668"/>
            <a:ext cx="2691130" cy="690245"/>
          </a:xfrm>
          <a:prstGeom prst="rect">
            <a:avLst/>
          </a:prstGeom>
          <a:noFill/>
          <a:ln>
            <a:noFill/>
          </a:ln>
        </p:spPr>
      </p:pic>
      <p:sp>
        <p:nvSpPr>
          <p:cNvPr id="19" name="矩形 18"/>
          <p:cNvSpPr/>
          <p:nvPr>
            <p:custDataLst>
              <p:tags r:id="rId2"/>
            </p:custDataLst>
          </p:nvPr>
        </p:nvSpPr>
        <p:spPr>
          <a:xfrm>
            <a:off x="515620" y="1137920"/>
            <a:ext cx="11311890" cy="5152390"/>
          </a:xfrm>
          <a:prstGeom prst="rect">
            <a:avLst/>
          </a:prstGeom>
        </p:spPr>
        <p:txBody>
          <a:bodyPr wrap="square">
            <a:noAutofit/>
          </a:bodyPr>
          <a:lstStyle/>
          <a:p>
            <a:pPr marL="342900" indent="-342900">
              <a:lnSpc>
                <a:spcPct val="150000"/>
              </a:lnSpc>
              <a:spcBef>
                <a:spcPct val="20000"/>
              </a:spcBef>
              <a:buSzPct val="100000"/>
              <a:buFont typeface="Wingdings" panose="05000000000000000000" charset="0"/>
              <a:buChar char="u"/>
            </a:pPr>
            <a:r>
              <a:rPr lang="zh-CN" altLang="en-US" sz="2000" b="1" kern="100" dirty="0">
                <a:effectLst/>
                <a:latin typeface="微软雅黑" panose="020B0503020204020204" pitchFamily="34" charset="-122"/>
                <a:ea typeface="微软雅黑" panose="020B0503020204020204" pitchFamily="34" charset="-122"/>
                <a:cs typeface="微软雅黑" panose="020B0503020204020204" pitchFamily="34" charset="-122"/>
              </a:rPr>
              <a:t>故障率</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指标包括初期故障率和偶然故障率。初期故障率指软件在初期故障期（一般为交付后三个月内）内单位时间的故障数，一般以每</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 100 </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小时的故障数为单位；偶然故障率指软件在偶然故障期（一般为交付后四个月以后）内单位时间的故障数，一般以每</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 1000 </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小时的故障数为单位。</a:t>
            </a:r>
            <a:endPar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nSpc>
                <a:spcPct val="150000"/>
              </a:lnSpc>
              <a:spcBef>
                <a:spcPct val="20000"/>
              </a:spcBef>
              <a:buSzPct val="100000"/>
              <a:buFont typeface="Wingdings" panose="05000000000000000000" charset="0"/>
              <a:buChar char="u"/>
            </a:pPr>
            <a:r>
              <a:rPr lang="zh-CN" altLang="en-US" sz="2000" b="1" kern="100" dirty="0">
                <a:effectLst/>
                <a:latin typeface="微软雅黑" panose="020B0503020204020204" pitchFamily="34" charset="-122"/>
                <a:ea typeface="微软雅黑" panose="020B0503020204020204" pitchFamily="34" charset="-122"/>
                <a:cs typeface="微软雅黑" panose="020B0503020204020204" pitchFamily="34" charset="-122"/>
              </a:rPr>
              <a:t>平均时间</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指标包括平均失效前时间（</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MTTF</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）和平均失效间隔时间（</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MTBF</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MTTF </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指软件在失效前正常工作的平均统计时间；</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MTBF </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指软件在相继两次失效之间正常工作的平均统计时间。国外一般民用软件的</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 MTBF </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大体在</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 1000 </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小时左右，对于可靠性要求高的软件，则要求在</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 1000-10000 </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小时之间。</a:t>
            </a:r>
            <a:endPar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nSpc>
                <a:spcPct val="150000"/>
              </a:lnSpc>
              <a:spcBef>
                <a:spcPct val="20000"/>
              </a:spcBef>
              <a:buSzPct val="100000"/>
              <a:buFont typeface="Wingdings" panose="05000000000000000000" charset="0"/>
              <a:buChar char="u"/>
            </a:pP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000" b="1" kern="100" dirty="0">
                <a:effectLst/>
                <a:latin typeface="微软雅黑" panose="020B0503020204020204" pitchFamily="34" charset="-122"/>
                <a:ea typeface="微软雅黑" panose="020B0503020204020204" pitchFamily="34" charset="-122"/>
                <a:cs typeface="微软雅黑" panose="020B0503020204020204" pitchFamily="34" charset="-122"/>
                <a:sym typeface="+mn-ea"/>
              </a:rPr>
              <a:t>平均失效恢复时间</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sym typeface="+mn-ea"/>
              </a:rPr>
              <a:t>MTTR</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sym typeface="+mn-ea"/>
              </a:rPr>
              <a:t>指软件失效后恢复正常工作所需的平均统计时间。</a:t>
            </a:r>
            <a:endPar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nSpc>
                <a:spcPct val="150000"/>
              </a:lnSpc>
              <a:spcBef>
                <a:spcPct val="20000"/>
              </a:spcBef>
              <a:buSzPct val="100000"/>
              <a:buFont typeface="Wingdings" panose="05000000000000000000" charset="0"/>
              <a:buChar char="u"/>
            </a:pPr>
            <a:endPar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spcBef>
                <a:spcPct val="20000"/>
              </a:spcBef>
              <a:buSzPct val="100000"/>
              <a:buFont typeface="Wingdings" panose="05000000000000000000" charset="0"/>
              <a:buChar char="u"/>
            </a:pPr>
            <a:endPar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p:cNvSpPr txBox="1"/>
          <p:nvPr/>
        </p:nvSpPr>
        <p:spPr>
          <a:xfrm>
            <a:off x="602474" y="358140"/>
            <a:ext cx="2399030" cy="553085"/>
          </a:xfrm>
          <a:prstGeom prst="rect">
            <a:avLst/>
          </a:prstGeom>
          <a:noFill/>
        </p:spPr>
        <p:txBody>
          <a:bodyPr wrap="none" rtlCol="0">
            <a:spAutoFit/>
            <a:scene3d>
              <a:camera prst="orthographicFront"/>
              <a:lightRig rig="threePt" dir="t"/>
            </a:scene3d>
            <a:sp3d contourW="12700"/>
          </a:bodyPr>
          <a:lstStyle/>
          <a:p>
            <a:pPr algn="l"/>
            <a:r>
              <a:rPr lang="en-US" altLang="zh-CN" sz="3000" b="1" dirty="0">
                <a:solidFill>
                  <a:schemeClr val="accent2"/>
                </a:solidFill>
                <a:latin typeface="微软雅黑" panose="020B0503020204020204" pitchFamily="34" charset="-122"/>
                <a:ea typeface="微软雅黑" panose="020B0503020204020204" pitchFamily="34" charset="-122"/>
              </a:rPr>
              <a:t>4.1 </a:t>
            </a:r>
            <a:r>
              <a:rPr lang="zh-CN" altLang="en-US" sz="3000" b="1" dirty="0">
                <a:solidFill>
                  <a:schemeClr val="accent2"/>
                </a:solidFill>
                <a:latin typeface="微软雅黑" panose="020B0503020204020204" pitchFamily="34" charset="-122"/>
                <a:ea typeface="微软雅黑" panose="020B0503020204020204" pitchFamily="34" charset="-122"/>
              </a:rPr>
              <a:t>软件质量</a:t>
            </a:r>
            <a:endParaRPr lang="zh-CN" altLang="en-US" sz="3000" b="1" dirty="0">
              <a:solidFill>
                <a:schemeClr val="accent2"/>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667775" y="968635"/>
            <a:ext cx="10867390" cy="5438885"/>
            <a:chOff x="669290" y="1581150"/>
            <a:chExt cx="10867390" cy="5438885"/>
          </a:xfrm>
        </p:grpSpPr>
        <p:sp>
          <p:nvSpPr>
            <p:cNvPr id="4" name="矩形 3"/>
            <p:cNvSpPr/>
            <p:nvPr/>
          </p:nvSpPr>
          <p:spPr>
            <a:xfrm flipV="1">
              <a:off x="669290" y="1581150"/>
              <a:ext cx="5910580" cy="76200"/>
            </a:xfrm>
            <a:prstGeom prst="rect">
              <a:avLst/>
            </a:prstGeom>
            <a:ln>
              <a:solidFill>
                <a:srgbClr val="4B8E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p:cNvCxnSpPr/>
            <p:nvPr/>
          </p:nvCxnSpPr>
          <p:spPr>
            <a:xfrm>
              <a:off x="4500880" y="1584325"/>
              <a:ext cx="69786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669290" y="7020035"/>
              <a:ext cx="10867390" cy="0"/>
            </a:xfrm>
            <a:prstGeom prst="line">
              <a:avLst/>
            </a:prstGeom>
          </p:spPr>
          <p:style>
            <a:lnRef idx="1">
              <a:schemeClr val="accent1"/>
            </a:lnRef>
            <a:fillRef idx="0">
              <a:schemeClr val="accent1"/>
            </a:fillRef>
            <a:effectRef idx="0">
              <a:schemeClr val="accent1"/>
            </a:effectRef>
            <a:fontRef idx="minor">
              <a:schemeClr val="tx1"/>
            </a:fontRef>
          </p:style>
        </p:cxnSp>
      </p:grpSp>
      <p:pic>
        <p:nvPicPr>
          <p:cNvPr id="10" name="图片 9" descr="2021最新山大logo标准组合(1)(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9137239" y="218668"/>
            <a:ext cx="2691130" cy="690245"/>
          </a:xfrm>
          <a:prstGeom prst="rect">
            <a:avLst/>
          </a:prstGeom>
          <a:noFill/>
          <a:ln>
            <a:noFill/>
          </a:ln>
        </p:spPr>
      </p:pic>
      <p:sp>
        <p:nvSpPr>
          <p:cNvPr id="19" name="矩形 18"/>
          <p:cNvSpPr/>
          <p:nvPr>
            <p:custDataLst>
              <p:tags r:id="rId2"/>
            </p:custDataLst>
          </p:nvPr>
        </p:nvSpPr>
        <p:spPr>
          <a:xfrm>
            <a:off x="515620" y="1137920"/>
            <a:ext cx="11311890" cy="5152390"/>
          </a:xfrm>
          <a:prstGeom prst="rect">
            <a:avLst/>
          </a:prstGeom>
        </p:spPr>
        <p:txBody>
          <a:bodyPr wrap="square">
            <a:noAutofit/>
          </a:bodyPr>
          <a:lstStyle/>
          <a:p>
            <a:pPr marL="342900" indent="-342900">
              <a:lnSpc>
                <a:spcPct val="150000"/>
              </a:lnSpc>
              <a:spcBef>
                <a:spcPct val="20000"/>
              </a:spcBef>
              <a:buSzPct val="100000"/>
              <a:buFont typeface="Wingdings" panose="05000000000000000000" charset="0"/>
              <a:buChar char="l"/>
            </a:pP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移动计算环境的质量特点：</a:t>
            </a:r>
            <a:endPar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spcBef>
                <a:spcPct val="20000"/>
              </a:spcBef>
              <a:buSzPct val="100000"/>
              <a:buFont typeface="Wingdings" panose="05000000000000000000" charset="0"/>
              <a:buChar char="u"/>
            </a:pPr>
            <a:r>
              <a:rPr lang="zh-CN" altLang="en-US" sz="2000" b="1" kern="100" dirty="0">
                <a:effectLst/>
                <a:latin typeface="微软雅黑" panose="020B0503020204020204" pitchFamily="34" charset="-122"/>
                <a:ea typeface="微软雅黑" panose="020B0503020204020204" pitchFamily="34" charset="-122"/>
                <a:cs typeface="微软雅黑" panose="020B0503020204020204" pitchFamily="34" charset="-122"/>
              </a:rPr>
              <a:t>移动应用的质量要求呈现出独特的特征</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。从</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 ISO/IEC 25010 </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模型的质量特性来看，移动应用最受关注的是易用性、性能效率、功能适合性、可靠性和上下文覆盖度。同时，研究还发现了</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 15 </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个额外的质量特性，反映了移动应用环境的特殊性。</a:t>
            </a:r>
            <a:endPar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spcBef>
                <a:spcPct val="20000"/>
              </a:spcBef>
              <a:buSzPct val="100000"/>
              <a:buFont typeface="Wingdings" panose="05000000000000000000" charset="0"/>
              <a:buChar char="u"/>
            </a:pPr>
            <a:r>
              <a:rPr lang="zh-CN" altLang="en-US" sz="2000" b="1" kern="100" dirty="0">
                <a:effectLst/>
                <a:latin typeface="微软雅黑" panose="020B0503020204020204" pitchFamily="34" charset="-122"/>
                <a:ea typeface="微软雅黑" panose="020B0503020204020204" pitchFamily="34" charset="-122"/>
                <a:cs typeface="微软雅黑" panose="020B0503020204020204" pitchFamily="34" charset="-122"/>
              </a:rPr>
              <a:t>移动应用的资源约束是其质量设计的重要考虑因素</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。移动端网络环境不稳定（</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4G/5G/WiFi </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切换），用户对流量敏感，设备性能（</a:t>
            </a:r>
            <a:r>
              <a:rPr lang="en-US" altLang="zh-CN" sz="2000" kern="100" dirty="0">
                <a:effectLst/>
                <a:latin typeface="微软雅黑" panose="020B0503020204020204" pitchFamily="34" charset="-122"/>
                <a:ea typeface="微软雅黑" panose="020B0503020204020204" pitchFamily="34" charset="-122"/>
                <a:cs typeface="微软雅黑" panose="020B0503020204020204" pitchFamily="34" charset="-122"/>
              </a:rPr>
              <a:t>CPU</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、内存、电池）有限。这些约束条件要求移动应用在质量设计时必须考虑功耗控制、流量优化、离线功能等特殊需求。</a:t>
            </a:r>
            <a:endPar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nSpc>
                <a:spcPct val="150000"/>
              </a:lnSpc>
              <a:spcBef>
                <a:spcPct val="20000"/>
              </a:spcBef>
              <a:buSzPct val="100000"/>
              <a:buFont typeface="Wingdings" panose="05000000000000000000" charset="0"/>
              <a:buChar char="l"/>
            </a:pPr>
            <a:r>
              <a:rPr lang="zh-CN" altLang="en-US" sz="2000" b="1" kern="100" dirty="0">
                <a:effectLst/>
                <a:latin typeface="微软雅黑" panose="020B0503020204020204" pitchFamily="34" charset="-122"/>
                <a:ea typeface="微软雅黑" panose="020B0503020204020204" pitchFamily="34" charset="-122"/>
                <a:cs typeface="微软雅黑" panose="020B0503020204020204" pitchFamily="34" charset="-122"/>
              </a:rPr>
              <a:t>区块链技术对质量保证的影响</a:t>
            </a:r>
            <a:r>
              <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rPr>
              <a:t>。随着区块链技术的发展，云环境下的软件质量保证将更加透明和可信。区块链技术为质量数据的记录和验证提供了新的可能性，能够确保质量数据的不可篡改性和可追溯性。</a:t>
            </a:r>
            <a:endPar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spcBef>
                <a:spcPct val="20000"/>
              </a:spcBef>
              <a:buSzPct val="100000"/>
              <a:buFont typeface="Wingdings" panose="05000000000000000000" charset="0"/>
              <a:buChar char="u"/>
            </a:pPr>
            <a:endPar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p:cNvSpPr txBox="1"/>
          <p:nvPr/>
        </p:nvSpPr>
        <p:spPr>
          <a:xfrm>
            <a:off x="602474" y="358140"/>
            <a:ext cx="4097019" cy="553998"/>
          </a:xfrm>
          <a:prstGeom prst="rect">
            <a:avLst/>
          </a:prstGeom>
          <a:noFill/>
        </p:spPr>
        <p:txBody>
          <a:bodyPr wrap="none" rtlCol="0">
            <a:spAutoFit/>
            <a:scene3d>
              <a:camera prst="orthographicFront"/>
              <a:lightRig rig="threePt" dir="t"/>
            </a:scene3d>
            <a:sp3d contourW="12700"/>
          </a:bodyPr>
          <a:lstStyle/>
          <a:p>
            <a:pPr algn="l"/>
            <a:r>
              <a:rPr lang="en-US" altLang="zh-CN" sz="3000" b="1" dirty="0">
                <a:solidFill>
                  <a:schemeClr val="accent2"/>
                </a:solidFill>
                <a:latin typeface="微软雅黑" panose="020B0503020204020204" pitchFamily="34" charset="-122"/>
                <a:ea typeface="微软雅黑" panose="020B0503020204020204" pitchFamily="34" charset="-122"/>
              </a:rPr>
              <a:t>4.2 </a:t>
            </a:r>
            <a:r>
              <a:rPr lang="zh-CN" altLang="en-US" sz="3000" b="1" dirty="0">
                <a:solidFill>
                  <a:schemeClr val="accent2"/>
                </a:solidFill>
                <a:latin typeface="微软雅黑" panose="020B0503020204020204" pitchFamily="34" charset="-122"/>
                <a:ea typeface="微软雅黑" panose="020B0503020204020204" pitchFamily="34" charset="-122"/>
              </a:rPr>
              <a:t>软件质量工程体系</a:t>
            </a:r>
            <a:endParaRPr lang="zh-CN" altLang="en-US" sz="3000" b="1" dirty="0">
              <a:solidFill>
                <a:schemeClr val="accent2"/>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667775" y="968635"/>
            <a:ext cx="10867390" cy="5438885"/>
            <a:chOff x="669290" y="1581150"/>
            <a:chExt cx="10867390" cy="5438885"/>
          </a:xfrm>
        </p:grpSpPr>
        <p:sp>
          <p:nvSpPr>
            <p:cNvPr id="4" name="矩形 3"/>
            <p:cNvSpPr/>
            <p:nvPr/>
          </p:nvSpPr>
          <p:spPr>
            <a:xfrm flipV="1">
              <a:off x="669290" y="1581150"/>
              <a:ext cx="5910580" cy="76200"/>
            </a:xfrm>
            <a:prstGeom prst="rect">
              <a:avLst/>
            </a:prstGeom>
            <a:ln>
              <a:solidFill>
                <a:srgbClr val="4B8E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p:cNvCxnSpPr/>
            <p:nvPr/>
          </p:nvCxnSpPr>
          <p:spPr>
            <a:xfrm>
              <a:off x="4500880" y="1584325"/>
              <a:ext cx="69786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669290" y="7020035"/>
              <a:ext cx="10867390" cy="0"/>
            </a:xfrm>
            <a:prstGeom prst="line">
              <a:avLst/>
            </a:prstGeom>
          </p:spPr>
          <p:style>
            <a:lnRef idx="1">
              <a:schemeClr val="accent1"/>
            </a:lnRef>
            <a:fillRef idx="0">
              <a:schemeClr val="accent1"/>
            </a:fillRef>
            <a:effectRef idx="0">
              <a:schemeClr val="accent1"/>
            </a:effectRef>
            <a:fontRef idx="minor">
              <a:schemeClr val="tx1"/>
            </a:fontRef>
          </p:style>
        </p:cxnSp>
      </p:grpSp>
      <p:pic>
        <p:nvPicPr>
          <p:cNvPr id="10" name="图片 9" descr="2021最新山大logo标准组合(1)(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9137239" y="218668"/>
            <a:ext cx="2691130" cy="690245"/>
          </a:xfrm>
          <a:prstGeom prst="rect">
            <a:avLst/>
          </a:prstGeom>
          <a:noFill/>
          <a:ln>
            <a:noFill/>
          </a:ln>
        </p:spPr>
      </p:pic>
      <p:sp>
        <p:nvSpPr>
          <p:cNvPr id="19" name="矩形 18"/>
          <p:cNvSpPr/>
          <p:nvPr>
            <p:custDataLst>
              <p:tags r:id="rId2"/>
            </p:custDataLst>
          </p:nvPr>
        </p:nvSpPr>
        <p:spPr>
          <a:xfrm>
            <a:off x="515620" y="1137920"/>
            <a:ext cx="11311890" cy="5152390"/>
          </a:xfrm>
          <a:prstGeom prst="rect">
            <a:avLst/>
          </a:prstGeom>
        </p:spPr>
        <p:txBody>
          <a:bodyPr wrap="square">
            <a:noAutofit/>
          </a:bodyPr>
          <a:lstStyle/>
          <a:p>
            <a:pPr marL="342900" indent="-342900">
              <a:lnSpc>
                <a:spcPct val="150000"/>
              </a:lnSpc>
              <a:spcBef>
                <a:spcPct val="20000"/>
              </a:spcBef>
              <a:buSzPct val="100000"/>
              <a:buFont typeface="Wingdings" panose="05000000000000000000" charset="0"/>
              <a:buChar char="l"/>
            </a:pPr>
            <a:r>
              <a:rPr lang="zh-CN" altLang="en-US" sz="2400" b="1" kern="100" dirty="0">
                <a:latin typeface="微软雅黑" panose="020B0503020204020204" pitchFamily="34" charset="-122"/>
                <a:ea typeface="微软雅黑" panose="020B0503020204020204" pitchFamily="34" charset="-122"/>
                <a:cs typeface="微软雅黑" panose="020B0503020204020204" pitchFamily="34" charset="-122"/>
              </a:rPr>
              <a:t>软件质量工程体系</a:t>
            </a:r>
            <a:r>
              <a:rPr lang="zh-CN" altLang="en-US" sz="2400" kern="100" dirty="0">
                <a:latin typeface="微软雅黑" panose="020B0503020204020204" pitchFamily="34" charset="-122"/>
                <a:ea typeface="微软雅黑" panose="020B0503020204020204" pitchFamily="34" charset="-122"/>
                <a:cs typeface="微软雅黑" panose="020B0503020204020204" pitchFamily="34" charset="-122"/>
              </a:rPr>
              <a:t>是保障软件产品从需求到交付全生命周期质量的系统性框架，其核心由</a:t>
            </a:r>
            <a:r>
              <a:rPr lang="zh-CN" altLang="en-US" sz="2400" b="1" kern="100" dirty="0">
                <a:latin typeface="微软雅黑" panose="020B0503020204020204" pitchFamily="34" charset="-122"/>
                <a:ea typeface="微软雅黑" panose="020B0503020204020204" pitchFamily="34" charset="-122"/>
                <a:cs typeface="微软雅黑" panose="020B0503020204020204" pitchFamily="34" charset="-122"/>
              </a:rPr>
              <a:t>质量策划、质量控制、质量保证、质量改进四大环节</a:t>
            </a:r>
            <a:r>
              <a:rPr lang="zh-CN" altLang="en-US" sz="2400" kern="100" dirty="0">
                <a:latin typeface="微软雅黑" panose="020B0503020204020204" pitchFamily="34" charset="-122"/>
                <a:ea typeface="微软雅黑" panose="020B0503020204020204" pitchFamily="34" charset="-122"/>
                <a:cs typeface="微软雅黑" panose="020B0503020204020204" pitchFamily="34" charset="-122"/>
              </a:rPr>
              <a:t>构成。这四个环节环环相扣、动态循环，共同实现 “预防为主、过程管控、持续优化” 的质量目标，避免软件质量问题</a:t>
            </a:r>
            <a:r>
              <a:rPr lang="zh-CN" altLang="en-US" sz="2400" b="1" kern="100" dirty="0">
                <a:latin typeface="微软雅黑" panose="020B0503020204020204" pitchFamily="34" charset="-122"/>
                <a:ea typeface="微软雅黑" panose="020B0503020204020204" pitchFamily="34" charset="-122"/>
                <a:cs typeface="微软雅黑" panose="020B0503020204020204" pitchFamily="34" charset="-122"/>
              </a:rPr>
              <a:t>从 “事后补救” 转向 “事前预防”</a:t>
            </a:r>
            <a:r>
              <a:rPr lang="zh-CN" altLang="en-US" sz="2400" kern="100" dirty="0">
                <a:latin typeface="微软雅黑" panose="020B0503020204020204" pitchFamily="34" charset="-122"/>
                <a:ea typeface="微软雅黑" panose="020B0503020204020204" pitchFamily="34" charset="-122"/>
                <a:cs typeface="微软雅黑" panose="020B0503020204020204" pitchFamily="34" charset="-122"/>
              </a:rPr>
              <a:t>，最终提升用户满意度与产品市场竞争力。</a:t>
            </a:r>
            <a:endParaRPr lang="zh-CN" altLang="en-US" sz="2400" kern="100" dirty="0">
              <a:effectLst/>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spcBef>
                <a:spcPct val="20000"/>
              </a:spcBef>
              <a:buSzPct val="100000"/>
              <a:buFont typeface="Wingdings" panose="05000000000000000000" charset="0"/>
              <a:buChar char="u"/>
            </a:pPr>
            <a:endParaRPr lang="zh-CN" altLang="en-US" sz="2000" kern="100" dirty="0">
              <a:effectLst/>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tags/tag1.xml><?xml version="1.0" encoding="utf-8"?>
<p:tagLst xmlns:p="http://schemas.openxmlformats.org/presentationml/2006/main">
  <p:tag name="KSO_WM_DIAGRAM_VIRTUALLY_FRAME" val="{&quot;height&quot;:408.1508661417323,&quot;left&quot;:50.61858267716535,&quot;top&quot;:90.88370078740158,&quot;width&quot;:856.93031496063}"/>
</p:tagLst>
</file>

<file path=ppt/tags/tag2.xml><?xml version="1.0" encoding="utf-8"?>
<p:tagLst xmlns:p="http://schemas.openxmlformats.org/presentationml/2006/main">
  <p:tag name="KSO_WM_DIAGRAM_VIRTUALLY_FRAME" val="{&quot;height&quot;:408.1508661417323,&quot;left&quot;:50.61858267716535,&quot;top&quot;:90.88370078740158,&quot;width&quot;:856.93031496063}"/>
</p:tagLst>
</file>

<file path=ppt/tags/tag3.xml><?xml version="1.0" encoding="utf-8"?>
<p:tagLst xmlns:p="http://schemas.openxmlformats.org/presentationml/2006/main">
  <p:tag name="KSO_WM_DIAGRAM_VIRTUALLY_FRAME" val="{&quot;height&quot;:408.1508661417323,&quot;left&quot;:50.61858267716535,&quot;top&quot;:90.88370078740158,&quot;width&quot;:856.93031496063}"/>
</p:tagLst>
</file>

<file path=ppt/tags/tag4.xml><?xml version="1.0" encoding="utf-8"?>
<p:tagLst xmlns:p="http://schemas.openxmlformats.org/presentationml/2006/main">
  <p:tag name="KSO_WM_DIAGRAM_VIRTUALLY_FRAME" val="{&quot;height&quot;:408.1508661417323,&quot;left&quot;:50.61858267716535,&quot;top&quot;:90.88370078740158,&quot;width&quot;:856.93031496063}"/>
</p:tagLst>
</file>

<file path=ppt/tags/tag5.xml><?xml version="1.0" encoding="utf-8"?>
<p:tagLst xmlns:p="http://schemas.openxmlformats.org/presentationml/2006/main">
  <p:tag name="KSO_WM_DIAGRAM_VIRTUALLY_FRAME" val="{&quot;height&quot;:408.1508661417323,&quot;left&quot;:50.61858267716535,&quot;top&quot;:90.88370078740158,&quot;width&quot;:856.93031496063}"/>
</p:tagLst>
</file>

<file path=ppt/tags/tag6.xml><?xml version="1.0" encoding="utf-8"?>
<p:tagLst xmlns:p="http://schemas.openxmlformats.org/presentationml/2006/main">
  <p:tag name="KSO_WM_DIAGRAM_VIRTUALLY_FRAME" val="{&quot;height&quot;:408.1508661417323,&quot;left&quot;:50.61858267716535,&quot;top&quot;:90.88370078740158,&quot;width&quot;:856.93031496063}"/>
</p:tagLst>
</file>

<file path=ppt/tags/tag7.xml><?xml version="1.0" encoding="utf-8"?>
<p:tagLst xmlns:p="http://schemas.openxmlformats.org/presentationml/2006/main">
  <p:tag name="KSO_WM_DIAGRAM_VIRTUALLY_FRAME" val="{&quot;height&quot;:408.1508661417323,&quot;left&quot;:50.61858267716535,&quot;top&quot;:90.88370078740158,&quot;width&quot;:856.93031496063}"/>
</p:tagLst>
</file>

<file path=ppt/tags/tag8.xml><?xml version="1.0" encoding="utf-8"?>
<p:tagLst xmlns:p="http://schemas.openxmlformats.org/presentationml/2006/main">
  <p:tag name="KSO_WM_DIAGRAM_VIRTUALLY_FRAME" val="{&quot;height&quot;:408.1508661417323,&quot;left&quot;:50.61858267716535,&quot;top&quot;:90.88370078740158,&quot;width&quot;:856.93031496063}"/>
</p:tagLst>
</file>

<file path=ppt/tags/tag9.xml><?xml version="1.0" encoding="utf-8"?>
<p:tagLst xmlns:p="http://schemas.openxmlformats.org/presentationml/2006/main">
  <p:tag name="KSO_WM_DIAGRAM_VIRTUALLY_FRAME" val="{&quot;height&quot;:408.1508661417323,&quot;left&quot;:50.61858267716535,&quot;top&quot;:90.88370078740158,&quot;width&quot;:856.93031496063}"/>
</p:tagLst>
</file>

<file path=ppt/tags/tag10.xml><?xml version="1.0" encoding="utf-8"?>
<p:tagLst xmlns:p="http://schemas.openxmlformats.org/presentationml/2006/main">
  <p:tag name="KSO_WM_DIAGRAM_VIRTUALLY_FRAME" val="{&quot;height&quot;:408.1508661417323,&quot;left&quot;:50.61858267716535,&quot;top&quot;:90.88370078740158,&quot;width&quot;:856.93031496063}"/>
</p:tagLst>
</file>

<file path=ppt/tags/tag11.xml><?xml version="1.0" encoding="utf-8"?>
<p:tagLst xmlns:p="http://schemas.openxmlformats.org/presentationml/2006/main">
  <p:tag name="KSO_WM_DIAGRAM_VIRTUALLY_FRAME" val="{&quot;height&quot;:408.1508661417323,&quot;left&quot;:50.61858267716535,&quot;top&quot;:90.88370078740158,&quot;width&quot;:856.93031496063}"/>
</p:tagLst>
</file>

<file path=ppt/tags/tag12.xml><?xml version="1.0" encoding="utf-8"?>
<p:tagLst xmlns:p="http://schemas.openxmlformats.org/presentationml/2006/main">
  <p:tag name="KSO_WM_DIAGRAM_VIRTUALLY_FRAME" val="{&quot;height&quot;:408.1508661417323,&quot;left&quot;:50.61858267716535,&quot;top&quot;:90.88370078740158,&quot;width&quot;:856.93031496063}"/>
</p:tagLst>
</file>

<file path=ppt/tags/tag13.xml><?xml version="1.0" encoding="utf-8"?>
<p:tagLst xmlns:p="http://schemas.openxmlformats.org/presentationml/2006/main">
  <p:tag name="KSO_WM_DIAGRAM_VIRTUALLY_FRAME" val="{&quot;height&quot;:408.1508661417323,&quot;left&quot;:50.61858267716535,&quot;top&quot;:90.88370078740158,&quot;width&quot;:856.93031496063}"/>
</p:tagLst>
</file>

<file path=ppt/tags/tag14.xml><?xml version="1.0" encoding="utf-8"?>
<p:tagLst xmlns:p="http://schemas.openxmlformats.org/presentationml/2006/main">
  <p:tag name="KSO_WM_DIAGRAM_VIRTUALLY_FRAME" val="{&quot;height&quot;:408.1508661417323,&quot;left&quot;:50.61858267716535,&quot;top&quot;:90.88370078740158,&quot;width&quot;:856.93031496063}"/>
</p:tagLst>
</file>

<file path=ppt/tags/tag15.xml><?xml version="1.0" encoding="utf-8"?>
<p:tagLst xmlns:p="http://schemas.openxmlformats.org/presentationml/2006/main">
  <p:tag name="KSO_WM_DIAGRAM_VIRTUALLY_FRAME" val="{&quot;height&quot;:408.1508661417323,&quot;left&quot;:50.61858267716535,&quot;top&quot;:90.88370078740158,&quot;width&quot;:856.93031496063}"/>
</p:tagLst>
</file>

<file path=ppt/tags/tag16.xml><?xml version="1.0" encoding="utf-8"?>
<p:tagLst xmlns:p="http://schemas.openxmlformats.org/presentationml/2006/main">
  <p:tag name="KSO_WM_DIAGRAM_VIRTUALLY_FRAME" val="{&quot;height&quot;:408.1508661417323,&quot;left&quot;:50.61858267716535,&quot;top&quot;:90.88370078740158,&quot;width&quot;:856.93031496063}"/>
</p:tagLst>
</file>

<file path=ppt/tags/tag17.xml><?xml version="1.0" encoding="utf-8"?>
<p:tagLst xmlns:p="http://schemas.openxmlformats.org/presentationml/2006/main">
  <p:tag name="KSO_WM_DIAGRAM_VIRTUALLY_FRAME" val="{&quot;height&quot;:408.1508661417323,&quot;left&quot;:50.61858267716535,&quot;top&quot;:90.88370078740158,&quot;width&quot;:856.93031496063}"/>
</p:tagLst>
</file>

<file path=ppt/tags/tag18.xml><?xml version="1.0" encoding="utf-8"?>
<p:tagLst xmlns:p="http://schemas.openxmlformats.org/presentationml/2006/main">
  <p:tag name="KSO_WM_DIAGRAM_VIRTUALLY_FRAME" val="{&quot;height&quot;:408.1508661417323,&quot;left&quot;:50.61858267716535,&quot;top&quot;:90.88370078740158,&quot;width&quot;:856.93031496063}"/>
</p:tagLst>
</file>

<file path=ppt/tags/tag19.xml><?xml version="1.0" encoding="utf-8"?>
<p:tagLst xmlns:p="http://schemas.openxmlformats.org/presentationml/2006/main">
  <p:tag name="KSO_WM_DIAGRAM_VIRTUALLY_FRAME" val="{&quot;height&quot;:408.1508661417323,&quot;left&quot;:50.61858267716535,&quot;top&quot;:90.88370078740158,&quot;width&quot;:856.93031496063}"/>
</p:tagLst>
</file>

<file path=ppt/tags/tag20.xml><?xml version="1.0" encoding="utf-8"?>
<p:tagLst xmlns:p="http://schemas.openxmlformats.org/presentationml/2006/main">
  <p:tag name="KSO_WM_DIAGRAM_VIRTUALLY_FRAME" val="{&quot;height&quot;:408.1508661417323,&quot;left&quot;:50.61858267716535,&quot;top&quot;:90.88370078740158,&quot;width&quot;:856.93031496063}"/>
</p:tagLst>
</file>

<file path=ppt/tags/tag21.xml><?xml version="1.0" encoding="utf-8"?>
<p:tagLst xmlns:p="http://schemas.openxmlformats.org/presentationml/2006/main">
  <p:tag name="KSO_WM_DIAGRAM_VIRTUALLY_FRAME" val="{&quot;height&quot;:408.1508661417323,&quot;left&quot;:50.61858267716535,&quot;top&quot;:90.88370078740158,&quot;width&quot;:856.93031496063}"/>
</p:tagLst>
</file>

<file path=ppt/tags/tag22.xml><?xml version="1.0" encoding="utf-8"?>
<p:tagLst xmlns:p="http://schemas.openxmlformats.org/presentationml/2006/main">
  <p:tag name="KSO_WM_DIAGRAM_VIRTUALLY_FRAME" val="{&quot;height&quot;:408.1508661417323,&quot;left&quot;:50.61858267716535,&quot;top&quot;:90.88370078740158,&quot;width&quot;:856.93031496063}"/>
</p:tagLst>
</file>

<file path=ppt/tags/tag23.xml><?xml version="1.0" encoding="utf-8"?>
<p:tagLst xmlns:p="http://schemas.openxmlformats.org/presentationml/2006/main">
  <p:tag name="KSO_WM_DIAGRAM_VIRTUALLY_FRAME" val="{&quot;height&quot;:408.1508661417323,&quot;left&quot;:50.61858267716535,&quot;top&quot;:90.88370078740158,&quot;width&quot;:856.93031496063}"/>
</p:tagLst>
</file>

<file path=ppt/tags/tag24.xml><?xml version="1.0" encoding="utf-8"?>
<p:tagLst xmlns:p="http://schemas.openxmlformats.org/presentationml/2006/main">
  <p:tag name="KSO_WM_DIAGRAM_VIRTUALLY_FRAME" val="{&quot;height&quot;:408.1508661417323,&quot;left&quot;:50.61858267716535,&quot;top&quot;:90.88370078740158,&quot;width&quot;:856.93031496063}"/>
</p:tagLst>
</file>

<file path=ppt/tags/tag25.xml><?xml version="1.0" encoding="utf-8"?>
<p:tagLst xmlns:p="http://schemas.openxmlformats.org/presentationml/2006/main">
  <p:tag name="KSO_WM_DIAGRAM_VIRTUALLY_FRAME" val="{&quot;height&quot;:408.1508661417323,&quot;left&quot;:50.61858267716535,&quot;top&quot;:90.88370078740158,&quot;width&quot;:856.93031496063}"/>
</p:tagLst>
</file>

<file path=ppt/tags/tag26.xml><?xml version="1.0" encoding="utf-8"?>
<p:tagLst xmlns:p="http://schemas.openxmlformats.org/presentationml/2006/main">
  <p:tag name="KSO_WM_DIAGRAM_VIRTUALLY_FRAME" val="{&quot;height&quot;:408.1508661417323,&quot;left&quot;:50.61858267716535,&quot;top&quot;:90.88370078740158,&quot;width&quot;:856.93031496063}"/>
</p:tagLst>
</file>

<file path=ppt/tags/tag27.xml><?xml version="1.0" encoding="utf-8"?>
<p:tagLst xmlns:p="http://schemas.openxmlformats.org/presentationml/2006/main">
  <p:tag name="KSO_WM_DIAGRAM_VIRTUALLY_FRAME" val="{&quot;height&quot;:408.1508661417323,&quot;left&quot;:50.61858267716535,&quot;top&quot;:90.88370078740158,&quot;width&quot;:856.93031496063}"/>
</p:tagLst>
</file>

<file path=ppt/tags/tag28.xml><?xml version="1.0" encoding="utf-8"?>
<p:tagLst xmlns:p="http://schemas.openxmlformats.org/presentationml/2006/main">
  <p:tag name="KSO_WM_DIAGRAM_VIRTUALLY_FRAME" val="{&quot;height&quot;:408.1508661417323,&quot;left&quot;:50.61858267716535,&quot;top&quot;:90.88370078740158,&quot;width&quot;:856.93031496063}"/>
</p:tagLst>
</file>

<file path=ppt/tags/tag29.xml><?xml version="1.0" encoding="utf-8"?>
<p:tagLst xmlns:p="http://schemas.openxmlformats.org/presentationml/2006/main">
  <p:tag name="KSO_WM_DIAGRAM_VIRTUALLY_FRAME" val="{&quot;height&quot;:408.1508661417323,&quot;left&quot;:50.61858267716535,&quot;top&quot;:90.88370078740158,&quot;width&quot;:856.93031496063}"/>
</p:tagLst>
</file>

<file path=ppt/tags/tag30.xml><?xml version="1.0" encoding="utf-8"?>
<p:tagLst xmlns:p="http://schemas.openxmlformats.org/presentationml/2006/main">
  <p:tag name="KSO_WM_DIAGRAM_VIRTUALLY_FRAME" val="{&quot;height&quot;:408.1508661417323,&quot;left&quot;:50.61858267716535,&quot;top&quot;:90.88370078740158,&quot;width&quot;:856.93031496063}"/>
</p:tagLst>
</file>

<file path=ppt/tags/tag31.xml><?xml version="1.0" encoding="utf-8"?>
<p:tagLst xmlns:p="http://schemas.openxmlformats.org/presentationml/2006/main">
  <p:tag name="KSO_WM_DIAGRAM_VIRTUALLY_FRAME" val="{&quot;height&quot;:408.1508661417323,&quot;left&quot;:50.61858267716535,&quot;top&quot;:90.88370078740158,&quot;width&quot;:856.93031496063}"/>
</p:tagLst>
</file>

<file path=ppt/tags/tag32.xml><?xml version="1.0" encoding="utf-8"?>
<p:tagLst xmlns:p="http://schemas.openxmlformats.org/presentationml/2006/main">
  <p:tag name="KSO_WM_DIAGRAM_VIRTUALLY_FRAME" val="{&quot;height&quot;:408.1508661417323,&quot;left&quot;:50.61858267716535,&quot;top&quot;:90.88370078740158,&quot;width&quot;:856.93031496063}"/>
</p:tagLst>
</file>

<file path=ppt/tags/tag33.xml><?xml version="1.0" encoding="utf-8"?>
<p:tagLst xmlns:p="http://schemas.openxmlformats.org/presentationml/2006/main">
  <p:tag name="KSO_WM_DIAGRAM_VIRTUALLY_FRAME" val="{&quot;height&quot;:408.1508661417323,&quot;left&quot;:50.61858267716535,&quot;top&quot;:90.88370078740158,&quot;width&quot;:856.93031496063}"/>
</p:tagLst>
</file>

<file path=ppt/tags/tag34.xml><?xml version="1.0" encoding="utf-8"?>
<p:tagLst xmlns:p="http://schemas.openxmlformats.org/presentationml/2006/main">
  <p:tag name="KSO_WM_DIAGRAM_VIRTUALLY_FRAME" val="{&quot;height&quot;:408.1508661417323,&quot;left&quot;:50.61858267716535,&quot;top&quot;:90.88370078740158,&quot;width&quot;:856.93031496063}"/>
</p:tagLst>
</file>

<file path=ppt/tags/tag35.xml><?xml version="1.0" encoding="utf-8"?>
<p:tagLst xmlns:p="http://schemas.openxmlformats.org/presentationml/2006/main">
  <p:tag name="COMMONDATA" val="eyJoZGlkIjoiYzJmNDBjYWZiZWM5MGM1Y2FkZTlhMGIzMzA0OTRiNDMifQ=="/>
</p:tagLst>
</file>

<file path=ppt/theme/theme1.xml><?xml version="1.0" encoding="utf-8"?>
<a:theme xmlns:a="http://schemas.openxmlformats.org/drawingml/2006/main" name="第一PPT，www.1ppt.com">
  <a:themeElements>
    <a:clrScheme name="自定义 630">
      <a:dk1>
        <a:srgbClr val="000000"/>
      </a:dk1>
      <a:lt1>
        <a:srgbClr val="FFFFFF"/>
      </a:lt1>
      <a:dk2>
        <a:srgbClr val="000000"/>
      </a:dk2>
      <a:lt2>
        <a:srgbClr val="FFFFFF"/>
      </a:lt2>
      <a:accent1>
        <a:srgbClr val="4B8E95"/>
      </a:accent1>
      <a:accent2>
        <a:srgbClr val="000000"/>
      </a:accent2>
      <a:accent3>
        <a:srgbClr val="4B5050"/>
      </a:accent3>
      <a:accent4>
        <a:srgbClr val="91969B"/>
      </a:accent4>
      <a:accent5>
        <a:srgbClr val="4B5050"/>
      </a:accent5>
      <a:accent6>
        <a:srgbClr val="91969B"/>
      </a:accent6>
      <a:hlink>
        <a:srgbClr val="F33B48"/>
      </a:hlink>
      <a:folHlink>
        <a:srgbClr val="FFC000"/>
      </a:folHlink>
    </a:clrScheme>
    <a:fontScheme name="自定义 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8640</Words>
  <Application>WPS 演示</Application>
  <PresentationFormat>宽屏</PresentationFormat>
  <Paragraphs>215</Paragraphs>
  <Slides>34</Slides>
  <Notes>83</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34</vt:i4>
      </vt:variant>
    </vt:vector>
  </HeadingPairs>
  <TitlesOfParts>
    <vt:vector size="44" baseType="lpstr">
      <vt:lpstr>Arial</vt:lpstr>
      <vt:lpstr>宋体</vt:lpstr>
      <vt:lpstr>Wingdings</vt:lpstr>
      <vt:lpstr>Calibri</vt:lpstr>
      <vt:lpstr>微软雅黑</vt:lpstr>
      <vt:lpstr>Wingdings</vt:lpstr>
      <vt:lpstr>Times New Roman</vt:lpstr>
      <vt:lpstr>Arial Unicode MS</vt:lpstr>
      <vt:lpstr>等线</vt:lpstr>
      <vt:lpstr>第一PPT，www.1ppt.com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第一PPT，www.1ppt.com</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清新简洁</dc:title>
  <dc:creator>第一PPT</dc:creator>
  <cp:keywords>www.1ppt.com</cp:keywords>
  <dc:description>www.1ppt.com</dc:description>
  <cp:lastModifiedBy>风中前行</cp:lastModifiedBy>
  <cp:revision>1538</cp:revision>
  <dcterms:created xsi:type="dcterms:W3CDTF">1900-01-01T00:00:00Z</dcterms:created>
  <dcterms:modified xsi:type="dcterms:W3CDTF">2025-12-22T00:46:51Z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2052-12.1.0.24034</vt:lpwstr>
  </property>
  <property fmtid="{D5CDD505-2E9C-101B-9397-08002B2CF9AE}" pid="3" name="ICV">
    <vt:lpwstr>18F528979A4C4BA582A3307860512F0B_13</vt:lpwstr>
  </property>
</Properties>
</file>